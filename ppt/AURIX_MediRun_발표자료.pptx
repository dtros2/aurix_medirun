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x="12192000" cy="685800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ef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ro Card"/>
          <p:cNvSpPr/>
          <p:nvPr/>
        </p:nvSpPr>
        <p:spPr>
          <a:xfrm>
            <a:off x="640080" y="1783080"/>
            <a:ext cx="5029200" cy="3246120"/>
          </a:xfrm>
          <a:prstGeom prst="roundRect">
            <a:avLst/>
          </a:prstGeom>
          <a:solidFill>
            <a:srgbClr val="102235"/>
          </a:solidFill>
          <a:ln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5" name="Footer Band"/>
          <p:cNvSpPr/>
          <p:nvPr/>
        </p:nvSpPr>
        <p:spPr>
          <a:xfrm>
            <a:off x="640080" y="5943600"/>
            <a:ext cx="9692640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FFFFFF"/>
                </a:solidFill>
              </a:rPr>
              <a:t>AURIX MediRun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D7E7F4"/>
                </a:solidFill>
              </a:rPr>
              <a:t>지하철 역사 응급 AED 운반 보조 로봇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93852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200" b="1">
                <a:solidFill>
                  <a:srgbClr val="67E8F9"/>
                </a:solidFill>
              </a:rPr>
              <a:t>TEAM AURIX</a:t>
            </a:r>
            <a:endParaRPr lang="ko-KR" sz="1200"/>
          </a:p>
        </p:txBody>
      </p:sp>
      <p:sp>
        <p:nvSpPr>
          <p:cNvPr id="21" name="TextBox 21"/>
          <p:cNvSpPr txBox="1"/>
          <p:nvPr/>
        </p:nvSpPr>
        <p:spPr>
          <a:xfrm>
            <a:off x="868680" y="2578608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350" b="1">
                <a:solidFill>
                  <a:srgbClr val="FFFFFF"/>
                </a:solidFill>
              </a:rPr>
              <a:t>도희정</a:t>
            </a:r>
            <a:endParaRPr lang="ko-KR" sz="2350"/>
          </a:p>
          <a:p>
            <a:pPr algn="l"/>
            <a:r>
              <a:rPr lang="ko-KR" sz="2350" b="1">
                <a:solidFill>
                  <a:srgbClr val="FFFFFF"/>
                </a:solidFill>
              </a:rPr>
              <a:t>최치언</a:t>
            </a:r>
            <a:endParaRPr lang="ko-KR" sz="2350"/>
          </a:p>
        </p:txBody>
      </p:sp>
      <p:sp>
        <p:nvSpPr>
          <p:cNvPr id="22" name="TextBox 22"/>
          <p:cNvSpPr txBox="1"/>
          <p:nvPr/>
        </p:nvSpPr>
        <p:spPr>
          <a:xfrm>
            <a:off x="868680" y="3749039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>
                <a:solidFill>
                  <a:srgbClr val="D4E2EE"/>
                </a:solidFill>
              </a:rPr>
              <a:t>SOS 버튼 호출 이후</a:t>
            </a:r>
            <a:endParaRPr lang="ko-KR" sz="1180"/>
          </a:p>
          <a:p>
            <a:pPr algn="l"/>
            <a:r>
              <a:rPr lang="ko-KR" sz="1180">
                <a:solidFill>
                  <a:srgbClr val="D4E2EE"/>
                </a:solidFill>
              </a:rPr>
              <a:t>AED를 목적지까지 자율 주행으로 운반하고</a:t>
            </a:r>
            <a:endParaRPr lang="ko-KR" sz="1180"/>
          </a:p>
          <a:p>
            <a:pPr algn="l"/>
            <a:r>
              <a:rPr lang="ko-KR" sz="1180">
                <a:solidFill>
                  <a:srgbClr val="D4E2EE"/>
                </a:solidFill>
              </a:rPr>
              <a:t>반출·복귀·기록까지 이어지는 ROS 2 서비스</a:t>
            </a:r>
            <a:endParaRPr lang="ko-KR" sz="1180"/>
          </a:p>
        </p:txBody>
      </p:sp>
      <p:sp>
        <p:nvSpPr>
          <p:cNvPr id="23" name="TextBox 23"/>
          <p:cNvSpPr txBox="1"/>
          <p:nvPr/>
        </p:nvSpPr>
        <p:spPr>
          <a:xfrm>
            <a:off x="868680" y="5102352"/>
            <a:ext cx="2377440" cy="347472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08111C"/>
                </a:solidFill>
              </a:rPr>
              <a:t>2026 AURIX DECK</a:t>
            </a:r>
            <a:endParaRPr lang="ko-KR" sz="1050"/>
          </a:p>
        </p:txBody>
      </p:sp>
      <p:pic>
        <p:nvPicPr>
          <p:cNvPr id="24" name="Picture 24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3611880" cy="1965960"/>
          </a:xfrm>
          <a:prstGeom prst="rect">
            <a:avLst/>
          </a:prstGeom>
          <a:ln>
            <a:noFill/>
          </a:ln>
        </p:spPr>
      </p:pic>
      <p:pic>
        <p:nvPicPr>
          <p:cNvPr id="25" name="Picture 25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0" y="3090672"/>
            <a:ext cx="4617720" cy="2578608"/>
          </a:xfrm>
          <a:prstGeom prst="rect">
            <a:avLst/>
          </a:prstGeom>
          <a:ln>
            <a:solidFill>
              <a:srgbClr val="22D3EE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02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Project Overview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 00, 01 기준 서비스 목적과 범위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900">
                <a:solidFill>
                  <a:srgbClr val="0F172A"/>
                </a:solidFill>
              </a:rPr>
              <a:t>목적</a:t>
            </a:r>
            <a:endParaRPr lang="ko-KR" sz="1900"/>
          </a:p>
          <a:p>
            <a:pPr algn="l"/>
            <a:r>
              <a:rPr lang="ko-KR" sz="1900">
                <a:solidFill>
                  <a:srgbClr val="0F172A"/>
                </a:solidFill>
              </a:rPr>
              <a:t>지하철 역사에서 SOS 버튼이 눌린 구역까지</a:t>
            </a:r>
            <a:endParaRPr lang="ko-KR" sz="1900"/>
          </a:p>
          <a:p>
            <a:pPr algn="l"/>
            <a:r>
              <a:rPr lang="ko-KR" sz="1900">
                <a:solidFill>
                  <a:srgbClr val="0F172A"/>
                </a:solidFill>
              </a:rPr>
              <a:t>AED를 자율 주행으로 운반해</a:t>
            </a:r>
            <a:endParaRPr lang="ko-KR" sz="1900"/>
          </a:p>
          <a:p>
            <a:pPr algn="l"/>
            <a:r>
              <a:rPr lang="ko-KR" sz="1900">
                <a:solidFill>
                  <a:srgbClr val="0F172A"/>
                </a:solidFill>
              </a:rPr>
              <a:t>목격자가 환자 곁을 떠나는 시간을 줄입니다.</a:t>
            </a:r>
            <a:endParaRPr lang="ko-KR" sz="1900"/>
          </a:p>
        </p:txBody>
      </p:sp>
      <p:sp>
        <p:nvSpPr>
          <p:cNvPr id="21" name="TextBox 21"/>
          <p:cNvSpPr txBox="1"/>
          <p:nvPr/>
        </p:nvSpPr>
        <p:spPr>
          <a:xfrm>
            <a:off x="5486400" y="1828800"/>
            <a:ext cx="4663440" cy="1143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txBody>
          <a:bodyPr wrap="square" rtlCol="0" anchor="t"/>
          <a:lstStyle/>
          <a:p>
            <a:pPr algn="l"/>
            <a:r>
              <a:rPr lang="ko-KR" sz="1550">
                <a:solidFill>
                  <a:srgbClr val="134E4A"/>
                </a:solidFill>
              </a:rPr>
              <a:t>운용 범위</a:t>
            </a:r>
            <a:endParaRPr lang="ko-KR" sz="1550"/>
          </a:p>
          <a:p>
            <a:pPr algn="l"/>
            <a:r>
              <a:rPr lang="ko-KR" sz="1550">
                <a:solidFill>
                  <a:srgbClr val="134E4A"/>
                </a:solidFill>
              </a:rPr>
              <a:t>호출 접수 · 출동 · 반출 감지 · 복귀 · 도킹 · 로컬 기록</a:t>
            </a:r>
            <a:endParaRPr lang="ko-KR" sz="1550"/>
          </a:p>
        </p:txBody>
      </p:sp>
      <p:sp>
        <p:nvSpPr>
          <p:cNvPr id="22" name="TextBox 22"/>
          <p:cNvSpPr txBox="1"/>
          <p:nvPr/>
        </p:nvSpPr>
        <p:spPr>
          <a:xfrm>
            <a:off x="5486400" y="3154680"/>
            <a:ext cx="466344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l"/>
            <a:r>
              <a:rPr lang="ko-KR" sz="1550">
                <a:solidFill>
                  <a:srgbClr val="7C2D12"/>
                </a:solidFill>
              </a:rPr>
              <a:t>제외 범위</a:t>
            </a:r>
            <a:endParaRPr lang="ko-KR" sz="1550"/>
          </a:p>
          <a:p>
            <a:pPr algn="l"/>
            <a:r>
              <a:rPr lang="ko-KR" sz="1550">
                <a:solidFill>
                  <a:srgbClr val="7C2D12"/>
                </a:solidFill>
              </a:rPr>
              <a:t>환자 상태 판단, 의료 행위, 119 자동 신고는 수행하지 않습니다.</a:t>
            </a:r>
            <a:endParaRPr lang="ko-KR" sz="1550"/>
          </a:p>
        </p:txBody>
      </p:sp>
      <p:sp>
        <p:nvSpPr>
          <p:cNvPr id="23" name="TextBox 23"/>
          <p:cNvSpPr txBox="1"/>
          <p:nvPr/>
        </p:nvSpPr>
        <p:spPr>
          <a:xfrm>
            <a:off x="868680" y="4590288"/>
            <a:ext cx="9281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334155"/>
                </a:solidFill>
              </a:rPr>
              <a:t>시연 기준은 버튼 3개와 목적지 3개의 1:1 매핑이며, 평상시에는 홈 위치에서 AED 적재·배터리·센서 상태를 점검하며 대기합니다.</a:t>
            </a:r>
            <a:endParaRPr lang="ko-KR" sz="1450"/>
          </a:p>
        </p:txBody>
      </p:sp>
      <p:pic>
        <p:nvPicPr>
          <p:cNvPr id="24" name="Picture 24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4754880"/>
            <a:ext cx="2697480" cy="960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03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Workspace Architecture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README와 코드 기준 패키지 구성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92608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txBody>
          <a:bodyPr wrap="square" rtlCol="0" anchor="t"/>
          <a:lstStyle/>
          <a:p>
            <a:pPr algn="l"/>
            <a:r>
              <a:rPr lang="ko-KR" sz="1850">
                <a:solidFill>
                  <a:srgbClr val="0F172A"/>
                </a:solidFill>
              </a:rPr>
              <a:t>medirun_sensor</a:t>
            </a:r>
            <a:endParaRPr lang="ko-KR" sz="1850"/>
          </a:p>
          <a:p>
            <a:pPr algn="l"/>
            <a:r>
              <a:rPr lang="ko-KR" sz="1850">
                <a:solidFill>
                  <a:srgbClr val="0F172A"/>
                </a:solidFill>
              </a:rPr>
              <a:t>버튼·초음파·홀센서·LED 브리지</a:t>
            </a:r>
            <a:endParaRPr lang="ko-KR" sz="1850"/>
          </a:p>
          <a:p>
            <a:pPr algn="l"/>
            <a:r>
              <a:rPr lang="ko-KR" sz="1850">
                <a:solidFill>
                  <a:srgbClr val="0F172A"/>
                </a:solidFill>
              </a:rPr>
              <a:t>serial / mock 모드 지원</a:t>
            </a:r>
            <a:endParaRPr lang="ko-KR" sz="1850"/>
          </a:p>
          <a:p>
            <a:pPr algn="l"/>
            <a:r>
              <a:rPr lang="ko-KR" sz="1850">
                <a:solidFill>
                  <a:srgbClr val="0F172A"/>
                </a:solidFill>
              </a:rPr>
              <a:t>Arduino 입력을 ROS 2 토픽으로 변환</a:t>
            </a:r>
            <a:endParaRPr lang="ko-KR" sz="1850"/>
          </a:p>
        </p:txBody>
      </p:sp>
      <p:sp>
        <p:nvSpPr>
          <p:cNvPr id="21" name="TextBox 21"/>
          <p:cNvSpPr txBox="1"/>
          <p:nvPr/>
        </p:nvSpPr>
        <p:spPr>
          <a:xfrm>
            <a:off x="3767328" y="1828800"/>
            <a:ext cx="297180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txBody>
          <a:bodyPr wrap="square" rtlCol="0" anchor="t"/>
          <a:lstStyle/>
          <a:p>
            <a:pPr algn="l"/>
            <a:r>
              <a:rPr lang="ko-KR" sz="1720">
                <a:solidFill>
                  <a:srgbClr val="0F172A"/>
                </a:solidFill>
              </a:rPr>
              <a:t>medirun_mission</a:t>
            </a:r>
            <a:endParaRPr lang="ko-KR" sz="1720"/>
          </a:p>
          <a:p>
            <a:pPr algn="l"/>
            <a:r>
              <a:rPr lang="ko-KR" sz="1720">
                <a:solidFill>
                  <a:srgbClr val="0F172A"/>
                </a:solidFill>
              </a:rPr>
              <a:t>emergency_dispatcher</a:t>
            </a:r>
            <a:endParaRPr lang="ko-KR" sz="1720"/>
          </a:p>
          <a:p>
            <a:pPr algn="l"/>
            <a:r>
              <a:rPr lang="ko-KR" sz="1720">
                <a:solidFill>
                  <a:srgbClr val="0F172A"/>
                </a:solidFill>
              </a:rPr>
              <a:t>waypoint_manager</a:t>
            </a:r>
            <a:endParaRPr lang="ko-KR" sz="1720"/>
          </a:p>
          <a:p>
            <a:pPr algn="l"/>
            <a:r>
              <a:rPr lang="ko-KR" sz="1720">
                <a:solidFill>
                  <a:srgbClr val="0F172A"/>
                </a:solidFill>
              </a:rPr>
              <a:t>mission_manager</a:t>
            </a:r>
            <a:endParaRPr lang="ko-KR" sz="1720"/>
          </a:p>
          <a:p>
            <a:pPr algn="l"/>
            <a:r>
              <a:rPr lang="ko-KR" sz="1720">
                <a:solidFill>
                  <a:srgbClr val="0F172A"/>
                </a:solidFill>
              </a:rPr>
              <a:t>payload_monitor</a:t>
            </a:r>
            <a:endParaRPr lang="ko-KR" sz="1720"/>
          </a:p>
          <a:p>
            <a:pPr algn="l"/>
            <a:r>
              <a:rPr lang="ko-KR" sz="1720">
                <a:solidFill>
                  <a:srgbClr val="0F172A"/>
                </a:solidFill>
              </a:rPr>
              <a:t>safety_manager</a:t>
            </a:r>
            <a:endParaRPr lang="ko-KR" sz="1720"/>
          </a:p>
        </p:txBody>
      </p:sp>
      <p:sp>
        <p:nvSpPr>
          <p:cNvPr id="22" name="TextBox 22"/>
          <p:cNvSpPr txBox="1"/>
          <p:nvPr/>
        </p:nvSpPr>
        <p:spPr>
          <a:xfrm>
            <a:off x="6720840" y="1828800"/>
            <a:ext cx="347472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txBody>
          <a:bodyPr wrap="square" rtlCol="0" anchor="t"/>
          <a:lstStyle/>
          <a:p>
            <a:pPr algn="l"/>
            <a:r>
              <a:rPr lang="ko-KR" sz="1650">
                <a:solidFill>
                  <a:srgbClr val="0F172A"/>
                </a:solidFill>
              </a:rPr>
              <a:t>medirun_gui + navigation</a:t>
            </a:r>
            <a:endParaRPr lang="ko-KR" sz="1650"/>
          </a:p>
          <a:p>
            <a:pPr algn="l"/>
            <a:r>
              <a:rPr lang="ko-KR" sz="1650">
                <a:solidFill>
                  <a:srgbClr val="0F172A"/>
                </a:solidFill>
              </a:rPr>
              <a:t>운영 대시보드</a:t>
            </a:r>
            <a:endParaRPr lang="ko-KR" sz="1650"/>
          </a:p>
          <a:p>
            <a:pPr algn="l"/>
            <a:r>
              <a:rPr lang="ko-KR" sz="1650">
                <a:solidFill>
                  <a:srgbClr val="0F172A"/>
                </a:solidFill>
              </a:rPr>
              <a:t>웨이포인트 관리</a:t>
            </a:r>
            <a:endParaRPr lang="ko-KR" sz="1650"/>
          </a:p>
          <a:p>
            <a:pPr algn="l"/>
            <a:r>
              <a:rPr lang="ko-KR" sz="1650">
                <a:solidFill>
                  <a:srgbClr val="0F172A"/>
                </a:solidFill>
              </a:rPr>
              <a:t>원격 제어</a:t>
            </a:r>
            <a:endParaRPr lang="ko-KR" sz="1650"/>
          </a:p>
          <a:p>
            <a:pPr algn="l"/>
            <a:r>
              <a:rPr lang="ko-KR" sz="1650">
                <a:solidFill>
                  <a:srgbClr val="0F172A"/>
                </a:solidFill>
              </a:rPr>
              <a:t>SLAM 매핑</a:t>
            </a:r>
            <a:endParaRPr lang="ko-KR" sz="1650"/>
          </a:p>
          <a:p>
            <a:pPr algn="l"/>
            <a:r>
              <a:rPr lang="ko-KR" sz="1650">
                <a:solidFill>
                  <a:srgbClr val="0F172A"/>
                </a:solidFill>
              </a:rPr>
              <a:t>정밀도 시험 러너</a:t>
            </a:r>
            <a:endParaRPr lang="ko-KR" sz="1650"/>
          </a:p>
        </p:txBody>
      </p:sp>
      <p:sp>
        <p:nvSpPr>
          <p:cNvPr id="23" name="TextBox 23"/>
          <p:cNvSpPr txBox="1"/>
          <p:nvPr/>
        </p:nvSpPr>
        <p:spPr>
          <a:xfrm>
            <a:off x="868680" y="4754880"/>
            <a:ext cx="932688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txBody>
          <a:bodyPr wrap="square" rtlCol="0" anchor="t"/>
          <a:lstStyle/>
          <a:p>
            <a:pPr algn="ctr"/>
            <a:r>
              <a:rPr lang="ko-KR" sz="1450">
                <a:solidFill>
                  <a:srgbClr val="1E3A8A"/>
                </a:solidFill>
              </a:rPr>
              <a:t>현재 저장소는 ROS 2 Humble, Qt6, PostgreSQL, TurtleBot3 벤더 패키지를 한 워크스페이스 안에서 같이 관리하도록 정리되어 있습니다.</a:t>
            </a:r>
            <a:endParaRPr lang="ko-KR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04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End-to-End Mission Flow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 01, 04, 05와 현재 노드 구조를 합친 실행 흐름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A5F3FC"/>
            </a:solidFill>
          </a:ln>
        </p:spPr>
        <p:txBody>
          <a:bodyPr wrap="square" rtlCol="0" anchor="t"/>
          <a:lstStyle/>
          <a:p>
            <a:pPr algn="l"/>
            <a:r>
              <a:rPr lang="ko-KR" sz="1700">
                <a:solidFill>
                  <a:srgbClr val="083344"/>
                </a:solidFill>
              </a:rPr>
              <a:t>1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SOS 입력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버튼 모듈 또는 GUI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호출 이벤트 수신</a:t>
            </a:r>
            <a:endParaRPr lang="ko-KR" sz="1700"/>
          </a:p>
        </p:txBody>
      </p:sp>
      <p:sp>
        <p:nvSpPr>
          <p:cNvPr id="21" name="TextBox 21"/>
          <p:cNvSpPr txBox="1"/>
          <p:nvPr/>
        </p:nvSpPr>
        <p:spPr>
          <a:xfrm>
            <a:off x="3017520" y="182880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A5F3FC"/>
            </a:solidFill>
          </a:ln>
        </p:spPr>
        <p:txBody>
          <a:bodyPr wrap="square" rtlCol="0" anchor="t"/>
          <a:lstStyle/>
          <a:p>
            <a:pPr algn="l"/>
            <a:r>
              <a:rPr lang="ko-KR" sz="1700">
                <a:solidFill>
                  <a:srgbClr val="083344"/>
                </a:solidFill>
              </a:rPr>
              <a:t>2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출동 검증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payload·배터리·ready 확인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mission_id 생성</a:t>
            </a:r>
            <a:endParaRPr lang="ko-KR" sz="1700"/>
          </a:p>
        </p:txBody>
      </p:sp>
      <p:sp>
        <p:nvSpPr>
          <p:cNvPr id="22" name="TextBox 22"/>
          <p:cNvSpPr txBox="1"/>
          <p:nvPr/>
        </p:nvSpPr>
        <p:spPr>
          <a:xfrm>
            <a:off x="5166360" y="182880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A5F3FC"/>
            </a:solidFill>
          </a:ln>
        </p:spPr>
        <p:txBody>
          <a:bodyPr wrap="square" rtlCol="0" anchor="t"/>
          <a:lstStyle/>
          <a:p>
            <a:pPr algn="l"/>
            <a:r>
              <a:rPr lang="ko-KR" sz="1700">
                <a:solidFill>
                  <a:srgbClr val="083344"/>
                </a:solidFill>
              </a:rPr>
              <a:t>3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경로 확정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button_id를 route에 매핑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navigation goal 발행</a:t>
            </a:r>
            <a:endParaRPr lang="ko-KR" sz="1700"/>
          </a:p>
        </p:txBody>
      </p:sp>
      <p:sp>
        <p:nvSpPr>
          <p:cNvPr id="23" name="TextBox 23"/>
          <p:cNvSpPr txBox="1"/>
          <p:nvPr/>
        </p:nvSpPr>
        <p:spPr>
          <a:xfrm>
            <a:off x="7315200" y="182880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A5F3FC"/>
            </a:solidFill>
          </a:ln>
        </p:spPr>
        <p:txBody>
          <a:bodyPr wrap="square" rtlCol="0" anchor="t"/>
          <a:lstStyle/>
          <a:p>
            <a:pPr algn="l"/>
            <a:r>
              <a:rPr lang="ko-KR" sz="1700">
                <a:solidFill>
                  <a:srgbClr val="083344"/>
                </a:solidFill>
              </a:rPr>
              <a:t>4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도착·반출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홀센서 0.5초 확인</a:t>
            </a:r>
            <a:endParaRPr lang="ko-KR" sz="1700"/>
          </a:p>
          <a:p>
            <a:pPr algn="l"/>
            <a:r>
              <a:rPr lang="ko-KR" sz="1700">
                <a:solidFill>
                  <a:srgbClr val="083344"/>
                </a:solidFill>
              </a:rPr>
              <a:t>자동 복귀 시작</a:t>
            </a:r>
            <a:endParaRPr lang="ko-KR" sz="1700"/>
          </a:p>
        </p:txBody>
      </p:sp>
      <p:sp>
        <p:nvSpPr>
          <p:cNvPr id="24" name="TextBox 24"/>
          <p:cNvSpPr txBox="1"/>
          <p:nvPr/>
        </p:nvSpPr>
        <p:spPr>
          <a:xfrm>
            <a:off x="868680" y="3913632"/>
            <a:ext cx="9281160" cy="1325880"/>
          </a:xfrm>
          <a:prstGeom prst="roundRect">
            <a:avLst/>
          </a:prstGeom>
          <a:solidFill>
            <a:srgbClr val="CFFAFE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l"/>
            <a:r>
              <a:rPr lang="ko-KR" sz="1550">
                <a:solidFill>
                  <a:srgbClr val="155E75"/>
                </a:solidFill>
              </a:rPr>
              <a:t>토픽 기준 흐름</a:t>
            </a:r>
            <a:endParaRPr lang="ko-KR" sz="1550"/>
          </a:p>
          <a:p>
            <a:pPr algn="l"/>
            <a:r>
              <a:rPr lang="ko-KR" sz="1550">
                <a:solidFill>
                  <a:srgbClr val="155E75"/>
                </a:solidFill>
              </a:rPr>
              <a:t>/medirun/sensor/sos_button → /medirun/mission/dispatch_request → /medirun/mission/dispatch_command → /medirun/navigation/goal → /medirun/vision/dock_request</a:t>
            </a:r>
            <a:endParaRPr lang="ko-KR" sz="1550"/>
          </a:p>
        </p:txBody>
      </p:sp>
      <p:sp>
        <p:nvSpPr>
          <p:cNvPr id="25" name="TextBox 25"/>
          <p:cNvSpPr txBox="1"/>
          <p:nvPr/>
        </p:nvSpPr>
        <p:spPr>
          <a:xfrm>
            <a:off x="868680" y="5440680"/>
            <a:ext cx="92811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200">
                <a:solidFill>
                  <a:srgbClr val="0F172A"/>
                </a:solidFill>
              </a:rPr>
              <a:t>문서의 서비스 시나리오와 현재 Python 노드 구현이 가장 직접적으로 만나는 구간입니다.</a:t>
            </a:r>
            <a:endParaRPr lang="ko-KR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MISSION STATE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05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Mission State Machine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현재 mission_manager와 payload_monitor 기준 상태 전이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14173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FFFFFF"/>
                </a:solidFill>
              </a:rPr>
              <a:t>IDLE</a:t>
            </a:r>
            <a:endParaRPr lang="ko-KR" sz="1900"/>
          </a:p>
        </p:txBody>
      </p:sp>
      <p:sp>
        <p:nvSpPr>
          <p:cNvPr id="21" name="TextBox 21"/>
          <p:cNvSpPr txBox="1"/>
          <p:nvPr/>
        </p:nvSpPr>
        <p:spPr>
          <a:xfrm>
            <a:off x="2468880" y="1828800"/>
            <a:ext cx="155448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FFFFFF"/>
                </a:solidFill>
              </a:rPr>
              <a:t>DISPATCHED</a:t>
            </a:r>
            <a:endParaRPr lang="ko-KR" sz="1700"/>
          </a:p>
        </p:txBody>
      </p:sp>
      <p:sp>
        <p:nvSpPr>
          <p:cNvPr id="22" name="TextBox 22"/>
          <p:cNvSpPr txBox="1"/>
          <p:nvPr/>
        </p:nvSpPr>
        <p:spPr>
          <a:xfrm>
            <a:off x="4251960" y="1828800"/>
            <a:ext cx="1645920" cy="1051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650" b="1">
                <a:solidFill>
                  <a:srgbClr val="FFFFFF"/>
                </a:solidFill>
              </a:rPr>
              <a:t>NAVIGATING</a:t>
            </a:r>
            <a:endParaRPr lang="ko-KR" sz="1650"/>
          </a:p>
        </p:txBody>
      </p:sp>
      <p:sp>
        <p:nvSpPr>
          <p:cNvPr id="23" name="TextBox 23"/>
          <p:cNvSpPr txBox="1"/>
          <p:nvPr/>
        </p:nvSpPr>
        <p:spPr>
          <a:xfrm>
            <a:off x="6126480" y="1828800"/>
            <a:ext cx="14173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50" b="1">
                <a:solidFill>
                  <a:srgbClr val="FFFFFF"/>
                </a:solidFill>
              </a:rPr>
              <a:t>ARRIVED</a:t>
            </a:r>
            <a:endParaRPr lang="ko-KR" sz="1850"/>
          </a:p>
        </p:txBody>
      </p:sp>
      <p:sp>
        <p:nvSpPr>
          <p:cNvPr id="24" name="TextBox 24"/>
          <p:cNvSpPr txBox="1"/>
          <p:nvPr/>
        </p:nvSpPr>
        <p:spPr>
          <a:xfrm>
            <a:off x="7772400" y="1828800"/>
            <a:ext cx="1874519" cy="10515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PAYLOAD_REMOVED</a:t>
            </a:r>
            <a:endParaRPr lang="ko-KR" sz="1350"/>
          </a:p>
        </p:txBody>
      </p:sp>
      <p:sp>
        <p:nvSpPr>
          <p:cNvPr id="25" name="TextBox 25"/>
          <p:cNvSpPr txBox="1"/>
          <p:nvPr/>
        </p:nvSpPr>
        <p:spPr>
          <a:xfrm>
            <a:off x="1645920" y="3657600"/>
            <a:ext cx="2011680" cy="10515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450" b="1">
                <a:solidFill>
                  <a:srgbClr val="FFFFFF"/>
                </a:solidFill>
              </a:rPr>
              <a:t>RETURNING_HOME</a:t>
            </a:r>
            <a:endParaRPr lang="ko-KR" sz="1450"/>
          </a:p>
        </p:txBody>
      </p:sp>
      <p:sp>
        <p:nvSpPr>
          <p:cNvPr id="26" name="TextBox 26"/>
          <p:cNvSpPr txBox="1"/>
          <p:nvPr/>
        </p:nvSpPr>
        <p:spPr>
          <a:xfrm>
            <a:off x="4160520" y="3657600"/>
            <a:ext cx="160020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FFFFFF"/>
                </a:solidFill>
              </a:rPr>
              <a:t>DOCKING</a:t>
            </a:r>
            <a:endParaRPr lang="ko-KR" sz="1750"/>
          </a:p>
        </p:txBody>
      </p:sp>
      <p:sp>
        <p:nvSpPr>
          <p:cNvPr id="27" name="TextBox 27"/>
          <p:cNvSpPr txBox="1"/>
          <p:nvPr/>
        </p:nvSpPr>
        <p:spPr>
          <a:xfrm>
            <a:off x="6126480" y="3657600"/>
            <a:ext cx="1417320" cy="10515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50" b="1">
                <a:solidFill>
                  <a:srgbClr val="FFFFFF"/>
                </a:solidFill>
              </a:rPr>
              <a:t>DOCKED</a:t>
            </a:r>
            <a:endParaRPr lang="ko-KR" sz="1850"/>
          </a:p>
        </p:txBody>
      </p:sp>
      <p:sp>
        <p:nvSpPr>
          <p:cNvPr id="28" name="TextBox 28"/>
          <p:cNvSpPr txBox="1"/>
          <p:nvPr/>
        </p:nvSpPr>
        <p:spPr>
          <a:xfrm>
            <a:off x="7772400" y="3657600"/>
            <a:ext cx="1691640" cy="10515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FFFFFF"/>
                </a:solidFill>
              </a:rPr>
              <a:t>COMPLETED</a:t>
            </a:r>
            <a:endParaRPr lang="ko-KR" sz="1700"/>
          </a:p>
        </p:txBody>
      </p:sp>
      <p:sp>
        <p:nvSpPr>
          <p:cNvPr id="29" name="TextBox 29"/>
          <p:cNvSpPr txBox="1"/>
          <p:nvPr/>
        </p:nvSpPr>
        <p:spPr>
          <a:xfrm>
            <a:off x="868680" y="5138928"/>
            <a:ext cx="9281160" cy="658368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320">
                <a:solidFill>
                  <a:srgbClr val="4C1D95"/>
                </a:solidFill>
              </a:rPr>
              <a:t>추가 분기</a:t>
            </a:r>
            <a:endParaRPr lang="ko-KR" sz="1320"/>
          </a:p>
          <a:p>
            <a:pPr algn="ctr"/>
            <a:r>
              <a:rPr lang="ko-KR" sz="1320">
                <a:solidFill>
                  <a:srgbClr val="4C1D95"/>
                </a:solidFill>
              </a:rPr>
              <a:t>도착 후 180초 timeout 또는 운영자 return_home 명령 시 복귀, cancel 또는 navigation FAILED 시 FAILED 상태로 종료</a:t>
            </a:r>
            <a:endParaRPr lang="ko-KR" sz="13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GUI OVERVIEW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06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Operator Dashboard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 03과 현재 Qt 페이지 구조를 기준으로 한 운영 화면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74519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 b="1">
                <a:solidFill>
                  <a:srgbClr val="A7F3D0"/>
                </a:solidFill>
              </a:rPr>
              <a:t>LOGIN</a:t>
            </a:r>
            <a:endParaRPr lang="ko-KR" sz="1180"/>
          </a:p>
        </p:txBody>
      </p:sp>
      <p:sp>
        <p:nvSpPr>
          <p:cNvPr id="21" name="TextBox 21"/>
          <p:cNvSpPr txBox="1"/>
          <p:nvPr/>
        </p:nvSpPr>
        <p:spPr>
          <a:xfrm>
            <a:off x="3337560" y="1874519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 b="1">
                <a:solidFill>
                  <a:srgbClr val="93C5FD"/>
                </a:solidFill>
              </a:rPr>
              <a:t>OVERVIEW</a:t>
            </a:r>
            <a:endParaRPr lang="ko-KR" sz="1180"/>
          </a:p>
        </p:txBody>
      </p:sp>
      <p:sp>
        <p:nvSpPr>
          <p:cNvPr id="22" name="TextBox 22"/>
          <p:cNvSpPr txBox="1"/>
          <p:nvPr/>
        </p:nvSpPr>
        <p:spPr>
          <a:xfrm>
            <a:off x="6080760" y="1874519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 b="1">
                <a:solidFill>
                  <a:srgbClr val="FDE68A"/>
                </a:solidFill>
              </a:rPr>
              <a:t>LIVE MONITOR</a:t>
            </a:r>
            <a:endParaRPr lang="ko-KR" sz="1180"/>
          </a:p>
        </p:txBody>
      </p:sp>
      <p:sp>
        <p:nvSpPr>
          <p:cNvPr id="23" name="TextBox 23"/>
          <p:cNvSpPr txBox="1"/>
          <p:nvPr/>
        </p:nvSpPr>
        <p:spPr>
          <a:xfrm>
            <a:off x="8503920" y="1874519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 b="1">
                <a:solidFill>
                  <a:srgbClr val="F9A8D4"/>
                </a:solidFill>
              </a:rPr>
              <a:t>MISSIONS</a:t>
            </a:r>
            <a:endParaRPr lang="ko-KR" sz="1180"/>
          </a:p>
        </p:txBody>
      </p:sp>
      <p:sp>
        <p:nvSpPr>
          <p:cNvPr id="24" name="TextBox 24"/>
          <p:cNvSpPr txBox="1"/>
          <p:nvPr/>
        </p:nvSpPr>
        <p:spPr>
          <a:xfrm>
            <a:off x="868680" y="52760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380" b="1">
                <a:solidFill>
                  <a:srgbClr val="FFFFFF"/>
                </a:solidFill>
              </a:rPr>
              <a:t>권한 기반 진입</a:t>
            </a:r>
            <a:endParaRPr lang="ko-KR" sz="1380"/>
          </a:p>
        </p:txBody>
      </p:sp>
      <p:sp>
        <p:nvSpPr>
          <p:cNvPr id="25" name="TextBox 25"/>
          <p:cNvSpPr txBox="1"/>
          <p:nvPr/>
        </p:nvSpPr>
        <p:spPr>
          <a:xfrm>
            <a:off x="3337560" y="527608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380" b="1">
                <a:solidFill>
                  <a:srgbClr val="FFFFFF"/>
                </a:solidFill>
              </a:rPr>
              <a:t>연결·배터리·상태 요약</a:t>
            </a:r>
            <a:endParaRPr lang="ko-KR" sz="1380"/>
          </a:p>
        </p:txBody>
      </p:sp>
      <p:sp>
        <p:nvSpPr>
          <p:cNvPr id="26" name="TextBox 26"/>
          <p:cNvSpPr txBox="1"/>
          <p:nvPr/>
        </p:nvSpPr>
        <p:spPr>
          <a:xfrm>
            <a:off x="6080760" y="527608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380" b="1">
                <a:solidFill>
                  <a:srgbClr val="FFFFFF"/>
                </a:solidFill>
              </a:rPr>
              <a:t>맵·카메라·이벤트</a:t>
            </a:r>
            <a:endParaRPr lang="ko-KR" sz="1380"/>
          </a:p>
        </p:txBody>
      </p:sp>
      <p:sp>
        <p:nvSpPr>
          <p:cNvPr id="27" name="TextBox 27"/>
          <p:cNvSpPr txBox="1"/>
          <p:nvPr/>
        </p:nvSpPr>
        <p:spPr>
          <a:xfrm>
            <a:off x="8275320" y="5276088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380" b="1">
                <a:solidFill>
                  <a:srgbClr val="FFFFFF"/>
                </a:solidFill>
              </a:rPr>
              <a:t>큐·이력·명령</a:t>
            </a:r>
            <a:endParaRPr lang="ko-KR" sz="1380"/>
          </a:p>
        </p:txBody>
      </p:sp>
      <p:pic>
        <p:nvPicPr>
          <p:cNvPr id="28" name="Picture 28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2212848"/>
            <a:ext cx="2057400" cy="2578608"/>
          </a:xfrm>
          <a:prstGeom prst="rect">
            <a:avLst/>
          </a:prstGeom>
          <a:ln>
            <a:solidFill>
              <a:srgbClr val="1F2937"/>
            </a:solidFill>
          </a:ln>
        </p:spPr>
      </p:pic>
      <p:pic>
        <p:nvPicPr>
          <p:cNvPr id="29" name="Picture 29"/>
          <p:cNvPicPr/>
          <p:nvPr/>
        </p:nvPicPr>
        <p:blipFill>
          <a:blip r:embed="rId3"/>
          <a:stretch>
            <a:fillRect/>
          </a:stretch>
        </p:blipFill>
        <p:spPr>
          <a:xfrm>
            <a:off x="3337560" y="2212848"/>
            <a:ext cx="2331720" cy="2578608"/>
          </a:xfrm>
          <a:prstGeom prst="rect">
            <a:avLst/>
          </a:prstGeom>
          <a:ln>
            <a:solidFill>
              <a:srgbClr val="1F2937"/>
            </a:solidFill>
          </a:ln>
        </p:spPr>
      </p:pic>
      <p:pic>
        <p:nvPicPr>
          <p:cNvPr id="30" name="Picture 30"/>
          <p:cNvPicPr/>
          <p:nvPr/>
        </p:nvPicPr>
        <p:blipFill>
          <a:blip r:embed="rId4"/>
          <a:stretch>
            <a:fillRect/>
          </a:stretch>
        </p:blipFill>
        <p:spPr>
          <a:xfrm>
            <a:off x="6080760" y="2212848"/>
            <a:ext cx="2148840" cy="2578608"/>
          </a:xfrm>
          <a:prstGeom prst="rect">
            <a:avLst/>
          </a:prstGeom>
          <a:ln>
            <a:solidFill>
              <a:srgbClr val="1F2937"/>
            </a:solidFill>
          </a:ln>
        </p:spPr>
      </p:pic>
      <p:pic>
        <p:nvPicPr>
          <p:cNvPr id="31" name="Picture 31"/>
          <p:cNvPicPr/>
          <p:nvPr/>
        </p:nvPicPr>
        <p:blipFill>
          <a:blip r:embed="rId5"/>
          <a:stretch>
            <a:fillRect/>
          </a:stretch>
        </p:blipFill>
        <p:spPr>
          <a:xfrm>
            <a:off x="8503920" y="2212848"/>
            <a:ext cx="1645920" cy="2578608"/>
          </a:xfrm>
          <a:prstGeom prst="rect">
            <a:avLst/>
          </a:prstGeom>
          <a:ln>
            <a:solidFill>
              <a:srgbClr val="1F2937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CONTROL VIEW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07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Remote Control And Mapping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admin 화면과 주행 운영 보조 기능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548640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260">
                <a:solidFill>
                  <a:srgbClr val="475569"/>
                </a:solidFill>
              </a:rPr>
              <a:t>RemoteControlPage는 카메라·미니맵·수동 조작·초기 위치 지정 기능을 한 화면에서 제공합니다.</a:t>
            </a:r>
            <a:endParaRPr lang="ko-KR" sz="1260"/>
          </a:p>
        </p:txBody>
      </p:sp>
      <p:sp>
        <p:nvSpPr>
          <p:cNvPr id="21" name="TextBox 21"/>
          <p:cNvSpPr txBox="1"/>
          <p:nvPr/>
        </p:nvSpPr>
        <p:spPr>
          <a:xfrm>
            <a:off x="5989320" y="548640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260">
                <a:solidFill>
                  <a:srgbClr val="475569"/>
                </a:solidFill>
              </a:rPr>
              <a:t>SlamMappingPage는 Cartographer launch와 저장 절차를 GUI에서 다루도록 구성돼 있습니다.</a:t>
            </a:r>
            <a:endParaRPr lang="ko-KR" sz="1260"/>
          </a:p>
        </p:txBody>
      </p:sp>
      <p:pic>
        <p:nvPicPr>
          <p:cNvPr id="22" name="Picture 22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892040" cy="3611880"/>
          </a:xfrm>
          <a:prstGeom prst="rect">
            <a:avLst/>
          </a:prstGeom>
          <a:ln>
            <a:solidFill>
              <a:srgbClr val="C4B5FD"/>
            </a:solidFill>
          </a:ln>
        </p:spPr>
      </p:pic>
      <p:pic>
        <p:nvPicPr>
          <p:cNvPr id="23" name="Picture 23"/>
          <p:cNvPicPr/>
          <p:nvPr/>
        </p:nvPicPr>
        <p:blipFill>
          <a:blip r:embed="rId3"/>
          <a:stretch>
            <a:fillRect/>
          </a:stretch>
        </p:blipFill>
        <p:spPr>
          <a:xfrm>
            <a:off x="5989320" y="1828800"/>
            <a:ext cx="4160520" cy="1965960"/>
          </a:xfrm>
          <a:prstGeom prst="rect">
            <a:avLst/>
          </a:prstGeom>
          <a:ln>
            <a:solidFill>
              <a:srgbClr val="C4B5FD"/>
            </a:solidFill>
          </a:ln>
        </p:spPr>
      </p:pic>
      <p:pic>
        <p:nvPicPr>
          <p:cNvPr id="24" name="Picture 24"/>
          <p:cNvPicPr/>
          <p:nvPr/>
        </p:nvPicPr>
        <p:blipFill>
          <a:blip r:embed="rId4"/>
          <a:stretch>
            <a:fillRect/>
          </a:stretch>
        </p:blipFill>
        <p:spPr>
          <a:xfrm>
            <a:off x="5989320" y="4069080"/>
            <a:ext cx="4160520" cy="1371600"/>
          </a:xfrm>
          <a:prstGeom prst="rect">
            <a:avLst/>
          </a:prstGeom>
          <a:ln>
            <a:solidFill>
              <a:srgbClr val="DDD6FE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08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Sensors And Safety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 04, 05와 medirun_sensor / safety_manager 기준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7C2D12"/>
                </a:solidFill>
              </a:rPr>
              <a:t>LED</a:t>
            </a:r>
            <a:endParaRPr lang="ko-KR" sz="1500"/>
          </a:p>
          <a:p>
            <a:pPr algn="ctr"/>
            <a:r>
              <a:rPr lang="ko-KR" sz="1500" b="1">
                <a:solidFill>
                  <a:srgbClr val="7C2D12"/>
                </a:solidFill>
              </a:rPr>
              <a:t>상태 표시</a:t>
            </a:r>
            <a:endParaRPr lang="ko-KR" sz="1500"/>
          </a:p>
        </p:txBody>
      </p:sp>
      <p:sp>
        <p:nvSpPr>
          <p:cNvPr id="21" name="TextBox 21"/>
          <p:cNvSpPr txBox="1"/>
          <p:nvPr/>
        </p:nvSpPr>
        <p:spPr>
          <a:xfrm>
            <a:off x="288036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7C2D12"/>
                </a:solidFill>
              </a:rPr>
              <a:t>ULTRASONIC</a:t>
            </a:r>
            <a:endParaRPr lang="ko-KR" sz="1500"/>
          </a:p>
          <a:p>
            <a:pPr algn="ctr"/>
            <a:r>
              <a:rPr lang="ko-KR" sz="1500" b="1">
                <a:solidFill>
                  <a:srgbClr val="7C2D12"/>
                </a:solidFill>
              </a:rPr>
              <a:t>근접 감지</a:t>
            </a:r>
            <a:endParaRPr lang="ko-KR" sz="1500"/>
          </a:p>
        </p:txBody>
      </p:sp>
      <p:sp>
        <p:nvSpPr>
          <p:cNvPr id="22" name="TextBox 22"/>
          <p:cNvSpPr txBox="1"/>
          <p:nvPr/>
        </p:nvSpPr>
        <p:spPr>
          <a:xfrm>
            <a:off x="489204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7C2D12"/>
                </a:solidFill>
              </a:rPr>
              <a:t>BUTTON</a:t>
            </a:r>
            <a:endParaRPr lang="ko-KR" sz="1500"/>
          </a:p>
          <a:p>
            <a:pPr algn="ctr"/>
            <a:r>
              <a:rPr lang="ko-KR" sz="1500" b="1">
                <a:solidFill>
                  <a:srgbClr val="7C2D12"/>
                </a:solidFill>
              </a:rPr>
              <a:t>호출 / SOS</a:t>
            </a:r>
            <a:endParaRPr lang="ko-KR" sz="1500"/>
          </a:p>
        </p:txBody>
      </p:sp>
      <p:sp>
        <p:nvSpPr>
          <p:cNvPr id="23" name="TextBox 23"/>
          <p:cNvSpPr txBox="1"/>
          <p:nvPr/>
        </p:nvSpPr>
        <p:spPr>
          <a:xfrm>
            <a:off x="690372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7C2D12"/>
                </a:solidFill>
              </a:rPr>
              <a:t>HALL</a:t>
            </a:r>
            <a:endParaRPr lang="ko-KR" sz="1500"/>
          </a:p>
          <a:p>
            <a:pPr algn="ctr"/>
            <a:r>
              <a:rPr lang="ko-KR" sz="1500" b="1">
                <a:solidFill>
                  <a:srgbClr val="7C2D12"/>
                </a:solidFill>
              </a:rPr>
              <a:t>AED 적재 확인</a:t>
            </a:r>
            <a:endParaRPr lang="ko-KR" sz="1500"/>
          </a:p>
        </p:txBody>
      </p:sp>
      <p:sp>
        <p:nvSpPr>
          <p:cNvPr id="24" name="TextBox 24"/>
          <p:cNvSpPr txBox="1"/>
          <p:nvPr/>
        </p:nvSpPr>
        <p:spPr>
          <a:xfrm>
            <a:off x="9070848" y="1965960"/>
            <a:ext cx="1078992" cy="3154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450" b="1">
                <a:solidFill>
                  <a:srgbClr val="FFFFFF"/>
                </a:solidFill>
              </a:rPr>
              <a:t>Safety</a:t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>Manager</a:t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/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>front 35cm</a:t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>rear 25cm</a:t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>기준 차단</a:t>
            </a:r>
            <a:endParaRPr lang="ko-KR" sz="1450"/>
          </a:p>
        </p:txBody>
      </p:sp>
      <p:pic>
        <p:nvPicPr>
          <p:cNvPr id="25" name="Picture 25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828800" cy="1965960"/>
          </a:xfrm>
          <a:prstGeom prst="rect">
            <a:avLst/>
          </a:prstGeom>
          <a:ln>
            <a:solidFill>
              <a:srgbClr val="FDBA74"/>
            </a:solidFill>
          </a:ln>
        </p:spPr>
      </p:pic>
      <p:pic>
        <p:nvPicPr>
          <p:cNvPr id="26" name="Picture 26"/>
          <p:cNvPicPr/>
          <p:nvPr/>
        </p:nvPicPr>
        <p:blipFill>
          <a:blip r:embed="rId3"/>
          <a:stretch>
            <a:fillRect/>
          </a:stretch>
        </p:blipFill>
        <p:spPr>
          <a:xfrm>
            <a:off x="2880360" y="1828800"/>
            <a:ext cx="1828800" cy="1965960"/>
          </a:xfrm>
          <a:prstGeom prst="rect">
            <a:avLst/>
          </a:prstGeom>
          <a:ln>
            <a:solidFill>
              <a:srgbClr val="FDBA74"/>
            </a:solidFill>
          </a:ln>
        </p:spPr>
      </p:pic>
      <p:pic>
        <p:nvPicPr>
          <p:cNvPr id="27" name="Picture 27"/>
          <p:cNvPicPr/>
          <p:nvPr/>
        </p:nvPicPr>
        <p:blipFill>
          <a:blip r:embed="rId4"/>
          <a:stretch>
            <a:fillRect/>
          </a:stretch>
        </p:blipFill>
        <p:spPr>
          <a:xfrm>
            <a:off x="4892040" y="1828800"/>
            <a:ext cx="1828800" cy="1965960"/>
          </a:xfrm>
          <a:prstGeom prst="rect">
            <a:avLst/>
          </a:prstGeom>
          <a:ln>
            <a:solidFill>
              <a:srgbClr val="FDBA74"/>
            </a:solidFill>
          </a:ln>
        </p:spPr>
      </p:pic>
      <p:pic>
        <p:nvPicPr>
          <p:cNvPr id="28" name="Picture 28"/>
          <p:cNvPicPr/>
          <p:nvPr/>
        </p:nvPicPr>
        <p:blipFill>
          <a:blip r:embed="rId5"/>
          <a:stretch>
            <a:fillRect/>
          </a:stretch>
        </p:blipFill>
        <p:spPr>
          <a:xfrm>
            <a:off x="6903720" y="1828800"/>
            <a:ext cx="1828800" cy="1965960"/>
          </a:xfrm>
          <a:prstGeom prst="rect">
            <a:avLst/>
          </a:prstGeom>
          <a:ln>
            <a:solidFill>
              <a:srgbClr val="FDBA7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09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Navigation Test Results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docs/tests 시험 요약 문서 기준 정밀도 결과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200" b="1">
                <a:solidFill>
                  <a:srgbClr val="166534"/>
                </a:solidFill>
              </a:rPr>
              <a:t>0.13°</a:t>
            </a:r>
            <a:endParaRPr lang="ko-KR" sz="3200"/>
          </a:p>
        </p:txBody>
      </p:sp>
      <p:sp>
        <p:nvSpPr>
          <p:cNvPr id="21" name="TextBox 21"/>
          <p:cNvSpPr txBox="1"/>
          <p:nvPr/>
        </p:nvSpPr>
        <p:spPr>
          <a:xfrm>
            <a:off x="868680" y="28803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500">
                <a:solidFill>
                  <a:srgbClr val="14532D"/>
                </a:solidFill>
              </a:rPr>
              <a:t>T-00 회전 정확도</a:t>
            </a:r>
            <a:endParaRPr lang="ko-KR" sz="1500"/>
          </a:p>
          <a:p>
            <a:pPr algn="l"/>
            <a:r>
              <a:rPr lang="ko-KR" sz="1500">
                <a:solidFill>
                  <a:srgbClr val="14532D"/>
                </a:solidFill>
              </a:rPr>
              <a:t>90도 10회 절대평균오차</a:t>
            </a:r>
            <a:endParaRPr lang="ko-KR" sz="1500"/>
          </a:p>
        </p:txBody>
      </p:sp>
      <p:sp>
        <p:nvSpPr>
          <p:cNvPr id="22" name="TextBox 22"/>
          <p:cNvSpPr txBox="1"/>
          <p:nvPr/>
        </p:nvSpPr>
        <p:spPr>
          <a:xfrm>
            <a:off x="3840480" y="18288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200" b="1">
                <a:solidFill>
                  <a:srgbClr val="166534"/>
                </a:solidFill>
              </a:rPr>
              <a:t>0.2cm</a:t>
            </a:r>
            <a:endParaRPr lang="ko-KR" sz="3200"/>
          </a:p>
        </p:txBody>
      </p:sp>
      <p:sp>
        <p:nvSpPr>
          <p:cNvPr id="23" name="TextBox 23"/>
          <p:cNvSpPr txBox="1"/>
          <p:nvPr/>
        </p:nvSpPr>
        <p:spPr>
          <a:xfrm>
            <a:off x="3840480" y="28803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500">
                <a:solidFill>
                  <a:srgbClr val="14532D"/>
                </a:solidFill>
              </a:rPr>
              <a:t>T-01 직진 정확도</a:t>
            </a:r>
            <a:endParaRPr lang="ko-KR" sz="1500"/>
          </a:p>
          <a:p>
            <a:pPr algn="l"/>
            <a:r>
              <a:rPr lang="ko-KR" sz="1500">
                <a:solidFill>
                  <a:srgbClr val="14532D"/>
                </a:solidFill>
              </a:rPr>
              <a:t>0.45m 10회 절대평균오차</a:t>
            </a:r>
            <a:endParaRPr lang="ko-KR" sz="1500"/>
          </a:p>
        </p:txBody>
      </p:sp>
      <p:sp>
        <p:nvSpPr>
          <p:cNvPr id="24" name="TextBox 24"/>
          <p:cNvSpPr txBox="1"/>
          <p:nvPr/>
        </p:nvSpPr>
        <p:spPr>
          <a:xfrm>
            <a:off x="6949440" y="1828800"/>
            <a:ext cx="2651760" cy="1554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400" b="1">
                <a:solidFill>
                  <a:srgbClr val="FFFFFF"/>
                </a:solidFill>
              </a:rPr>
              <a:t>10 / 10</a:t>
            </a:r>
            <a:endParaRPr lang="ko-KR" sz="2400"/>
          </a:p>
          <a:p>
            <a:pPr algn="ctr"/>
            <a:r>
              <a:rPr lang="ko-KR" sz="2400" b="1">
                <a:solidFill>
                  <a:srgbClr val="FFFFFF"/>
                </a:solidFill>
              </a:rPr>
              <a:t>PASS</a:t>
            </a:r>
            <a:endParaRPr lang="ko-KR" sz="2400"/>
          </a:p>
        </p:txBody>
      </p:sp>
      <p:sp>
        <p:nvSpPr>
          <p:cNvPr id="25" name="TextBox 25"/>
          <p:cNvSpPr txBox="1"/>
          <p:nvPr/>
        </p:nvSpPr>
        <p:spPr>
          <a:xfrm>
            <a:off x="6903720" y="3657600"/>
            <a:ext cx="278892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450">
                <a:solidFill>
                  <a:srgbClr val="14532D"/>
                </a:solidFill>
              </a:rPr>
              <a:t>종합 판단</a:t>
            </a:r>
            <a:endParaRPr lang="ko-KR" sz="1450"/>
          </a:p>
          <a:p>
            <a:pPr algn="ctr"/>
            <a:r>
              <a:rPr lang="ko-KR" sz="1450">
                <a:solidFill>
                  <a:srgbClr val="14532D"/>
                </a:solidFill>
              </a:rPr>
              <a:t>정밀도 기준 충족</a:t>
            </a:r>
            <a:endParaRPr lang="ko-KR" sz="1450"/>
          </a:p>
          <a:p>
            <a:pPr algn="ctr"/>
            <a:r>
              <a:rPr lang="ko-KR" sz="1450">
                <a:solidFill>
                  <a:srgbClr val="14532D"/>
                </a:solidFill>
              </a:rPr>
              <a:t>실내 호출 시나리오 근거 확보</a:t>
            </a:r>
            <a:endParaRPr lang="ko-KR" sz="1450"/>
          </a:p>
        </p:txBody>
      </p:sp>
      <p:sp>
        <p:nvSpPr>
          <p:cNvPr id="26" name="TextBox 26"/>
          <p:cNvSpPr txBox="1"/>
          <p:nvPr/>
        </p:nvSpPr>
        <p:spPr>
          <a:xfrm>
            <a:off x="868680" y="4069080"/>
            <a:ext cx="54864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txBody>
          <a:bodyPr wrap="square" rtlCol="0" anchor="t"/>
          <a:lstStyle/>
          <a:p>
            <a:pPr algn="l"/>
            <a:r>
              <a:rPr lang="ko-KR" sz="1360">
                <a:solidFill>
                  <a:srgbClr val="14532D"/>
                </a:solidFill>
              </a:rPr>
              <a:t>시험 문서 핵심</a:t>
            </a:r>
            <a:endParaRPr lang="ko-KR" sz="1360"/>
          </a:p>
          <a:p>
            <a:pPr algn="l"/>
            <a:r>
              <a:rPr lang="ko-KR" sz="1360">
                <a:solidFill>
                  <a:srgbClr val="14532D"/>
                </a:solidFill>
              </a:rPr>
              <a:t>회전은 2026-07-24 기준 10회 모두 성공,</a:t>
            </a:r>
            <a:endParaRPr lang="ko-KR" sz="1360"/>
          </a:p>
          <a:p>
            <a:pPr algn="l"/>
            <a:r>
              <a:rPr lang="ko-KR" sz="1360">
                <a:solidFill>
                  <a:srgbClr val="14532D"/>
                </a:solidFill>
              </a:rPr>
              <a:t>직진은 0.451~0.453m 범위에 수렴했고</a:t>
            </a:r>
            <a:endParaRPr lang="ko-KR" sz="1360"/>
          </a:p>
          <a:p>
            <a:pPr algn="l"/>
            <a:r>
              <a:rPr lang="ko-KR" sz="1360">
                <a:solidFill>
                  <a:srgbClr val="14532D"/>
                </a:solidFill>
              </a:rPr>
              <a:t>횡방향 절대평균오차는 0.001m 수준입니다.</a:t>
            </a:r>
            <a:endParaRPr lang="ko-KR" sz="13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C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10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Documentation And Rules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 02, 03, 04, 06이 코드 구조와 연결되는 방식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103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wrap="square" rtlCol="0" anchor="t"/>
          <a:lstStyle/>
          <a:p>
            <a:pPr algn="ctr"/>
            <a:r>
              <a:rPr lang="ko-KR" sz="1600" b="1">
                <a:solidFill>
                  <a:srgbClr val="78350F"/>
                </a:solidFill>
              </a:rPr>
              <a:t>요구사항·설계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호출 경로, 책임 분리,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인터페이스와 선행 조건을 정의</a:t>
            </a:r>
            <a:endParaRPr lang="ko-KR" sz="1600"/>
          </a:p>
        </p:txBody>
      </p:sp>
      <p:sp>
        <p:nvSpPr>
          <p:cNvPr id="21" name="TextBox 21"/>
          <p:cNvSpPr txBox="1"/>
          <p:nvPr/>
        </p:nvSpPr>
        <p:spPr>
          <a:xfrm>
            <a:off x="3246120" y="1828800"/>
            <a:ext cx="2103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wrap="square" rtlCol="0" anchor="t"/>
          <a:lstStyle/>
          <a:p>
            <a:pPr algn="ctr"/>
            <a:r>
              <a:rPr lang="ko-KR" sz="1600" b="1">
                <a:solidFill>
                  <a:srgbClr val="78350F"/>
                </a:solidFill>
              </a:rPr>
              <a:t>GUI HMI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역할 기반 접근,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운영 화면 구성,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표시 규칙을 정리</a:t>
            </a:r>
            <a:endParaRPr lang="ko-KR" sz="1600"/>
          </a:p>
        </p:txBody>
      </p:sp>
      <p:sp>
        <p:nvSpPr>
          <p:cNvPr id="22" name="TextBox 22"/>
          <p:cNvSpPr txBox="1"/>
          <p:nvPr/>
        </p:nvSpPr>
        <p:spPr>
          <a:xfrm>
            <a:off x="5623560" y="1828800"/>
            <a:ext cx="2103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wrap="square" rtlCol="0" anchor="t"/>
          <a:lstStyle/>
          <a:p>
            <a:pPr algn="ctr"/>
            <a:r>
              <a:rPr lang="ko-KR" sz="1600" b="1">
                <a:solidFill>
                  <a:srgbClr val="78350F"/>
                </a:solidFill>
              </a:rPr>
              <a:t>ROS2 설계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노드 책임,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토픽 인터페이스,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상태 머신 문서화</a:t>
            </a:r>
            <a:endParaRPr lang="ko-KR" sz="1600"/>
          </a:p>
        </p:txBody>
      </p:sp>
      <p:sp>
        <p:nvSpPr>
          <p:cNvPr id="23" name="TextBox 23"/>
          <p:cNvSpPr txBox="1"/>
          <p:nvPr/>
        </p:nvSpPr>
        <p:spPr>
          <a:xfrm>
            <a:off x="8001000" y="1828800"/>
            <a:ext cx="2103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wrap="square" rtlCol="0" anchor="t"/>
          <a:lstStyle/>
          <a:p>
            <a:pPr algn="ctr"/>
            <a:r>
              <a:rPr lang="ko-KR" sz="1600" b="1">
                <a:solidFill>
                  <a:srgbClr val="78350F"/>
                </a:solidFill>
              </a:rPr>
              <a:t>개발 규칙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패키지 네이밍,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브랜치·커밋 규칙,</a:t>
            </a:r>
            <a:endParaRPr lang="ko-KR" sz="1600"/>
          </a:p>
          <a:p>
            <a:pPr algn="ctr"/>
            <a:r>
              <a:rPr lang="ko-KR" sz="1600" b="1">
                <a:solidFill>
                  <a:srgbClr val="78350F"/>
                </a:solidFill>
              </a:rPr>
              <a:t>파일 관리 기준</a:t>
            </a:r>
            <a:endParaRPr lang="ko-KR" sz="1600"/>
          </a:p>
        </p:txBody>
      </p:sp>
      <p:sp>
        <p:nvSpPr>
          <p:cNvPr id="24" name="TextBox 24"/>
          <p:cNvSpPr txBox="1"/>
          <p:nvPr/>
        </p:nvSpPr>
        <p:spPr>
          <a:xfrm>
            <a:off x="868680" y="4343400"/>
            <a:ext cx="9281160" cy="1097280"/>
          </a:xfrm>
          <a:prstGeom prst="roundRect">
            <a:avLst/>
          </a:prstGeom>
          <a:solidFill>
            <a:srgbClr val="FFFBEB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450">
                <a:solidFill>
                  <a:srgbClr val="92400E"/>
                </a:solidFill>
              </a:rPr>
              <a:t>발표자료도 같은 원칙으로 정리했습니다.</a:t>
            </a:r>
            <a:endParaRPr lang="ko-KR" sz="1450"/>
          </a:p>
          <a:p>
            <a:pPr algn="ctr"/>
            <a:r>
              <a:rPr lang="ko-KR" sz="1450">
                <a:solidFill>
                  <a:srgbClr val="92400E"/>
                </a:solidFill>
              </a:rPr>
              <a:t>문서의 이상 설계만 나열하지 않고, 현재 저장소에 실제 있는 패키지·화면·시험·트러블슈팅까지 맞춰서 재구성했습니다.</a:t>
            </a:r>
            <a:endParaRPr lang="ko-KR" sz="14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FIELD ISSUES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11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Recent Real-World Fixes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docs/troubleshooting와 log.md에서 확인되는 실제 이슈 대응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240280" cy="1600200"/>
          </a:xfrm>
          <a:prstGeom prst="round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FFFFF"/>
                </a:solidFill>
              </a:rPr>
              <a:t>OpenCR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battery_state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미수신</a:t>
            </a:r>
            <a:endParaRPr lang="ko-KR" sz="1800"/>
          </a:p>
        </p:txBody>
      </p:sp>
      <p:sp>
        <p:nvSpPr>
          <p:cNvPr id="21" name="TextBox 21"/>
          <p:cNvSpPr txBox="1"/>
          <p:nvPr/>
        </p:nvSpPr>
        <p:spPr>
          <a:xfrm>
            <a:off x="3337560" y="1828800"/>
            <a:ext cx="2240280" cy="1600200"/>
          </a:xfrm>
          <a:prstGeom prst="round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FFFFF"/>
                </a:solidFill>
              </a:rPr>
              <a:t>RMW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불일치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조사</a:t>
            </a:r>
            <a:endParaRPr lang="ko-KR" sz="1800"/>
          </a:p>
        </p:txBody>
      </p:sp>
      <p:sp>
        <p:nvSpPr>
          <p:cNvPr id="22" name="TextBox 22"/>
          <p:cNvSpPr txBox="1"/>
          <p:nvPr/>
        </p:nvSpPr>
        <p:spPr>
          <a:xfrm>
            <a:off x="5806440" y="1828800"/>
            <a:ext cx="2240280" cy="1600200"/>
          </a:xfrm>
          <a:prstGeom prst="round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FFFFF"/>
                </a:solidFill>
              </a:rPr>
              <a:t>Mission Ops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세그폴트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수정</a:t>
            </a:r>
            <a:endParaRPr lang="ko-KR" sz="1800"/>
          </a:p>
        </p:txBody>
      </p:sp>
      <p:sp>
        <p:nvSpPr>
          <p:cNvPr id="23" name="TextBox 23"/>
          <p:cNvSpPr txBox="1"/>
          <p:nvPr/>
        </p:nvSpPr>
        <p:spPr>
          <a:xfrm>
            <a:off x="8275320" y="1828800"/>
            <a:ext cx="1874519" cy="1600200"/>
          </a:xfrm>
          <a:prstGeom prst="round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FFFFF"/>
                </a:solidFill>
              </a:rPr>
              <a:t>헤더 DB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상태 반영</a:t>
            </a:r>
            <a:endParaRPr lang="ko-KR" sz="1800"/>
          </a:p>
          <a:p>
            <a:pPr algn="ctr"/>
            <a:r>
              <a:rPr lang="ko-KR" sz="1800" b="1">
                <a:solidFill>
                  <a:srgbClr val="FFFFFF"/>
                </a:solidFill>
              </a:rPr>
              <a:t>수정</a:t>
            </a:r>
            <a:endParaRPr lang="ko-KR" sz="1800"/>
          </a:p>
        </p:txBody>
      </p:sp>
      <p:sp>
        <p:nvSpPr>
          <p:cNvPr id="24" name="TextBox 24"/>
          <p:cNvSpPr txBox="1"/>
          <p:nvPr/>
        </p:nvSpPr>
        <p:spPr>
          <a:xfrm>
            <a:off x="868680" y="3886200"/>
            <a:ext cx="928116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374151"/>
            </a:solidFill>
          </a:ln>
        </p:spPr>
        <p:txBody>
          <a:bodyPr wrap="square" rtlCol="0" anchor="t"/>
          <a:lstStyle/>
          <a:p>
            <a:pPr algn="l"/>
            <a:r>
              <a:rPr lang="ko-KR" sz="1620">
                <a:solidFill>
                  <a:srgbClr val="E5E7EB"/>
                </a:solidFill>
              </a:rPr>
              <a:t>이 저장소는 단순 화면 목업이 아니라 실제 운영 문제를 추적한 기록을 갖고 있습니다.</a:t>
            </a:r>
            <a:endParaRPr lang="ko-KR" sz="1620"/>
          </a:p>
          <a:p>
            <a:pPr algn="l"/>
            <a:r>
              <a:rPr lang="ko-KR" sz="1620">
                <a:solidFill>
                  <a:srgbClr val="E5E7EB"/>
                </a:solidFill>
              </a:rPr>
              <a:t>하드웨어 연결, DDS 설정, GUI 크래시, 헤더 상태 동기화까지 문서와 코드가 함께 남아 있습니다.</a:t>
            </a:r>
            <a:endParaRPr lang="ko-KR" sz="1620"/>
          </a:p>
        </p:txBody>
      </p:sp>
      <p:sp>
        <p:nvSpPr>
          <p:cNvPr id="25" name="TextBox 25"/>
          <p:cNvSpPr txBox="1"/>
          <p:nvPr/>
        </p:nvSpPr>
        <p:spPr>
          <a:xfrm>
            <a:off x="868680" y="5321808"/>
            <a:ext cx="2148840" cy="329184"/>
          </a:xfrm>
          <a:prstGeom prst="roundRect">
            <a:avLst/>
          </a:prstGeom>
          <a:solidFill>
            <a:srgbClr val="FDA4AF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111827"/>
                </a:solidFill>
              </a:rPr>
              <a:t>2026-08-06</a:t>
            </a:r>
            <a:endParaRPr lang="ko-KR" sz="1100"/>
          </a:p>
        </p:txBody>
      </p:sp>
      <p:sp>
        <p:nvSpPr>
          <p:cNvPr id="26" name="TextBox 26"/>
          <p:cNvSpPr txBox="1"/>
          <p:nvPr/>
        </p:nvSpPr>
        <p:spPr>
          <a:xfrm>
            <a:off x="3337560" y="5321808"/>
            <a:ext cx="2148840" cy="329184"/>
          </a:xfrm>
          <a:prstGeom prst="roundRect">
            <a:avLst/>
          </a:prstGeom>
          <a:solidFill>
            <a:srgbClr val="F9A8D4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111827"/>
                </a:solidFill>
              </a:rPr>
              <a:t>2026-08-06</a:t>
            </a:r>
            <a:endParaRPr lang="ko-KR" sz="1100"/>
          </a:p>
        </p:txBody>
      </p:sp>
      <p:sp>
        <p:nvSpPr>
          <p:cNvPr id="27" name="TextBox 27"/>
          <p:cNvSpPr txBox="1"/>
          <p:nvPr/>
        </p:nvSpPr>
        <p:spPr>
          <a:xfrm>
            <a:off x="5806440" y="5321808"/>
            <a:ext cx="2148840" cy="329184"/>
          </a:xfrm>
          <a:prstGeom prst="roundRect">
            <a:avLst/>
          </a:prstGeom>
          <a:solidFill>
            <a:srgbClr val="C4B5FD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111827"/>
                </a:solidFill>
              </a:rPr>
              <a:t>2026-08-09</a:t>
            </a:r>
            <a:endParaRPr lang="ko-KR" sz="1100"/>
          </a:p>
        </p:txBody>
      </p:sp>
      <p:sp>
        <p:nvSpPr>
          <p:cNvPr id="28" name="TextBox 28"/>
          <p:cNvSpPr txBox="1"/>
          <p:nvPr/>
        </p:nvSpPr>
        <p:spPr>
          <a:xfrm>
            <a:off x="8275320" y="5321808"/>
            <a:ext cx="1874519" cy="329184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111827"/>
                </a:solidFill>
              </a:rPr>
              <a:t>log.md</a:t>
            </a:r>
            <a:endParaRPr lang="ko-KR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12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Closing Message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현재 코드와 문서 기준으로 정리한 발표 결론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9A8D4"/>
            </a:solidFill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31843"/>
                </a:solidFill>
              </a:rPr>
              <a:t>SOS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TO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MISSION</a:t>
            </a:r>
            <a:endParaRPr lang="ko-KR" sz="2100"/>
          </a:p>
        </p:txBody>
      </p:sp>
      <p:sp>
        <p:nvSpPr>
          <p:cNvPr id="21" name="TextBox 21"/>
          <p:cNvSpPr txBox="1"/>
          <p:nvPr/>
        </p:nvSpPr>
        <p:spPr>
          <a:xfrm>
            <a:off x="3291840" y="18288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9A8D4"/>
            </a:solidFill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31843"/>
                </a:solidFill>
              </a:rPr>
              <a:t>ROS 2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NODE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CHAIN</a:t>
            </a:r>
            <a:endParaRPr lang="ko-KR" sz="2100"/>
          </a:p>
        </p:txBody>
      </p:sp>
      <p:sp>
        <p:nvSpPr>
          <p:cNvPr id="22" name="TextBox 22"/>
          <p:cNvSpPr txBox="1"/>
          <p:nvPr/>
        </p:nvSpPr>
        <p:spPr>
          <a:xfrm>
            <a:off x="5715000" y="18288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9A8D4"/>
            </a:solidFill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31843"/>
                </a:solidFill>
              </a:rPr>
              <a:t>GUI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CONTROL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LOOP</a:t>
            </a:r>
            <a:endParaRPr lang="ko-KR" sz="2100"/>
          </a:p>
        </p:txBody>
      </p:sp>
      <p:sp>
        <p:nvSpPr>
          <p:cNvPr id="23" name="TextBox 23"/>
          <p:cNvSpPr txBox="1"/>
          <p:nvPr/>
        </p:nvSpPr>
        <p:spPr>
          <a:xfrm>
            <a:off x="8138160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9A8D4"/>
            </a:solidFill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31843"/>
                </a:solidFill>
              </a:rPr>
              <a:t>TESTED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AND</a:t>
            </a:r>
            <a:endParaRPr lang="ko-KR" sz="2100"/>
          </a:p>
          <a:p>
            <a:pPr algn="ctr"/>
            <a:r>
              <a:rPr lang="ko-KR" sz="2100" b="1">
                <a:solidFill>
                  <a:srgbClr val="831843"/>
                </a:solidFill>
              </a:rPr>
              <a:t>LOGGED</a:t>
            </a:r>
            <a:endParaRPr lang="ko-KR" sz="2100"/>
          </a:p>
        </p:txBody>
      </p:sp>
      <p:sp>
        <p:nvSpPr>
          <p:cNvPr id="24" name="TextBox 24"/>
          <p:cNvSpPr txBox="1"/>
          <p:nvPr/>
        </p:nvSpPr>
        <p:spPr>
          <a:xfrm>
            <a:off x="868680" y="3913632"/>
            <a:ext cx="9281160" cy="1005840"/>
          </a:xfrm>
          <a:prstGeom prst="roundRect">
            <a:avLst/>
          </a:prstGeom>
          <a:solidFill>
            <a:srgbClr val="FCE7F3"/>
          </a:solidFill>
          <a:ln>
            <a:solidFill>
              <a:srgbClr val="F5A8D6"/>
            </a:solidFill>
          </a:ln>
        </p:spPr>
        <p:txBody>
          <a:bodyPr wrap="square" rtlCol="0" anchor="t"/>
          <a:lstStyle/>
          <a:p>
            <a:pPr algn="l"/>
            <a:r>
              <a:rPr lang="ko-KR" sz="1700">
                <a:solidFill>
                  <a:srgbClr val="4A044E"/>
                </a:solidFill>
              </a:rPr>
              <a:t>AURIX MediRun은 문서용 아이디어가 아니라,</a:t>
            </a:r>
            <a:endParaRPr lang="ko-KR" sz="1700"/>
          </a:p>
          <a:p>
            <a:pPr algn="l"/>
            <a:r>
              <a:rPr lang="ko-KR" sz="1700">
                <a:solidFill>
                  <a:srgbClr val="4A044E"/>
                </a:solidFill>
              </a:rPr>
              <a:t>버튼 입력, 미션 상태 전이, 운영 대시보드, 센서 안전, 정밀도 시험, 문제 해결 기록까지 한 저장소 안에서 이어지는 응급 운반 로봇 프로젝트입니다.</a:t>
            </a:r>
            <a:endParaRPr lang="ko-KR" sz="1700"/>
          </a:p>
        </p:txBody>
      </p:sp>
      <p:sp>
        <p:nvSpPr>
          <p:cNvPr id="25" name="TextBox 25"/>
          <p:cNvSpPr txBox="1"/>
          <p:nvPr/>
        </p:nvSpPr>
        <p:spPr>
          <a:xfrm>
            <a:off x="868680" y="5285232"/>
            <a:ext cx="57607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220">
                <a:solidFill>
                  <a:srgbClr val="9D174D"/>
                </a:solidFill>
              </a:rPr>
              <a:t>다음 발표 포인트: 실제 브링업 데모 · 버튼 호출 시연 · 미션 관제와 라이브 모니터 연동</a:t>
            </a:r>
            <a:endParaRPr lang="ko-KR" sz="1220"/>
          </a:p>
        </p:txBody>
      </p:sp>
      <p:pic>
        <p:nvPicPr>
          <p:cNvPr id="26" name="Picture 26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0" y="5074920"/>
            <a:ext cx="1371600" cy="62179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ARCHITECTURE 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13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Appendix A1 · Call Pipeline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BTN_02 예시로 보는 호출 → 미션 생성 5단계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5376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>
                <a:solidFill>
                  <a:srgbClr val="334155"/>
                </a:solidFill>
              </a:rPr>
              <a:t>센서 이벤트 → mqtt_bridge → dispatcher 검증 → MissionController가 Nav2 goal 단일 발행 → PostgreSQL 기록</a:t>
            </a:r>
            <a:endParaRPr lang="ko-KR" sz="1180"/>
          </a:p>
        </p:txBody>
      </p:sp>
      <p:pic>
        <p:nvPicPr>
          <p:cNvPr id="21" name="Pictur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9326880" cy="3429000"/>
          </a:xfrm>
          <a:prstGeom prst="rect">
            <a:avLst/>
          </a:prstGeom>
          <a:ln>
            <a:solidFill>
              <a:srgbClr val="D7DE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ARCHITECTURE 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14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Appendix A2 · Hardware Deployment Map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ESP32 · 운영 PC · TurtleBot3/Pi가 실제로 연결되는 배치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5376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>
                <a:solidFill>
                  <a:srgbClr val="334155"/>
                </a:solidFill>
              </a:rPr>
              <a:t>실선은 BTN_02→MQTT→dispatcher→GUI→Nav2→TurtleBot3→DB 기록 경로, 점선은 반출 감지·자동 복귀·ArUco 도킹 확장 경로</a:t>
            </a:r>
            <a:endParaRPr lang="ko-KR" sz="1180"/>
          </a:p>
        </p:txBody>
      </p:sp>
      <p:pic>
        <p:nvPicPr>
          <p:cNvPr id="21" name="Pictur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9326880" cy="3429000"/>
          </a:xfrm>
          <a:prstGeom prst="rect">
            <a:avLst/>
          </a:prstGeom>
          <a:ln>
            <a:solidFill>
              <a:srgbClr val="D7DEE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ARCHITECTURE 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15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Appendix A3 · GUI Service Layers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ROS 2 · DB 데이터가 Qt 서비스를 거쳐 화면과 기록으로 나뉘는 구조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5376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>
                <a:solidFill>
                  <a:srgbClr val="334155"/>
                </a:solidFill>
              </a:rPr>
              <a:t>실시간 상태는 ROS 2 토픽/액션, 과거 이력·감사 기록은 PostgreSQL — 운영 명령은 항상 사용자·시각·결과와 함께 기록</a:t>
            </a:r>
            <a:endParaRPr lang="ko-KR" sz="1180"/>
          </a:p>
        </p:txBody>
      </p:sp>
      <p:pic>
        <p:nvPicPr>
          <p:cNvPr id="21" name="Pictur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9326880" cy="3429000"/>
          </a:xfrm>
          <a:prstGeom prst="rect">
            <a:avLst/>
          </a:prstGeom>
          <a:ln>
            <a:solidFill>
              <a:srgbClr val="D7DEE8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ARCHITECTURE 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16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Appendix A4 · Nav2 Navigation Loop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지도·센서 입력부터 로봇 실행 결과까지의 핵심 폐루프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5376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>
                <a:solidFill>
                  <a:srgbClr val="334155"/>
                </a:solidFill>
              </a:rPr>
              <a:t>AMCL 위치 추정 + Planner/Controller Server가 중복 없는 단일 action으로 로봇을 움직이고 결과를 GUI에 반영</a:t>
            </a:r>
            <a:endParaRPr lang="ko-KR" sz="1180"/>
          </a:p>
        </p:txBody>
      </p:sp>
      <p:pic>
        <p:nvPicPr>
          <p:cNvPr id="21" name="Pictur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9326880" cy="3429000"/>
          </a:xfrm>
          <a:prstGeom prst="rect">
            <a:avLst/>
          </a:prstGeom>
          <a:ln>
            <a:solidFill>
              <a:srgbClr val="D7DEE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ARCHITECTURE 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17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Appendix A5 · Sensor &amp; Safety Pipeline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초음파·홀센서·LED 입력이 안전 정지·자동 복귀로 이어지는 흐름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5376672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180">
                <a:solidFill>
                  <a:srgbClr val="334155"/>
                </a:solidFill>
              </a:rPr>
              <a:t>전방 35cm·후방 25cm 기준 위험 시 즉시 정지, AED 반출 후 자동 복귀·도킹까지 이어지는 확장 경로(점선) 포함</a:t>
            </a:r>
            <a:endParaRPr lang="ko-KR" sz="1180"/>
          </a:p>
        </p:txBody>
      </p:sp>
      <p:pic>
        <p:nvPicPr>
          <p:cNvPr id="21" name="Picture 21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9326880" cy="3429000"/>
          </a:xfrm>
          <a:prstGeom prst="rect">
            <a:avLst/>
          </a:prstGeom>
          <a:ln>
            <a:solidFill>
              <a:srgbClr val="D7DEE8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urixTheme">
  <a:themeElements>
    <a:clrScheme name="AurixColors">
      <a:dk1>
        <a:srgbClr val="0B1320"/>
      </a:dk1>
      <a:lt1>
        <a:srgbClr val="FFFFFF"/>
      </a:lt1>
      <a:dk2>
        <a:srgbClr val="1E293B"/>
      </a:dk2>
      <a:lt2>
        <a:srgbClr val="F8FAFC"/>
      </a:lt2>
      <a:accent1>
        <a:srgbClr val="14B8A6"/>
      </a:accent1>
      <a:accent2>
        <a:srgbClr val="2563EB"/>
      </a:accent2>
      <a:accent3>
        <a:srgbClr val="F97316"/>
      </a:accent3>
      <a:accent4>
        <a:srgbClr val="EC4899"/>
      </a:accent4>
      <a:accent5>
        <a:srgbClr val="8B5CF6"/>
      </a:accent5>
      <a:accent6>
        <a:srgbClr val="F43F5E"/>
      </a:accent6>
      <a:hlink>
        <a:srgbClr val="2563EB"/>
      </a:hlink>
      <a:folHlink>
        <a:srgbClr val="7C3AED"/>
      </a:folHlink>
    </a:clrScheme>
    <a:fontScheme name="AurixFonts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AurixFmt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17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AURIX MediRun 발표자료</dc:title>
  <dc:creator>Codex</dc:creator>
  <cp:lastModifiedBy>Codex</cp:lastModifiedBy>
  <dcterms:created xsi:type="dcterms:W3CDTF">2026-08-20T20:01:35</dcterms:created>
  <dcterms:modified xsi:type="dcterms:W3CDTF">2026-08-20T20:01:35</dcterms:modified>
</cp:coreProperties>
</file>