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x="12192000" cy="685800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 type="screen16x9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827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Left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ro Card"/>
          <p:cNvSpPr/>
          <p:nvPr/>
        </p:nvSpPr>
        <p:spPr>
          <a:xfrm>
            <a:off x="640080" y="1783080"/>
            <a:ext cx="5029200" cy="3246120"/>
          </a:xfrm>
          <a:prstGeom prst="roundRect">
            <a:avLst/>
          </a:prstGeom>
          <a:solidFill>
            <a:srgbClr val="102235"/>
          </a:solidFill>
          <a:ln>
            <a:solidFill>
              <a:srgbClr val="22D3EE"/>
            </a:solidFill>
          </a:ln>
        </p:spPr>
        <p:txBody>
          <a:bodyPr/>
          <a:lstStyle/>
          <a:p/>
        </p:txBody>
      </p:sp>
      <p:sp>
        <p:nvSpPr>
          <p:cNvPr id="5" name="Footer Band"/>
          <p:cNvSpPr/>
          <p:nvPr/>
        </p:nvSpPr>
        <p:spPr>
          <a:xfrm>
            <a:off x="640080" y="5943600"/>
            <a:ext cx="9692640" cy="10972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itle"/>
          <p:cNvSpPr txBox="1"/>
          <p:nvPr/>
        </p:nvSpPr>
        <p:spPr>
          <a:xfrm>
            <a:off x="822960" y="64008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3000" b="1">
                <a:solidFill>
                  <a:srgbClr val="FFFFFF"/>
                </a:solidFill>
              </a:rPr>
              <a:t>AURIX MediRun</a:t>
            </a:r>
            <a:endParaRPr lang="ko-KR" sz="3000"/>
          </a:p>
        </p:txBody>
      </p:sp>
      <p:sp>
        <p:nvSpPr>
          <p:cNvPr id="11" name="Subtitle"/>
          <p:cNvSpPr txBox="1"/>
          <p:nvPr/>
        </p:nvSpPr>
        <p:spPr>
          <a:xfrm>
            <a:off x="841248" y="132588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450">
                <a:solidFill>
                  <a:srgbClr val="D7E7F4"/>
                </a:solidFill>
              </a:rPr>
              <a:t>특정 상황으로 이해하는 AED 운반 보조 로봇 · 코드 기반 아키텍처</a:t>
            </a:r>
            <a:endParaRPr lang="ko-KR" sz="1450"/>
          </a:p>
        </p:txBody>
      </p:sp>
      <p:sp>
        <p:nvSpPr>
          <p:cNvPr id="20" name="TextBox 20"/>
          <p:cNvSpPr txBox="1"/>
          <p:nvPr/>
        </p:nvSpPr>
        <p:spPr>
          <a:xfrm>
            <a:off x="868680" y="1965960"/>
            <a:ext cx="1828800" cy="329184"/>
          </a:xfrm>
          <a:prstGeom prst="roundRect">
            <a:avLst/>
          </a:prstGeom>
          <a:solidFill>
            <a:srgbClr val="22C7DF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050" b="1">
                <a:solidFill>
                  <a:srgbClr val="071827"/>
                </a:solidFill>
              </a:rPr>
              <a:t>CODE-BASED</a:t>
            </a:r>
            <a:endParaRPr lang="ko-KR" sz="1050"/>
          </a:p>
        </p:txBody>
      </p:sp>
      <p:sp>
        <p:nvSpPr>
          <p:cNvPr id="21" name="TextBox 21"/>
          <p:cNvSpPr txBox="1"/>
          <p:nvPr/>
        </p:nvSpPr>
        <p:spPr>
          <a:xfrm>
            <a:off x="868680" y="2606040"/>
            <a:ext cx="4434840" cy="6583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2350" b="1">
                <a:solidFill>
                  <a:srgbClr val="FFFFFF"/>
                </a:solidFill>
              </a:rPr>
              <a:t>CALL → DECIDE → DRIVE</a:t>
            </a:r>
            <a:endParaRPr lang="ko-KR" sz="2350"/>
          </a:p>
        </p:txBody>
      </p:sp>
      <p:sp>
        <p:nvSpPr>
          <p:cNvPr id="22" name="TextBox 22"/>
          <p:cNvSpPr txBox="1"/>
          <p:nvPr/>
        </p:nvSpPr>
        <p:spPr>
          <a:xfrm>
            <a:off x="868680" y="3310128"/>
            <a:ext cx="4434840" cy="47548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2350" b="1">
                <a:solidFill>
                  <a:srgbClr val="70E7F2"/>
                </a:solidFill>
              </a:rPr>
              <a:t>PROTECT → RECORD</a:t>
            </a:r>
            <a:endParaRPr lang="ko-KR" sz="2350"/>
          </a:p>
        </p:txBody>
      </p:sp>
      <p:sp>
        <p:nvSpPr>
          <p:cNvPr id="23" name="TextBox 23"/>
          <p:cNvSpPr txBox="1"/>
          <p:nvPr/>
        </p:nvSpPr>
        <p:spPr>
          <a:xfrm>
            <a:off x="868680" y="4133087"/>
            <a:ext cx="4434840" cy="56692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300">
                <a:solidFill>
                  <a:srgbClr val="D9EAF2"/>
                </a:solidFill>
              </a:rPr>
              <a:t>MQTT 호출 · ROS 2 Pub/Sub · Nav2 Action</a:t>
            </a:r>
            <a:endParaRPr lang="ko-KR" sz="1300"/>
          </a:p>
          <a:p>
            <a:pPr algn="l"/>
            <a:r>
              <a:rPr lang="ko-KR" sz="1300">
                <a:solidFill>
                  <a:srgbClr val="D9EAF2"/>
                </a:solidFill>
              </a:rPr>
              <a:t>Arduino 안전 · Qt GUI · PostgreSQL</a:t>
            </a:r>
            <a:endParaRPr lang="ko-KR" sz="1300"/>
          </a:p>
        </p:txBody>
      </p:sp>
      <p:sp>
        <p:nvSpPr>
          <p:cNvPr id="24" name="TextBox 24"/>
          <p:cNvSpPr txBox="1"/>
          <p:nvPr/>
        </p:nvSpPr>
        <p:spPr>
          <a:xfrm>
            <a:off x="6675120" y="4709160"/>
            <a:ext cx="3246120" cy="329184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050" b="1">
                <a:solidFill>
                  <a:srgbClr val="FFFFFF"/>
                </a:solidFill>
              </a:rPr>
              <a:t>대표 상황 · 중앙 대합실 BTN_01</a:t>
            </a:r>
            <a:endParaRPr lang="ko-KR" sz="1050"/>
          </a:p>
        </p:txBody>
      </p:sp>
      <p:pic>
        <p:nvPicPr>
          <p:cNvPr id="25" name="Picture 25"/>
          <p:cNvPicPr/>
          <p:nvPr/>
        </p:nvPicPr>
        <p:blipFill>
          <a:blip r:embed="rId2"/>
          <a:stretch>
            <a:fillRect/>
          </a:stretch>
        </p:blipFill>
        <p:spPr>
          <a:xfrm>
            <a:off x="6583680" y="1115568"/>
            <a:ext cx="3383280" cy="1737360"/>
          </a:xfrm>
          <a:prstGeom prst="rect">
            <a:avLst/>
          </a:prstGeom>
          <a:ln>
            <a:noFill/>
          </a:ln>
        </p:spPr>
      </p:pic>
      <p:pic>
        <p:nvPicPr>
          <p:cNvPr id="26" name="Picture 26"/>
          <p:cNvPicPr/>
          <p:nvPr/>
        </p:nvPicPr>
        <p:blipFill>
          <a:blip r:embed="rId3"/>
          <a:stretch>
            <a:fillRect/>
          </a:stretch>
        </p:blipFill>
        <p:spPr>
          <a:xfrm>
            <a:off x="6629400" y="2971800"/>
            <a:ext cx="3291840" cy="1554480"/>
          </a:xfrm>
          <a:prstGeom prst="rect">
            <a:avLst/>
          </a:prstGeom>
          <a:ln>
            <a:solidFill>
              <a:srgbClr val="2A6072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Band"/>
          <p:cNvSpPr/>
          <p:nvPr/>
        </p:nvSpPr>
        <p:spPr>
          <a:xfrm>
            <a:off x="0" y="0"/>
            <a:ext cx="12192000" cy="237744"/>
          </a:xfrm>
          <a:prstGeom prst="rect">
            <a:avLst/>
          </a:prstGeom>
          <a:solidFill>
            <a:srgbClr val="22C7D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Accent"/>
          <p:cNvSpPr/>
          <p:nvPr/>
        </p:nvSpPr>
        <p:spPr>
          <a:xfrm>
            <a:off x="822960" y="1572768"/>
            <a:ext cx="1965960" cy="73152"/>
          </a:xfrm>
          <a:prstGeom prst="rect">
            <a:avLst/>
          </a:prstGeom>
          <a:solidFill>
            <a:srgbClr val="22C7DF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Footer Line"/>
          <p:cNvSpPr/>
          <p:nvPr/>
        </p:nvSpPr>
        <p:spPr>
          <a:xfrm>
            <a:off x="822960" y="6062472"/>
            <a:ext cx="9326880" cy="22860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oter"/>
          <p:cNvSpPr txBox="1"/>
          <p:nvPr/>
        </p:nvSpPr>
        <p:spPr>
          <a:xfrm>
            <a:off x="841248" y="5843016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980">
                <a:solidFill>
                  <a:srgbClr val="64748B"/>
                </a:solidFill>
              </a:rPr>
              <a:t>AURIX MediRun</a:t>
            </a:r>
            <a:endParaRPr lang="ko-KR" sz="980"/>
          </a:p>
        </p:txBody>
      </p:sp>
      <p:sp>
        <p:nvSpPr>
          <p:cNvPr id="7" name="Page"/>
          <p:cNvSpPr txBox="1"/>
          <p:nvPr/>
        </p:nvSpPr>
        <p:spPr>
          <a:xfrm>
            <a:off x="10012680" y="577900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100" b="1">
                <a:solidFill>
                  <a:srgbClr val="94A3B8"/>
                </a:solidFill>
              </a:rPr>
              <a:t>02</a:t>
            </a:r>
            <a:endParaRPr lang="ko-KR" sz="1100"/>
          </a:p>
        </p:txBody>
      </p:sp>
      <p:sp>
        <p:nvSpPr>
          <p:cNvPr id="10" name="Title"/>
          <p:cNvSpPr txBox="1"/>
          <p:nvPr/>
        </p:nvSpPr>
        <p:spPr>
          <a:xfrm>
            <a:off x="822960" y="64008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3000" b="1">
                <a:solidFill>
                  <a:srgbClr val="0F172A"/>
                </a:solidFill>
              </a:rPr>
              <a:t>특정 상황 · 중앙 대합실 BTN_01</a:t>
            </a:r>
            <a:endParaRPr lang="ko-KR" sz="3000"/>
          </a:p>
        </p:txBody>
      </p:sp>
      <p:sp>
        <p:nvSpPr>
          <p:cNvPr id="11" name="Subtitle"/>
          <p:cNvSpPr txBox="1"/>
          <p:nvPr/>
        </p:nvSpPr>
        <p:spPr>
          <a:xfrm>
            <a:off x="841248" y="132588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450">
                <a:solidFill>
                  <a:srgbClr val="64748B"/>
                </a:solidFill>
              </a:rPr>
              <a:t>한 사람의 호출을 따라 전체 코드를 이해합니다</a:t>
            </a:r>
            <a:endParaRPr lang="ko-KR" sz="1450"/>
          </a:p>
        </p:txBody>
      </p:sp>
      <p:sp>
        <p:nvSpPr>
          <p:cNvPr id="20" name="TextBox 20"/>
          <p:cNvSpPr txBox="1"/>
          <p:nvPr/>
        </p:nvSpPr>
        <p:spPr>
          <a:xfrm>
            <a:off x="868680" y="1874519"/>
            <a:ext cx="24688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A9EAF1"/>
            </a:solidFill>
          </a:ln>
        </p:spPr>
        <p:txBody>
          <a:bodyPr wrap="square" rtlCol="0" anchor="t"/>
          <a:lstStyle/>
          <a:p>
            <a:pPr algn="ctr"/>
            <a:r>
              <a:rPr lang="ko-KR" sz="1550" b="1">
                <a:solidFill>
                  <a:srgbClr val="0F172A"/>
                </a:solidFill>
              </a:rPr>
              <a:t>① 상황 발생</a:t>
            </a:r>
            <a:endParaRPr lang="ko-KR" sz="1550"/>
          </a:p>
          <a:p>
            <a:pPr algn="ctr"/>
            <a:r>
              <a:rPr lang="ko-KR" sz="1550" b="1">
                <a:solidFill>
                  <a:srgbClr val="0F172A"/>
                </a:solidFill>
              </a:rPr>
              <a:t/>
            </a:r>
            <a:endParaRPr lang="ko-KR" sz="1550"/>
          </a:p>
          <a:p>
            <a:pPr algn="ctr"/>
            <a:r>
              <a:rPr lang="ko-KR" sz="1550" b="1">
                <a:solidFill>
                  <a:srgbClr val="0F172A"/>
                </a:solidFill>
              </a:rPr>
              <a:t>지하철 중앙 대합실에서</a:t>
            </a:r>
            <a:endParaRPr lang="ko-KR" sz="1550"/>
          </a:p>
          <a:p>
            <a:pPr algn="ctr"/>
            <a:r>
              <a:rPr lang="ko-KR" sz="1550" b="1">
                <a:solidFill>
                  <a:srgbClr val="0F172A"/>
                </a:solidFill>
              </a:rPr>
              <a:t>승객이 갑자기 쓰러짐</a:t>
            </a:r>
            <a:endParaRPr lang="ko-KR" sz="1550"/>
          </a:p>
        </p:txBody>
      </p:sp>
      <p:sp>
        <p:nvSpPr>
          <p:cNvPr id="21" name="TextBox 21"/>
          <p:cNvSpPr txBox="1"/>
          <p:nvPr/>
        </p:nvSpPr>
        <p:spPr>
          <a:xfrm>
            <a:off x="3822191" y="1874519"/>
            <a:ext cx="24688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A9EAF1"/>
            </a:solidFill>
          </a:ln>
        </p:spPr>
        <p:txBody>
          <a:bodyPr wrap="square" rtlCol="0" anchor="t"/>
          <a:lstStyle/>
          <a:p>
            <a:pPr algn="ctr"/>
            <a:r>
              <a:rPr lang="ko-KR" sz="1550" b="1">
                <a:solidFill>
                  <a:srgbClr val="0F172A"/>
                </a:solidFill>
              </a:rPr>
              <a:t>② 사람의 행동</a:t>
            </a:r>
            <a:endParaRPr lang="ko-KR" sz="1550"/>
          </a:p>
          <a:p>
            <a:pPr algn="ctr"/>
            <a:r>
              <a:rPr lang="ko-KR" sz="1550" b="1">
                <a:solidFill>
                  <a:srgbClr val="0F172A"/>
                </a:solidFill>
              </a:rPr>
              <a:t/>
            </a:r>
            <a:endParaRPr lang="ko-KR" sz="1550"/>
          </a:p>
          <a:p>
            <a:pPr algn="ctr"/>
            <a:r>
              <a:rPr lang="ko-KR" sz="1550" b="1">
                <a:solidFill>
                  <a:srgbClr val="0F172A"/>
                </a:solidFill>
              </a:rPr>
              <a:t>BTN_01 호출</a:t>
            </a:r>
            <a:endParaRPr lang="ko-KR" sz="1550"/>
          </a:p>
          <a:p>
            <a:pPr algn="ctr"/>
            <a:r>
              <a:rPr lang="ko-KR" sz="1550" b="1">
                <a:solidFill>
                  <a:srgbClr val="0F172A"/>
                </a:solidFill>
              </a:rPr>
              <a:t>119 신고 · 응급조치</a:t>
            </a:r>
            <a:endParaRPr lang="ko-KR" sz="1550"/>
          </a:p>
        </p:txBody>
      </p:sp>
      <p:sp>
        <p:nvSpPr>
          <p:cNvPr id="22" name="TextBox 22"/>
          <p:cNvSpPr txBox="1"/>
          <p:nvPr/>
        </p:nvSpPr>
        <p:spPr>
          <a:xfrm>
            <a:off x="6784848" y="1874519"/>
            <a:ext cx="333756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A9EAF1"/>
            </a:solidFill>
          </a:ln>
        </p:spPr>
        <p:txBody>
          <a:bodyPr wrap="square" rtlCol="0" anchor="t"/>
          <a:lstStyle/>
          <a:p>
            <a:pPr algn="ctr"/>
            <a:r>
              <a:rPr lang="ko-KR" sz="1550" b="1">
                <a:solidFill>
                  <a:srgbClr val="0F172A"/>
                </a:solidFill>
              </a:rPr>
              <a:t>③ 로봇의 역할</a:t>
            </a:r>
            <a:endParaRPr lang="ko-KR" sz="1550"/>
          </a:p>
          <a:p>
            <a:pPr algn="ctr"/>
            <a:r>
              <a:rPr lang="ko-KR" sz="1550" b="1">
                <a:solidFill>
                  <a:srgbClr val="0F172A"/>
                </a:solidFill>
              </a:rPr>
              <a:t/>
            </a:r>
            <a:endParaRPr lang="ko-KR" sz="1550"/>
          </a:p>
          <a:p>
            <a:pPr algn="ctr"/>
            <a:r>
              <a:rPr lang="ko-KR" sz="1550" b="1">
                <a:solidFill>
                  <a:srgbClr val="0F172A"/>
                </a:solidFill>
              </a:rPr>
              <a:t>HOME에서 AED를 싣고</a:t>
            </a:r>
            <a:endParaRPr lang="ko-KR" sz="1550"/>
          </a:p>
          <a:p>
            <a:pPr algn="ctr"/>
            <a:r>
              <a:rPr lang="ko-KR" sz="1550" b="1">
                <a:solidFill>
                  <a:srgbClr val="0F172A"/>
                </a:solidFill>
              </a:rPr>
              <a:t>중앙 대합실로 운반</a:t>
            </a:r>
            <a:endParaRPr lang="ko-KR" sz="1550"/>
          </a:p>
        </p:txBody>
      </p:sp>
      <p:sp>
        <p:nvSpPr>
          <p:cNvPr id="23" name="TextBox 23"/>
          <p:cNvSpPr txBox="1"/>
          <p:nvPr/>
        </p:nvSpPr>
        <p:spPr>
          <a:xfrm>
            <a:off x="3364992" y="2578608"/>
            <a:ext cx="41148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2400" b="1">
                <a:solidFill>
                  <a:srgbClr val="22C7DF"/>
                </a:solidFill>
              </a:rPr>
              <a:t>→</a:t>
            </a:r>
            <a:endParaRPr lang="ko-KR" sz="2400"/>
          </a:p>
        </p:txBody>
      </p:sp>
      <p:sp>
        <p:nvSpPr>
          <p:cNvPr id="24" name="TextBox 24"/>
          <p:cNvSpPr txBox="1"/>
          <p:nvPr/>
        </p:nvSpPr>
        <p:spPr>
          <a:xfrm>
            <a:off x="6327648" y="2578608"/>
            <a:ext cx="41148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2400" b="1">
                <a:solidFill>
                  <a:srgbClr val="22C7DF"/>
                </a:solidFill>
              </a:rPr>
              <a:t>→</a:t>
            </a:r>
            <a:endParaRPr lang="ko-KR" sz="2400"/>
          </a:p>
        </p:txBody>
      </p:sp>
      <p:sp>
        <p:nvSpPr>
          <p:cNvPr id="25" name="TextBox 25"/>
          <p:cNvSpPr txBox="1"/>
          <p:nvPr/>
        </p:nvSpPr>
        <p:spPr>
          <a:xfrm>
            <a:off x="868680" y="4617720"/>
            <a:ext cx="9253728" cy="749808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txBody>
          <a:bodyPr wrap="square" rtlCol="0" anchor="t"/>
          <a:lstStyle/>
          <a:p>
            <a:pPr algn="ctr"/>
            <a:r>
              <a:rPr lang="ko-KR" sz="1280" b="1">
                <a:solidFill>
                  <a:srgbClr val="7C2D12"/>
                </a:solidFill>
              </a:rPr>
              <a:t>역할 경계  |  로봇은 의료 판단을 하지 않습니다. AED 운반을 보조하고, 신고와 응급처치는 사람이 수행합니다.</a:t>
            </a:r>
            <a:endParaRPr lang="ko-KR" sz="128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Band"/>
          <p:cNvSpPr/>
          <p:nvPr/>
        </p:nvSpPr>
        <p:spPr>
          <a:xfrm>
            <a:off x="0" y="0"/>
            <a:ext cx="12192000" cy="23774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Accent"/>
          <p:cNvSpPr/>
          <p:nvPr/>
        </p:nvSpPr>
        <p:spPr>
          <a:xfrm>
            <a:off x="822960" y="1572768"/>
            <a:ext cx="196596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Footer Line"/>
          <p:cNvSpPr/>
          <p:nvPr/>
        </p:nvSpPr>
        <p:spPr>
          <a:xfrm>
            <a:off x="822960" y="6062472"/>
            <a:ext cx="9326880" cy="22860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oter"/>
          <p:cNvSpPr txBox="1"/>
          <p:nvPr/>
        </p:nvSpPr>
        <p:spPr>
          <a:xfrm>
            <a:off x="841248" y="5843016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980">
                <a:solidFill>
                  <a:srgbClr val="64748B"/>
                </a:solidFill>
              </a:rPr>
              <a:t>AURIX MediRun</a:t>
            </a:r>
            <a:endParaRPr lang="ko-KR" sz="980"/>
          </a:p>
        </p:txBody>
      </p:sp>
      <p:sp>
        <p:nvSpPr>
          <p:cNvPr id="7" name="Page"/>
          <p:cNvSpPr txBox="1"/>
          <p:nvPr/>
        </p:nvSpPr>
        <p:spPr>
          <a:xfrm>
            <a:off x="10012680" y="577900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100" b="1">
                <a:solidFill>
                  <a:srgbClr val="94A3B8"/>
                </a:solidFill>
              </a:rPr>
              <a:t>03</a:t>
            </a:r>
            <a:endParaRPr lang="ko-KR" sz="1100"/>
          </a:p>
        </p:txBody>
      </p:sp>
      <p:sp>
        <p:nvSpPr>
          <p:cNvPr id="10" name="Title"/>
          <p:cNvSpPr txBox="1"/>
          <p:nvPr/>
        </p:nvSpPr>
        <p:spPr>
          <a:xfrm>
            <a:off x="822960" y="64008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3000" b="1">
                <a:solidFill>
                  <a:srgbClr val="0F172A"/>
                </a:solidFill>
              </a:rPr>
              <a:t>현재 구현 범위</a:t>
            </a:r>
            <a:endParaRPr lang="ko-KR" sz="3000"/>
          </a:p>
        </p:txBody>
      </p:sp>
      <p:sp>
        <p:nvSpPr>
          <p:cNvPr id="11" name="Subtitle"/>
          <p:cNvSpPr txBox="1"/>
          <p:nvPr/>
        </p:nvSpPr>
        <p:spPr>
          <a:xfrm>
            <a:off x="841248" y="132588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450">
                <a:solidFill>
                  <a:srgbClr val="64748B"/>
                </a:solidFill>
              </a:rPr>
              <a:t>문서의 목표와 실제 런타임을 구분해야 구조가 정확해집니다</a:t>
            </a:r>
            <a:endParaRPr lang="ko-KR" sz="1450"/>
          </a:p>
        </p:txBody>
      </p:sp>
      <p:sp>
        <p:nvSpPr>
          <p:cNvPr id="20" name="TextBox 20"/>
          <p:cNvSpPr txBox="1"/>
          <p:nvPr/>
        </p:nvSpPr>
        <p:spPr>
          <a:xfrm>
            <a:off x="868680" y="1828800"/>
            <a:ext cx="2834640" cy="3127248"/>
          </a:xfrm>
          <a:prstGeom prst="roundRect">
            <a:avLst/>
          </a:prstGeom>
          <a:solidFill>
            <a:srgbClr val="F0FDF4"/>
          </a:solidFill>
          <a:ln>
            <a:solidFill>
              <a:srgbClr val="86EFAC"/>
            </a:solidFill>
          </a:ln>
        </p:spPr>
        <p:txBody>
          <a:bodyPr wrap="square" rtlCol="0" anchor="t"/>
          <a:lstStyle/>
          <a:p>
            <a:pPr algn="ctr"/>
            <a:r>
              <a:rPr lang="ko-KR" sz="1450" b="1">
                <a:solidFill>
                  <a:srgbClr val="14532D"/>
                </a:solidFill>
              </a:rPr>
              <a:t>현재 실행</a:t>
            </a:r>
            <a:endParaRPr lang="ko-KR" sz="1450"/>
          </a:p>
          <a:p>
            <a:pPr algn="ctr"/>
            <a:r>
              <a:rPr lang="ko-KR" sz="1450" b="1">
                <a:solidFill>
                  <a:srgbClr val="14532D"/>
                </a:solidFill>
              </a:rPr>
              <a:t/>
            </a:r>
            <a:endParaRPr lang="ko-KR" sz="1450"/>
          </a:p>
          <a:p>
            <a:pPr algn="ctr"/>
            <a:r>
              <a:rPr lang="ko-KR" sz="1450" b="1">
                <a:solidFill>
                  <a:srgbClr val="14532D"/>
                </a:solidFill>
              </a:rPr>
              <a:t>MQTT 호출</a:t>
            </a:r>
            <a:endParaRPr lang="ko-KR" sz="1450"/>
          </a:p>
          <a:p>
            <a:pPr algn="ctr"/>
            <a:r>
              <a:rPr lang="ko-KR" sz="1450" b="1">
                <a:solidFill>
                  <a:srgbClr val="14532D"/>
                </a:solidFill>
              </a:rPr>
              <a:t>GUI MissionController</a:t>
            </a:r>
            <a:endParaRPr lang="ko-KR" sz="1450"/>
          </a:p>
          <a:p>
            <a:pPr algn="ctr"/>
            <a:r>
              <a:rPr lang="ko-KR" sz="1450" b="1">
                <a:solidFill>
                  <a:srgbClr val="14532D"/>
                </a:solidFill>
              </a:rPr>
              <a:t>Nav2 이동</a:t>
            </a:r>
            <a:endParaRPr lang="ko-KR" sz="1450"/>
          </a:p>
          <a:p>
            <a:pPr algn="ctr"/>
            <a:r>
              <a:rPr lang="ko-KR" sz="1450" b="1">
                <a:solidFill>
                  <a:srgbClr val="14532D"/>
                </a:solidFill>
              </a:rPr>
              <a:t>15cm 안전 게이트</a:t>
            </a:r>
            <a:endParaRPr lang="ko-KR" sz="1450"/>
          </a:p>
          <a:p>
            <a:pPr algn="ctr"/>
            <a:r>
              <a:rPr lang="ko-KR" sz="1450" b="1">
                <a:solidFill>
                  <a:srgbClr val="14532D"/>
                </a:solidFill>
              </a:rPr>
              <a:t>PostgreSQL 기록</a:t>
            </a:r>
            <a:endParaRPr lang="ko-KR" sz="1450"/>
          </a:p>
        </p:txBody>
      </p:sp>
      <p:sp>
        <p:nvSpPr>
          <p:cNvPr id="21" name="TextBox 21"/>
          <p:cNvSpPr txBox="1"/>
          <p:nvPr/>
        </p:nvSpPr>
        <p:spPr>
          <a:xfrm>
            <a:off x="3886200" y="1828800"/>
            <a:ext cx="2834640" cy="3127248"/>
          </a:xfrm>
          <a:prstGeom prst="roundRect">
            <a:avLst/>
          </a:prstGeom>
          <a:solidFill>
            <a:srgbClr val="FFFBEB"/>
          </a:solidFill>
          <a:ln>
            <a:solidFill>
              <a:srgbClr val="FCD34D"/>
            </a:solidFill>
          </a:ln>
        </p:spPr>
        <p:txBody>
          <a:bodyPr wrap="square" rtlCol="0" anchor="t"/>
          <a:lstStyle/>
          <a:p>
            <a:pPr algn="ctr"/>
            <a:r>
              <a:rPr lang="ko-KR" sz="1450" b="1">
                <a:solidFill>
                  <a:srgbClr val="78350F"/>
                </a:solidFill>
              </a:rPr>
              <a:t>선택 실행</a:t>
            </a:r>
            <a:endParaRPr lang="ko-KR" sz="1450"/>
          </a:p>
          <a:p>
            <a:pPr algn="ctr"/>
            <a:r>
              <a:rPr lang="ko-KR" sz="1450" b="1">
                <a:solidFill>
                  <a:srgbClr val="78350F"/>
                </a:solidFill>
              </a:rPr>
              <a:t/>
            </a:r>
            <a:endParaRPr lang="ko-KR" sz="1450"/>
          </a:p>
          <a:p>
            <a:pPr algn="ctr"/>
            <a:r>
              <a:rPr lang="ko-KR" sz="1450" b="1">
                <a:solidFill>
                  <a:srgbClr val="78350F"/>
                </a:solidFill>
              </a:rPr>
              <a:t>PS4 조종</a:t>
            </a:r>
            <a:endParaRPr lang="ko-KR" sz="1450"/>
          </a:p>
          <a:p>
            <a:pPr algn="ctr"/>
            <a:r>
              <a:rPr lang="ko-KR" sz="1450" b="1">
                <a:solidFill>
                  <a:srgbClr val="78350F"/>
                </a:solidFill>
              </a:rPr>
              <a:t>Arduino LED / E-stop</a:t>
            </a:r>
            <a:endParaRPr lang="ko-KR" sz="1450"/>
          </a:p>
          <a:p>
            <a:pPr algn="ctr"/>
            <a:r>
              <a:rPr lang="ko-KR" sz="1450" b="1">
                <a:solidFill>
                  <a:srgbClr val="78350F"/>
                </a:solidFill>
              </a:rPr>
              <a:t>SLAM·웨이포인트</a:t>
            </a:r>
            <a:endParaRPr lang="ko-KR" sz="1450"/>
          </a:p>
          <a:p>
            <a:pPr algn="ctr"/>
            <a:r>
              <a:rPr lang="ko-KR" sz="1450" b="1">
                <a:solidFill>
                  <a:srgbClr val="78350F"/>
                </a:solidFill>
              </a:rPr>
              <a:t>회전·직진 시험</a:t>
            </a:r>
            <a:endParaRPr lang="ko-KR" sz="1450"/>
          </a:p>
        </p:txBody>
      </p:sp>
      <p:sp>
        <p:nvSpPr>
          <p:cNvPr id="22" name="TextBox 22"/>
          <p:cNvSpPr txBox="1"/>
          <p:nvPr/>
        </p:nvSpPr>
        <p:spPr>
          <a:xfrm>
            <a:off x="6903720" y="1828800"/>
            <a:ext cx="3218688" cy="3127248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txBody>
          <a:bodyPr wrap="square" rtlCol="0" anchor="t"/>
          <a:lstStyle/>
          <a:p>
            <a:pPr algn="ctr"/>
            <a:r>
              <a:rPr lang="ko-KR" sz="1400" b="1">
                <a:solidFill>
                  <a:srgbClr val="334155"/>
                </a:solidFill>
              </a:rPr>
              <a:t>소스·설계 단계</a:t>
            </a:r>
            <a:endParaRPr lang="ko-KR" sz="1400"/>
          </a:p>
          <a:p>
            <a:pPr algn="ctr"/>
            <a:r>
              <a:rPr lang="ko-KR" sz="1400" b="1">
                <a:solidFill>
                  <a:srgbClr val="334155"/>
                </a:solidFill>
              </a:rPr>
              <a:t/>
            </a:r>
            <a:endParaRPr lang="ko-KR" sz="1400"/>
          </a:p>
          <a:p>
            <a:pPr algn="ctr"/>
            <a:r>
              <a:rPr lang="ko-KR" sz="1400" b="1">
                <a:solidFill>
                  <a:srgbClr val="334155"/>
                </a:solidFill>
              </a:rPr>
              <a:t>medirun_msgs typed interface</a:t>
            </a:r>
            <a:endParaRPr lang="ko-KR" sz="1400"/>
          </a:p>
          <a:p>
            <a:pPr algn="ctr"/>
            <a:r>
              <a:rPr lang="ko-KR" sz="1400" b="1">
                <a:solidFill>
                  <a:srgbClr val="334155"/>
                </a:solidFill>
              </a:rPr>
              <a:t>분산 전체 미션 pipeline</a:t>
            </a:r>
            <a:endParaRPr lang="ko-KR" sz="1400"/>
          </a:p>
          <a:p>
            <a:pPr algn="ctr"/>
            <a:r>
              <a:rPr lang="ko-KR" sz="1400" b="1">
                <a:solidFill>
                  <a:srgbClr val="334155"/>
                </a:solidFill>
              </a:rPr>
              <a:t>실제 자동 도킹</a:t>
            </a:r>
            <a:endParaRPr lang="ko-KR" sz="1400"/>
          </a:p>
          <a:p>
            <a:pPr algn="ctr"/>
            <a:r>
              <a:rPr lang="ko-KR" sz="1400" b="1">
                <a:solidFill>
                  <a:srgbClr val="334155"/>
                </a:solidFill>
              </a:rPr>
              <a:t>ROS DB 보조 노드</a:t>
            </a:r>
            <a:endParaRPr lang="ko-KR" sz="1400"/>
          </a:p>
        </p:txBody>
      </p:sp>
      <p:sp>
        <p:nvSpPr>
          <p:cNvPr id="23" name="TextBox 23"/>
          <p:cNvSpPr txBox="1"/>
          <p:nvPr/>
        </p:nvSpPr>
        <p:spPr>
          <a:xfrm>
            <a:off x="868680" y="5212080"/>
            <a:ext cx="9253728" cy="420624"/>
          </a:xfrm>
          <a:prstGeom prst="roundRect">
            <a:avLst/>
          </a:prstGeom>
          <a:solidFill>
            <a:srgbClr val="E0F2FE"/>
          </a:solidFill>
          <a:ln>
            <a:solidFill>
              <a:srgbClr val="7DD3FC"/>
            </a:solidFill>
          </a:ln>
        </p:spPr>
        <p:txBody>
          <a:bodyPr wrap="square" rtlCol="0" anchor="t"/>
          <a:lstStyle/>
          <a:p>
            <a:pPr algn="ctr"/>
            <a:r>
              <a:rPr lang="ko-KR" sz="1180" b="1">
                <a:solidFill>
                  <a:srgbClr val="0C4A6E"/>
                </a:solidFill>
              </a:rPr>
              <a:t>현재 호출/미션 데이터는 주로 std_msgs/msg/String 안의 JSON을 사용합니다.</a:t>
            </a:r>
            <a:endParaRPr lang="ko-KR" sz="118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7F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Band"/>
          <p:cNvSpPr/>
          <p:nvPr/>
        </p:nvSpPr>
        <p:spPr>
          <a:xfrm>
            <a:off x="0" y="0"/>
            <a:ext cx="12192000" cy="2377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Accent"/>
          <p:cNvSpPr/>
          <p:nvPr/>
        </p:nvSpPr>
        <p:spPr>
          <a:xfrm>
            <a:off x="822960" y="1572768"/>
            <a:ext cx="196596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Footer Line"/>
          <p:cNvSpPr/>
          <p:nvPr/>
        </p:nvSpPr>
        <p:spPr>
          <a:xfrm>
            <a:off x="822960" y="6062472"/>
            <a:ext cx="9326880" cy="22860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oter"/>
          <p:cNvSpPr txBox="1"/>
          <p:nvPr/>
        </p:nvSpPr>
        <p:spPr>
          <a:xfrm>
            <a:off x="841248" y="5843016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980">
                <a:solidFill>
                  <a:srgbClr val="64748B"/>
                </a:solidFill>
              </a:rPr>
              <a:t>AURIX MediRun</a:t>
            </a:r>
            <a:endParaRPr lang="ko-KR" sz="980"/>
          </a:p>
        </p:txBody>
      </p:sp>
      <p:sp>
        <p:nvSpPr>
          <p:cNvPr id="7" name="Page"/>
          <p:cNvSpPr txBox="1"/>
          <p:nvPr/>
        </p:nvSpPr>
        <p:spPr>
          <a:xfrm>
            <a:off x="10012680" y="577900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100" b="1">
                <a:solidFill>
                  <a:srgbClr val="94A3B8"/>
                </a:solidFill>
              </a:rPr>
              <a:t>04</a:t>
            </a:r>
            <a:endParaRPr lang="ko-KR" sz="1100"/>
          </a:p>
        </p:txBody>
      </p:sp>
      <p:sp>
        <p:nvSpPr>
          <p:cNvPr id="10" name="Title"/>
          <p:cNvSpPr txBox="1"/>
          <p:nvPr/>
        </p:nvSpPr>
        <p:spPr>
          <a:xfrm>
            <a:off x="822960" y="64008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3000" b="1">
                <a:solidFill>
                  <a:srgbClr val="0F172A"/>
                </a:solidFill>
              </a:rPr>
              <a:t>전체 배치 아키텍처</a:t>
            </a:r>
            <a:endParaRPr lang="ko-KR" sz="3000"/>
          </a:p>
        </p:txBody>
      </p:sp>
      <p:sp>
        <p:nvSpPr>
          <p:cNvPr id="11" name="Subtitle"/>
          <p:cNvSpPr txBox="1"/>
          <p:nvPr/>
        </p:nvSpPr>
        <p:spPr>
          <a:xfrm>
            <a:off x="841248" y="132588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450">
                <a:solidFill>
                  <a:srgbClr val="64748B"/>
                </a:solidFill>
              </a:rPr>
              <a:t>ESP32 · Raspberry Pi · PC/VM · PostgreSQL이 ROS 2 네트워크로 연결됩니다</a:t>
            </a:r>
            <a:endParaRPr lang="ko-KR" sz="1450"/>
          </a:p>
        </p:txBody>
      </p:sp>
      <p:sp>
        <p:nvSpPr>
          <p:cNvPr id="20" name="TextBox 20"/>
          <p:cNvSpPr txBox="1"/>
          <p:nvPr/>
        </p:nvSpPr>
        <p:spPr>
          <a:xfrm>
            <a:off x="594360" y="1993392"/>
            <a:ext cx="1325880" cy="13258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500" b="1">
                <a:solidFill>
                  <a:srgbClr val="FFFFFF"/>
                </a:solidFill>
              </a:rPr>
              <a:t>ESP32</a:t>
            </a:r>
            <a:endParaRPr lang="ko-KR" sz="1500"/>
          </a:p>
          <a:p>
            <a:pPr algn="ctr"/>
            <a:r>
              <a:rPr lang="ko-KR" sz="1500" b="1">
                <a:solidFill>
                  <a:srgbClr val="FFFFFF"/>
                </a:solidFill>
              </a:rPr>
              <a:t>BTN_01</a:t>
            </a:r>
            <a:endParaRPr lang="ko-KR" sz="1500"/>
          </a:p>
        </p:txBody>
      </p:sp>
      <p:sp>
        <p:nvSpPr>
          <p:cNvPr id="21" name="TextBox 21"/>
          <p:cNvSpPr txBox="1"/>
          <p:nvPr/>
        </p:nvSpPr>
        <p:spPr>
          <a:xfrm>
            <a:off x="1938528" y="2441448"/>
            <a:ext cx="502920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2200" b="1">
                <a:solidFill>
                  <a:srgbClr val="3B82F6"/>
                </a:solidFill>
              </a:rPr>
              <a:t>→</a:t>
            </a:r>
            <a:endParaRPr lang="ko-KR" sz="2200"/>
          </a:p>
        </p:txBody>
      </p:sp>
      <p:sp>
        <p:nvSpPr>
          <p:cNvPr id="22" name="TextBox 22"/>
          <p:cNvSpPr txBox="1"/>
          <p:nvPr/>
        </p:nvSpPr>
        <p:spPr>
          <a:xfrm>
            <a:off x="2441448" y="1993392"/>
            <a:ext cx="1417320" cy="1325880"/>
          </a:xfrm>
          <a:prstGeom prst="roundRect">
            <a:avLst/>
          </a:prstGeom>
          <a:solidFill>
            <a:srgbClr val="FEF3C7"/>
          </a:solidFill>
          <a:ln>
            <a:solidFill>
              <a:srgbClr val="F59E0B"/>
            </a:solidFill>
          </a:ln>
        </p:spPr>
        <p:txBody>
          <a:bodyPr wrap="square" rtlCol="0" anchor="t"/>
          <a:lstStyle/>
          <a:p>
            <a:pPr algn="ctr"/>
            <a:r>
              <a:rPr lang="ko-KR" sz="1500" b="1">
                <a:solidFill>
                  <a:srgbClr val="78350F"/>
                </a:solidFill>
              </a:rPr>
              <a:t>MQTT</a:t>
            </a:r>
            <a:endParaRPr lang="ko-KR" sz="1500"/>
          </a:p>
          <a:p>
            <a:pPr algn="ctr"/>
            <a:r>
              <a:rPr lang="ko-KR" sz="1500" b="1">
                <a:solidFill>
                  <a:srgbClr val="78350F"/>
                </a:solidFill>
              </a:rPr>
              <a:t>Broker</a:t>
            </a:r>
            <a:endParaRPr lang="ko-KR" sz="1500"/>
          </a:p>
        </p:txBody>
      </p:sp>
      <p:sp>
        <p:nvSpPr>
          <p:cNvPr id="23" name="TextBox 23"/>
          <p:cNvSpPr txBox="1"/>
          <p:nvPr/>
        </p:nvSpPr>
        <p:spPr>
          <a:xfrm>
            <a:off x="3867912" y="2441448"/>
            <a:ext cx="502920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2200" b="1">
                <a:solidFill>
                  <a:srgbClr val="3B82F6"/>
                </a:solidFill>
              </a:rPr>
              <a:t>→</a:t>
            </a:r>
            <a:endParaRPr lang="ko-KR" sz="2200"/>
          </a:p>
        </p:txBody>
      </p:sp>
      <p:sp>
        <p:nvSpPr>
          <p:cNvPr id="24" name="TextBox 24"/>
          <p:cNvSpPr txBox="1"/>
          <p:nvPr/>
        </p:nvSpPr>
        <p:spPr>
          <a:xfrm>
            <a:off x="4370832" y="1783080"/>
            <a:ext cx="3063240" cy="178308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380" b="1">
                <a:solidFill>
                  <a:srgbClr val="FFFFFF"/>
                </a:solidFill>
              </a:rPr>
              <a:t>PC / VM</a:t>
            </a:r>
            <a:endParaRPr lang="ko-KR" sz="1380"/>
          </a:p>
          <a:p>
            <a:pPr algn="ctr"/>
            <a:r>
              <a:rPr lang="ko-KR" sz="1380" b="1">
                <a:solidFill>
                  <a:srgbClr val="FFFFFF"/>
                </a:solidFill>
              </a:rPr>
              <a:t/>
            </a:r>
            <a:endParaRPr lang="ko-KR" sz="1380"/>
          </a:p>
          <a:p>
            <a:pPr algn="ctr"/>
            <a:r>
              <a:rPr lang="ko-KR" sz="1380" b="1">
                <a:solidFill>
                  <a:srgbClr val="FFFFFF"/>
                </a:solidFill>
              </a:rPr>
              <a:t>mqtt_bridge → dispatcher</a:t>
            </a:r>
            <a:endParaRPr lang="ko-KR" sz="1380"/>
          </a:p>
          <a:p>
            <a:pPr algn="ctr"/>
            <a:r>
              <a:rPr lang="ko-KR" sz="1380" b="1">
                <a:solidFill>
                  <a:srgbClr val="FFFFFF"/>
                </a:solidFill>
              </a:rPr>
              <a:t>Qt GUI → Nav2</a:t>
            </a:r>
            <a:endParaRPr lang="ko-KR" sz="1380"/>
          </a:p>
        </p:txBody>
      </p:sp>
      <p:sp>
        <p:nvSpPr>
          <p:cNvPr id="25" name="TextBox 25"/>
          <p:cNvSpPr txBox="1"/>
          <p:nvPr/>
        </p:nvSpPr>
        <p:spPr>
          <a:xfrm>
            <a:off x="7434072" y="2441448"/>
            <a:ext cx="502920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2200" b="1">
                <a:solidFill>
                  <a:srgbClr val="3B82F6"/>
                </a:solidFill>
              </a:rPr>
              <a:t>→</a:t>
            </a:r>
            <a:endParaRPr lang="ko-KR" sz="2200"/>
          </a:p>
        </p:txBody>
      </p:sp>
      <p:sp>
        <p:nvSpPr>
          <p:cNvPr id="26" name="TextBox 26"/>
          <p:cNvSpPr txBox="1"/>
          <p:nvPr/>
        </p:nvSpPr>
        <p:spPr>
          <a:xfrm>
            <a:off x="7936992" y="1783080"/>
            <a:ext cx="2148840" cy="1783080"/>
          </a:xfrm>
          <a:prstGeom prst="roundRect">
            <a:avLst/>
          </a:prstGeom>
          <a:solidFill>
            <a:srgbClr val="115E59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350" b="1">
                <a:solidFill>
                  <a:srgbClr val="FFFFFF"/>
                </a:solidFill>
              </a:rPr>
              <a:t>Raspberry Pi</a:t>
            </a:r>
            <a:endParaRPr lang="ko-KR" sz="1350"/>
          </a:p>
          <a:p>
            <a:pPr algn="ctr"/>
            <a:r>
              <a:rPr lang="ko-KR" sz="1350" b="1">
                <a:solidFill>
                  <a:srgbClr val="FFFFFF"/>
                </a:solidFill>
              </a:rPr>
              <a:t/>
            </a:r>
            <a:endParaRPr lang="ko-KR" sz="1350"/>
          </a:p>
          <a:p>
            <a:pPr algn="ctr"/>
            <a:r>
              <a:rPr lang="ko-KR" sz="1350" b="1">
                <a:solidFill>
                  <a:srgbClr val="FFFFFF"/>
                </a:solidFill>
              </a:rPr>
              <a:t>TurtleBot3 · Camera</a:t>
            </a:r>
            <a:endParaRPr lang="ko-KR" sz="1350"/>
          </a:p>
          <a:p>
            <a:pPr algn="ctr"/>
            <a:r>
              <a:rPr lang="ko-KR" sz="1350" b="1">
                <a:solidFill>
                  <a:srgbClr val="FFFFFF"/>
                </a:solidFill>
              </a:rPr>
              <a:t>serial_bridge</a:t>
            </a:r>
            <a:endParaRPr lang="ko-KR" sz="1350"/>
          </a:p>
        </p:txBody>
      </p:sp>
      <p:sp>
        <p:nvSpPr>
          <p:cNvPr id="27" name="TextBox 27"/>
          <p:cNvSpPr txBox="1"/>
          <p:nvPr/>
        </p:nvSpPr>
        <p:spPr>
          <a:xfrm>
            <a:off x="868680" y="4069080"/>
            <a:ext cx="2423160" cy="1051560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txBody>
          <a:bodyPr wrap="square" rtlCol="0" anchor="t"/>
          <a:lstStyle/>
          <a:p>
            <a:pPr algn="ctr"/>
            <a:r>
              <a:rPr lang="ko-KR" sz="1320" b="1">
                <a:solidFill>
                  <a:srgbClr val="7C2D12"/>
                </a:solidFill>
              </a:rPr>
              <a:t>Arduino</a:t>
            </a:r>
            <a:endParaRPr lang="ko-KR" sz="1320"/>
          </a:p>
          <a:p>
            <a:pPr algn="ctr"/>
            <a:r>
              <a:rPr lang="ko-KR" sz="1320" b="1">
                <a:solidFill>
                  <a:srgbClr val="7C2D12"/>
                </a:solidFill>
              </a:rPr>
              <a:t>초음파 · 홀 · LED</a:t>
            </a:r>
            <a:endParaRPr lang="ko-KR" sz="1320"/>
          </a:p>
        </p:txBody>
      </p:sp>
      <p:sp>
        <p:nvSpPr>
          <p:cNvPr id="28" name="TextBox 28"/>
          <p:cNvSpPr txBox="1"/>
          <p:nvPr/>
        </p:nvSpPr>
        <p:spPr>
          <a:xfrm>
            <a:off x="3310128" y="4370832"/>
            <a:ext cx="502920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2100" b="1">
                <a:solidFill>
                  <a:srgbClr val="F59E0B"/>
                </a:solidFill>
              </a:rPr>
              <a:t>↔</a:t>
            </a:r>
            <a:endParaRPr lang="ko-KR" sz="2100"/>
          </a:p>
        </p:txBody>
      </p:sp>
      <p:sp>
        <p:nvSpPr>
          <p:cNvPr id="29" name="TextBox 29"/>
          <p:cNvSpPr txBox="1"/>
          <p:nvPr/>
        </p:nvSpPr>
        <p:spPr>
          <a:xfrm>
            <a:off x="3840480" y="4069080"/>
            <a:ext cx="3246120" cy="1051560"/>
          </a:xfrm>
          <a:prstGeom prst="roundRect">
            <a:avLst/>
          </a:prstGeom>
          <a:solidFill>
            <a:srgbClr val="ECFEFF"/>
          </a:solidFill>
          <a:ln>
            <a:solidFill>
              <a:srgbClr val="67E8F9"/>
            </a:solidFill>
          </a:ln>
        </p:spPr>
        <p:txBody>
          <a:bodyPr wrap="square" rtlCol="0" anchor="t"/>
          <a:lstStyle/>
          <a:p>
            <a:pPr algn="ctr"/>
            <a:r>
              <a:rPr lang="ko-KR" sz="1270" b="1">
                <a:solidFill>
                  <a:srgbClr val="164E63"/>
                </a:solidFill>
              </a:rPr>
              <a:t>ROS 2 / CycloneDDS UDP</a:t>
            </a:r>
            <a:endParaRPr lang="ko-KR" sz="1270"/>
          </a:p>
          <a:p>
            <a:pPr algn="ctr"/>
            <a:r>
              <a:rPr lang="ko-KR" sz="1270" b="1">
                <a:solidFill>
                  <a:srgbClr val="164E63"/>
                </a:solidFill>
              </a:rPr>
              <a:t>/scan · /odom · /tf · /cmd_vel</a:t>
            </a:r>
            <a:endParaRPr lang="ko-KR" sz="1270"/>
          </a:p>
        </p:txBody>
      </p:sp>
      <p:sp>
        <p:nvSpPr>
          <p:cNvPr id="30" name="TextBox 30"/>
          <p:cNvSpPr txBox="1"/>
          <p:nvPr/>
        </p:nvSpPr>
        <p:spPr>
          <a:xfrm>
            <a:off x="7114032" y="4370832"/>
            <a:ext cx="502920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2100" b="1">
                <a:solidFill>
                  <a:srgbClr val="8B5CF6"/>
                </a:solidFill>
              </a:rPr>
              <a:t>↔</a:t>
            </a:r>
            <a:endParaRPr lang="ko-KR" sz="2100"/>
          </a:p>
        </p:txBody>
      </p:sp>
      <p:sp>
        <p:nvSpPr>
          <p:cNvPr id="31" name="TextBox 31"/>
          <p:cNvSpPr txBox="1"/>
          <p:nvPr/>
        </p:nvSpPr>
        <p:spPr>
          <a:xfrm>
            <a:off x="7635240" y="4069080"/>
            <a:ext cx="2450592" cy="1051560"/>
          </a:xfrm>
          <a:prstGeom prst="roundRect">
            <a:avLst/>
          </a:prstGeom>
          <a:solidFill>
            <a:srgbClr val="F5F3FF"/>
          </a:solidFill>
          <a:ln>
            <a:solidFill>
              <a:srgbClr val="C4B5FD"/>
            </a:solidFill>
          </a:ln>
        </p:spPr>
        <p:txBody>
          <a:bodyPr wrap="square" rtlCol="0" anchor="t"/>
          <a:lstStyle/>
          <a:p>
            <a:pPr algn="ctr"/>
            <a:r>
              <a:rPr lang="ko-KR" sz="1320" b="1">
                <a:solidFill>
                  <a:srgbClr val="4C1D95"/>
                </a:solidFill>
              </a:rPr>
              <a:t>PostgreSQL</a:t>
            </a:r>
            <a:endParaRPr lang="ko-KR" sz="1320"/>
          </a:p>
          <a:p>
            <a:pPr algn="ctr"/>
            <a:r>
              <a:rPr lang="ko-KR" sz="1320" b="1">
                <a:solidFill>
                  <a:srgbClr val="4C1D95"/>
                </a:solidFill>
              </a:rPr>
              <a:t>호출 · 미션 · 기록</a:t>
            </a:r>
            <a:endParaRPr lang="ko-KR" sz="132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D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Band"/>
          <p:cNvSpPr/>
          <p:nvPr/>
        </p:nvSpPr>
        <p:spPr>
          <a:xfrm>
            <a:off x="0" y="0"/>
            <a:ext cx="12192000" cy="237744"/>
          </a:xfrm>
          <a:prstGeom prst="rect">
            <a:avLst/>
          </a:prstGeom>
          <a:solidFill>
            <a:srgbClr val="22C7D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Accent"/>
          <p:cNvSpPr/>
          <p:nvPr/>
        </p:nvSpPr>
        <p:spPr>
          <a:xfrm>
            <a:off x="822960" y="1572768"/>
            <a:ext cx="1965960" cy="73152"/>
          </a:xfrm>
          <a:prstGeom prst="rect">
            <a:avLst/>
          </a:prstGeom>
          <a:solidFill>
            <a:srgbClr val="22C7DF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Footer Line"/>
          <p:cNvSpPr/>
          <p:nvPr/>
        </p:nvSpPr>
        <p:spPr>
          <a:xfrm>
            <a:off x="822960" y="6062472"/>
            <a:ext cx="9326880" cy="22860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oter"/>
          <p:cNvSpPr txBox="1"/>
          <p:nvPr/>
        </p:nvSpPr>
        <p:spPr>
          <a:xfrm>
            <a:off x="841248" y="5843016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980">
                <a:solidFill>
                  <a:srgbClr val="64748B"/>
                </a:solidFill>
              </a:rPr>
              <a:t>AURIX MediRun</a:t>
            </a:r>
            <a:endParaRPr lang="ko-KR" sz="980"/>
          </a:p>
        </p:txBody>
      </p:sp>
      <p:sp>
        <p:nvSpPr>
          <p:cNvPr id="7" name="Page"/>
          <p:cNvSpPr txBox="1"/>
          <p:nvPr/>
        </p:nvSpPr>
        <p:spPr>
          <a:xfrm>
            <a:off x="10012680" y="577900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100" b="1">
                <a:solidFill>
                  <a:srgbClr val="94A3B8"/>
                </a:solidFill>
              </a:rPr>
              <a:t>05</a:t>
            </a:r>
            <a:endParaRPr lang="ko-KR" sz="1100"/>
          </a:p>
        </p:txBody>
      </p:sp>
      <p:sp>
        <p:nvSpPr>
          <p:cNvPr id="10" name="Title"/>
          <p:cNvSpPr txBox="1"/>
          <p:nvPr/>
        </p:nvSpPr>
        <p:spPr>
          <a:xfrm>
            <a:off x="822960" y="64008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3000" b="1">
                <a:solidFill>
                  <a:srgbClr val="0F172A"/>
                </a:solidFill>
              </a:rPr>
              <a:t>BTN_01 호출 처리 순서</a:t>
            </a:r>
            <a:endParaRPr lang="ko-KR" sz="3000"/>
          </a:p>
        </p:txBody>
      </p:sp>
      <p:sp>
        <p:nvSpPr>
          <p:cNvPr id="11" name="Subtitle"/>
          <p:cNvSpPr txBox="1"/>
          <p:nvPr/>
        </p:nvSpPr>
        <p:spPr>
          <a:xfrm>
            <a:off x="841248" y="132588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450">
                <a:solidFill>
                  <a:srgbClr val="64748B"/>
                </a:solidFill>
              </a:rPr>
              <a:t>MQTT 문자열이 실제 로봇 이동 목표가 되기까지</a:t>
            </a:r>
            <a:endParaRPr lang="ko-KR" sz="1450"/>
          </a:p>
        </p:txBody>
      </p:sp>
      <p:sp>
        <p:nvSpPr>
          <p:cNvPr id="20" name="TextBox 20"/>
          <p:cNvSpPr txBox="1"/>
          <p:nvPr/>
        </p:nvSpPr>
        <p:spPr>
          <a:xfrm>
            <a:off x="475488" y="2057400"/>
            <a:ext cx="1325880" cy="18288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250" b="1">
                <a:solidFill>
                  <a:srgbClr val="FFFFFF"/>
                </a:solidFill>
              </a:rPr>
              <a:t>1</a:t>
            </a:r>
            <a:endParaRPr lang="ko-KR" sz="1250"/>
          </a:p>
          <a:p>
            <a:pPr algn="ctr"/>
            <a:r>
              <a:rPr lang="ko-KR" sz="1250" b="1">
                <a:solidFill>
                  <a:srgbClr val="FFFFFF"/>
                </a:solidFill>
              </a:rPr>
              <a:t>MQTT</a:t>
            </a:r>
            <a:endParaRPr lang="ko-KR" sz="1250"/>
          </a:p>
          <a:p>
            <a:pPr algn="ctr"/>
            <a:r>
              <a:rPr lang="ko-KR" sz="1250" b="1">
                <a:solidFill>
                  <a:srgbClr val="FFFFFF"/>
                </a:solidFill>
              </a:rPr>
              <a:t/>
            </a:r>
            <a:endParaRPr lang="ko-KR" sz="1250"/>
          </a:p>
          <a:p>
            <a:pPr algn="ctr"/>
            <a:r>
              <a:rPr lang="ko-KR" sz="1250" b="1">
                <a:solidFill>
                  <a:srgbClr val="FFFFFF"/>
                </a:solidFill>
              </a:rPr>
              <a:t>BTN_01</a:t>
            </a:r>
            <a:endParaRPr lang="ko-KR" sz="1250"/>
          </a:p>
        </p:txBody>
      </p:sp>
      <p:sp>
        <p:nvSpPr>
          <p:cNvPr id="21" name="TextBox 21"/>
          <p:cNvSpPr txBox="1"/>
          <p:nvPr/>
        </p:nvSpPr>
        <p:spPr>
          <a:xfrm>
            <a:off x="1801368" y="2724912"/>
            <a:ext cx="228600" cy="29260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550" b="1">
                <a:solidFill>
                  <a:srgbClr val="5B6B7F"/>
                </a:solidFill>
              </a:rPr>
              <a:t>→</a:t>
            </a:r>
            <a:endParaRPr lang="ko-KR" sz="1550"/>
          </a:p>
        </p:txBody>
      </p:sp>
      <p:sp>
        <p:nvSpPr>
          <p:cNvPr id="22" name="TextBox 22"/>
          <p:cNvSpPr txBox="1"/>
          <p:nvPr/>
        </p:nvSpPr>
        <p:spPr>
          <a:xfrm>
            <a:off x="2020824" y="2057400"/>
            <a:ext cx="1325880" cy="1828800"/>
          </a:xfrm>
          <a:prstGeom prst="roundRect">
            <a:avLst/>
          </a:prstGeom>
          <a:solidFill>
            <a:srgbClr val="E0F2FE"/>
          </a:solidFill>
          <a:ln>
            <a:solidFill>
              <a:srgbClr val="D5DEE9"/>
            </a:solidFill>
          </a:ln>
        </p:spPr>
        <p:txBody>
          <a:bodyPr wrap="square" rtlCol="0" anchor="t"/>
          <a:lstStyle/>
          <a:p>
            <a:pPr algn="ctr"/>
            <a:r>
              <a:rPr lang="ko-KR" sz="1250" b="1">
                <a:solidFill>
                  <a:srgbClr val="0F172A"/>
                </a:solidFill>
              </a:rPr>
              <a:t>2</a:t>
            </a:r>
            <a:endParaRPr lang="ko-KR" sz="1250"/>
          </a:p>
          <a:p>
            <a:pPr algn="ctr"/>
            <a:r>
              <a:rPr lang="ko-KR" sz="1250" b="1">
                <a:solidFill>
                  <a:srgbClr val="0F172A"/>
                </a:solidFill>
              </a:rPr>
              <a:t>SOS topic</a:t>
            </a:r>
            <a:endParaRPr lang="ko-KR" sz="1250"/>
          </a:p>
          <a:p>
            <a:pPr algn="ctr"/>
            <a:r>
              <a:rPr lang="ko-KR" sz="1250" b="1">
                <a:solidFill>
                  <a:srgbClr val="0F172A"/>
                </a:solidFill>
              </a:rPr>
              <a:t/>
            </a:r>
            <a:endParaRPr lang="ko-KR" sz="1250"/>
          </a:p>
          <a:p>
            <a:pPr algn="ctr"/>
            <a:r>
              <a:rPr lang="ko-KR" sz="1250" b="1">
                <a:solidFill>
                  <a:srgbClr val="0F172A"/>
                </a:solidFill>
              </a:rPr>
              <a:t>String</a:t>
            </a:r>
            <a:endParaRPr lang="ko-KR" sz="1250"/>
          </a:p>
        </p:txBody>
      </p:sp>
      <p:sp>
        <p:nvSpPr>
          <p:cNvPr id="23" name="TextBox 23"/>
          <p:cNvSpPr txBox="1"/>
          <p:nvPr/>
        </p:nvSpPr>
        <p:spPr>
          <a:xfrm>
            <a:off x="3346704" y="2724912"/>
            <a:ext cx="228600" cy="29260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550" b="1">
                <a:solidFill>
                  <a:srgbClr val="5B6B7F"/>
                </a:solidFill>
              </a:rPr>
              <a:t>→</a:t>
            </a:r>
            <a:endParaRPr lang="ko-KR" sz="1550"/>
          </a:p>
        </p:txBody>
      </p:sp>
      <p:sp>
        <p:nvSpPr>
          <p:cNvPr id="24" name="TextBox 24"/>
          <p:cNvSpPr txBox="1"/>
          <p:nvPr/>
        </p:nvSpPr>
        <p:spPr>
          <a:xfrm>
            <a:off x="3566160" y="2057400"/>
            <a:ext cx="1325880" cy="1828800"/>
          </a:xfrm>
          <a:prstGeom prst="roundRect">
            <a:avLst/>
          </a:prstGeom>
          <a:solidFill>
            <a:srgbClr val="FEF3C7"/>
          </a:solidFill>
          <a:ln>
            <a:solidFill>
              <a:srgbClr val="D5DEE9"/>
            </a:solidFill>
          </a:ln>
        </p:spPr>
        <p:txBody>
          <a:bodyPr wrap="square" rtlCol="0" anchor="t"/>
          <a:lstStyle/>
          <a:p>
            <a:pPr algn="ctr"/>
            <a:r>
              <a:rPr lang="ko-KR" sz="1250" b="1">
                <a:solidFill>
                  <a:srgbClr val="0F172A"/>
                </a:solidFill>
              </a:rPr>
              <a:t>3</a:t>
            </a:r>
            <a:endParaRPr lang="ko-KR" sz="1250"/>
          </a:p>
          <a:p>
            <a:pPr algn="ctr"/>
            <a:r>
              <a:rPr lang="ko-KR" sz="1250" b="1">
                <a:solidFill>
                  <a:srgbClr val="0F172A"/>
                </a:solidFill>
              </a:rPr>
              <a:t>검증</a:t>
            </a:r>
            <a:endParaRPr lang="ko-KR" sz="1250"/>
          </a:p>
          <a:p>
            <a:pPr algn="ctr"/>
            <a:r>
              <a:rPr lang="ko-KR" sz="1250" b="1">
                <a:solidFill>
                  <a:srgbClr val="0F172A"/>
                </a:solidFill>
              </a:rPr>
              <a:t/>
            </a:r>
            <a:endParaRPr lang="ko-KR" sz="1250"/>
          </a:p>
          <a:p>
            <a:pPr algn="ctr"/>
            <a:r>
              <a:rPr lang="ko-KR" sz="1250" b="1">
                <a:solidFill>
                  <a:srgbClr val="0F172A"/>
                </a:solidFill>
              </a:rPr>
              <a:t>2s · 30%</a:t>
            </a:r>
            <a:endParaRPr lang="ko-KR" sz="1250"/>
          </a:p>
        </p:txBody>
      </p:sp>
      <p:sp>
        <p:nvSpPr>
          <p:cNvPr id="25" name="TextBox 25"/>
          <p:cNvSpPr txBox="1"/>
          <p:nvPr/>
        </p:nvSpPr>
        <p:spPr>
          <a:xfrm>
            <a:off x="4892040" y="2724912"/>
            <a:ext cx="228600" cy="29260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550" b="1">
                <a:solidFill>
                  <a:srgbClr val="5B6B7F"/>
                </a:solidFill>
              </a:rPr>
              <a:t>→</a:t>
            </a:r>
            <a:endParaRPr lang="ko-KR" sz="1550"/>
          </a:p>
        </p:txBody>
      </p:sp>
      <p:sp>
        <p:nvSpPr>
          <p:cNvPr id="26" name="TextBox 26"/>
          <p:cNvSpPr txBox="1"/>
          <p:nvPr/>
        </p:nvSpPr>
        <p:spPr>
          <a:xfrm>
            <a:off x="5111496" y="2057400"/>
            <a:ext cx="1325880" cy="182880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250" b="1">
                <a:solidFill>
                  <a:srgbClr val="FFFFFF"/>
                </a:solidFill>
              </a:rPr>
              <a:t>4</a:t>
            </a:r>
            <a:endParaRPr lang="ko-KR" sz="1250"/>
          </a:p>
          <a:p>
            <a:pPr algn="ctr"/>
            <a:r>
              <a:rPr lang="ko-KR" sz="1250" b="1">
                <a:solidFill>
                  <a:srgbClr val="FFFFFF"/>
                </a:solidFill>
              </a:rPr>
              <a:t>Dispatch</a:t>
            </a:r>
            <a:endParaRPr lang="ko-KR" sz="1250"/>
          </a:p>
          <a:p>
            <a:pPr algn="ctr"/>
            <a:r>
              <a:rPr lang="ko-KR" sz="1250" b="1">
                <a:solidFill>
                  <a:srgbClr val="FFFFFF"/>
                </a:solidFill>
              </a:rPr>
              <a:t/>
            </a:r>
            <a:endParaRPr lang="ko-KR" sz="1250"/>
          </a:p>
          <a:p>
            <a:pPr algn="ctr"/>
            <a:r>
              <a:rPr lang="ko-KR" sz="1250" b="1">
                <a:solidFill>
                  <a:srgbClr val="FFFFFF"/>
                </a:solidFill>
              </a:rPr>
              <a:t>JSON</a:t>
            </a:r>
            <a:endParaRPr lang="ko-KR" sz="1250"/>
          </a:p>
        </p:txBody>
      </p:sp>
      <p:sp>
        <p:nvSpPr>
          <p:cNvPr id="27" name="TextBox 27"/>
          <p:cNvSpPr txBox="1"/>
          <p:nvPr/>
        </p:nvSpPr>
        <p:spPr>
          <a:xfrm>
            <a:off x="6437376" y="2724912"/>
            <a:ext cx="228600" cy="29260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550" b="1">
                <a:solidFill>
                  <a:srgbClr val="5B6B7F"/>
                </a:solidFill>
              </a:rPr>
              <a:t>→</a:t>
            </a:r>
            <a:endParaRPr lang="ko-KR" sz="1550"/>
          </a:p>
        </p:txBody>
      </p:sp>
      <p:sp>
        <p:nvSpPr>
          <p:cNvPr id="28" name="TextBox 28"/>
          <p:cNvSpPr txBox="1"/>
          <p:nvPr/>
        </p:nvSpPr>
        <p:spPr>
          <a:xfrm>
            <a:off x="6656831" y="2057400"/>
            <a:ext cx="1325880" cy="1828800"/>
          </a:xfrm>
          <a:prstGeom prst="roundRect">
            <a:avLst/>
          </a:prstGeom>
          <a:solidFill>
            <a:srgbClr val="EDE9FE"/>
          </a:solidFill>
          <a:ln>
            <a:solidFill>
              <a:srgbClr val="D5DEE9"/>
            </a:solidFill>
          </a:ln>
        </p:spPr>
        <p:txBody>
          <a:bodyPr wrap="square" rtlCol="0" anchor="t"/>
          <a:lstStyle/>
          <a:p>
            <a:pPr algn="ctr"/>
            <a:r>
              <a:rPr lang="ko-KR" sz="1250" b="1">
                <a:solidFill>
                  <a:srgbClr val="0F172A"/>
                </a:solidFill>
              </a:rPr>
              <a:t>5</a:t>
            </a:r>
            <a:endParaRPr lang="ko-KR" sz="1250"/>
          </a:p>
          <a:p>
            <a:pPr algn="ctr"/>
            <a:r>
              <a:rPr lang="ko-KR" sz="1250" b="1">
                <a:solidFill>
                  <a:srgbClr val="0F172A"/>
                </a:solidFill>
              </a:rPr>
              <a:t>DB 좌표</a:t>
            </a:r>
            <a:endParaRPr lang="ko-KR" sz="1250"/>
          </a:p>
          <a:p>
            <a:pPr algn="ctr"/>
            <a:r>
              <a:rPr lang="ko-KR" sz="1250" b="1">
                <a:solidFill>
                  <a:srgbClr val="0F172A"/>
                </a:solidFill>
              </a:rPr>
              <a:t/>
            </a:r>
            <a:endParaRPr lang="ko-KR" sz="1250"/>
          </a:p>
          <a:p>
            <a:pPr algn="ctr"/>
            <a:r>
              <a:rPr lang="ko-KR" sz="1250" b="1">
                <a:solidFill>
                  <a:srgbClr val="0F172A"/>
                </a:solidFill>
              </a:rPr>
              <a:t>x · y · yaw</a:t>
            </a:r>
            <a:endParaRPr lang="ko-KR" sz="1250"/>
          </a:p>
        </p:txBody>
      </p:sp>
      <p:sp>
        <p:nvSpPr>
          <p:cNvPr id="29" name="TextBox 29"/>
          <p:cNvSpPr txBox="1"/>
          <p:nvPr/>
        </p:nvSpPr>
        <p:spPr>
          <a:xfrm>
            <a:off x="7982711" y="2724912"/>
            <a:ext cx="228600" cy="29260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550" b="1">
                <a:solidFill>
                  <a:srgbClr val="5B6B7F"/>
                </a:solidFill>
              </a:rPr>
              <a:t>→</a:t>
            </a:r>
            <a:endParaRPr lang="ko-KR" sz="1550"/>
          </a:p>
        </p:txBody>
      </p:sp>
      <p:sp>
        <p:nvSpPr>
          <p:cNvPr id="30" name="TextBox 30"/>
          <p:cNvSpPr txBox="1"/>
          <p:nvPr/>
        </p:nvSpPr>
        <p:spPr>
          <a:xfrm>
            <a:off x="8202167" y="2057400"/>
            <a:ext cx="1325880" cy="1828800"/>
          </a:xfrm>
          <a:prstGeom prst="roundRect">
            <a:avLst/>
          </a:prstGeom>
          <a:solidFill>
            <a:srgbClr val="DCFCE7"/>
          </a:solidFill>
          <a:ln>
            <a:solidFill>
              <a:srgbClr val="D5DEE9"/>
            </a:solidFill>
          </a:ln>
        </p:spPr>
        <p:txBody>
          <a:bodyPr wrap="square" rtlCol="0" anchor="t"/>
          <a:lstStyle/>
          <a:p>
            <a:pPr algn="ctr"/>
            <a:r>
              <a:rPr lang="ko-KR" sz="1250" b="1">
                <a:solidFill>
                  <a:srgbClr val="0F172A"/>
                </a:solidFill>
              </a:rPr>
              <a:t>6</a:t>
            </a:r>
            <a:endParaRPr lang="ko-KR" sz="1250"/>
          </a:p>
          <a:p>
            <a:pPr algn="ctr"/>
            <a:r>
              <a:rPr lang="ko-KR" sz="1250" b="1">
                <a:solidFill>
                  <a:srgbClr val="0F172A"/>
                </a:solidFill>
              </a:rPr>
              <a:t>Queue</a:t>
            </a:r>
            <a:endParaRPr lang="ko-KR" sz="1250"/>
          </a:p>
          <a:p>
            <a:pPr algn="ctr"/>
            <a:r>
              <a:rPr lang="ko-KR" sz="1250" b="1">
                <a:solidFill>
                  <a:srgbClr val="0F172A"/>
                </a:solidFill>
              </a:rPr>
              <a:t/>
            </a:r>
            <a:endParaRPr lang="ko-KR" sz="1250"/>
          </a:p>
          <a:p>
            <a:pPr algn="ctr"/>
            <a:r>
              <a:rPr lang="ko-KR" sz="1250" b="1">
                <a:solidFill>
                  <a:srgbClr val="0F172A"/>
                </a:solidFill>
              </a:rPr>
              <a:t>중복 제거</a:t>
            </a:r>
            <a:endParaRPr lang="ko-KR" sz="1250"/>
          </a:p>
        </p:txBody>
      </p:sp>
      <p:sp>
        <p:nvSpPr>
          <p:cNvPr id="31" name="TextBox 31"/>
          <p:cNvSpPr txBox="1"/>
          <p:nvPr/>
        </p:nvSpPr>
        <p:spPr>
          <a:xfrm>
            <a:off x="9528047" y="2724912"/>
            <a:ext cx="228600" cy="29260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550" b="1">
                <a:solidFill>
                  <a:srgbClr val="5B6B7F"/>
                </a:solidFill>
              </a:rPr>
              <a:t>→</a:t>
            </a:r>
            <a:endParaRPr lang="ko-KR" sz="1550"/>
          </a:p>
        </p:txBody>
      </p:sp>
      <p:sp>
        <p:nvSpPr>
          <p:cNvPr id="32" name="TextBox 32"/>
          <p:cNvSpPr txBox="1"/>
          <p:nvPr/>
        </p:nvSpPr>
        <p:spPr>
          <a:xfrm>
            <a:off x="9747503" y="2057400"/>
            <a:ext cx="1325880" cy="182880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250" b="1">
                <a:solidFill>
                  <a:srgbClr val="FFFFFF"/>
                </a:solidFill>
              </a:rPr>
              <a:t>7</a:t>
            </a:r>
            <a:endParaRPr lang="ko-KR" sz="1250"/>
          </a:p>
          <a:p>
            <a:pPr algn="ctr"/>
            <a:r>
              <a:rPr lang="ko-KR" sz="1250" b="1">
                <a:solidFill>
                  <a:srgbClr val="FFFFFF"/>
                </a:solidFill>
              </a:rPr>
              <a:t>Nav2</a:t>
            </a:r>
            <a:endParaRPr lang="ko-KR" sz="1250"/>
          </a:p>
          <a:p>
            <a:pPr algn="ctr"/>
            <a:r>
              <a:rPr lang="ko-KR" sz="1250" b="1">
                <a:solidFill>
                  <a:srgbClr val="FFFFFF"/>
                </a:solidFill>
              </a:rPr>
              <a:t/>
            </a:r>
            <a:endParaRPr lang="ko-KR" sz="1250"/>
          </a:p>
          <a:p>
            <a:pPr algn="ctr"/>
            <a:r>
              <a:rPr lang="ko-KR" sz="1250" b="1">
                <a:solidFill>
                  <a:srgbClr val="FFFFFF"/>
                </a:solidFill>
              </a:rPr>
              <a:t>Action goal</a:t>
            </a:r>
            <a:endParaRPr lang="ko-KR" sz="1250"/>
          </a:p>
        </p:txBody>
      </p:sp>
      <p:sp>
        <p:nvSpPr>
          <p:cNvPr id="33" name="TextBox 33"/>
          <p:cNvSpPr txBox="1"/>
          <p:nvPr/>
        </p:nvSpPr>
        <p:spPr>
          <a:xfrm>
            <a:off x="868680" y="4279392"/>
            <a:ext cx="92811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7DD3FC"/>
            </a:solidFill>
          </a:ln>
        </p:spPr>
        <p:txBody>
          <a:bodyPr wrap="square" rtlCol="0" anchor="t"/>
          <a:lstStyle/>
          <a:p>
            <a:pPr algn="ctr"/>
            <a:r>
              <a:rPr lang="ko-KR" sz="1220">
                <a:solidFill>
                  <a:srgbClr val="0C4A6E"/>
                </a:solidFill>
              </a:rPr>
              <a:t>dispatch_request  |  { mission_id: UUID, button_id: BTN_01, request_source: sos_button }</a:t>
            </a:r>
            <a:endParaRPr lang="ko-KR" sz="1220"/>
          </a:p>
          <a:p>
            <a:pPr algn="ctr"/>
            <a:r>
              <a:rPr lang="ko-KR" sz="1220">
                <a:solidFill>
                  <a:srgbClr val="0C4A6E"/>
                </a:solidFill>
              </a:rPr>
              <a:t>GUI MissionController가 현재 단일 미션 조정자이며 중복 Nav2 goal을 막습니다.</a:t>
            </a:r>
            <a:endParaRPr lang="ko-KR" sz="122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Band"/>
          <p:cNvSpPr/>
          <p:nvPr/>
        </p:nvSpPr>
        <p:spPr>
          <a:xfrm>
            <a:off x="0" y="0"/>
            <a:ext cx="12192000" cy="2377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Accent"/>
          <p:cNvSpPr/>
          <p:nvPr/>
        </p:nvSpPr>
        <p:spPr>
          <a:xfrm>
            <a:off x="822960" y="1572768"/>
            <a:ext cx="196596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Footer Line"/>
          <p:cNvSpPr/>
          <p:nvPr/>
        </p:nvSpPr>
        <p:spPr>
          <a:xfrm>
            <a:off x="822960" y="6062472"/>
            <a:ext cx="9326880" cy="22860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oter"/>
          <p:cNvSpPr txBox="1"/>
          <p:nvPr/>
        </p:nvSpPr>
        <p:spPr>
          <a:xfrm>
            <a:off x="841248" y="5843016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980">
                <a:solidFill>
                  <a:srgbClr val="64748B"/>
                </a:solidFill>
              </a:rPr>
              <a:t>AURIX MediRun</a:t>
            </a:r>
            <a:endParaRPr lang="ko-KR" sz="980"/>
          </a:p>
        </p:txBody>
      </p:sp>
      <p:sp>
        <p:nvSpPr>
          <p:cNvPr id="7" name="Page"/>
          <p:cNvSpPr txBox="1"/>
          <p:nvPr/>
        </p:nvSpPr>
        <p:spPr>
          <a:xfrm>
            <a:off x="10012680" y="577900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100" b="1">
                <a:solidFill>
                  <a:srgbClr val="94A3B8"/>
                </a:solidFill>
              </a:rPr>
              <a:t>06</a:t>
            </a:r>
            <a:endParaRPr lang="ko-KR" sz="1100"/>
          </a:p>
        </p:txBody>
      </p:sp>
      <p:sp>
        <p:nvSpPr>
          <p:cNvPr id="10" name="Title"/>
          <p:cNvSpPr txBox="1"/>
          <p:nvPr/>
        </p:nvSpPr>
        <p:spPr>
          <a:xfrm>
            <a:off x="822960" y="64008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3000" b="1">
                <a:solidFill>
                  <a:srgbClr val="0F172A"/>
                </a:solidFill>
              </a:rPr>
              <a:t>예외 상황과 대기열</a:t>
            </a:r>
            <a:endParaRPr lang="ko-KR" sz="3000"/>
          </a:p>
        </p:txBody>
      </p:sp>
      <p:sp>
        <p:nvSpPr>
          <p:cNvPr id="11" name="Subtitle"/>
          <p:cNvSpPr txBox="1"/>
          <p:nvPr/>
        </p:nvSpPr>
        <p:spPr>
          <a:xfrm>
            <a:off x="841248" y="132588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450">
                <a:solidFill>
                  <a:srgbClr val="64748B"/>
                </a:solidFill>
              </a:rPr>
              <a:t>정상 흐름만큼 중요한 것은 반복 호출과 실패를 다루는 방식입니다</a:t>
            </a:r>
            <a:endParaRPr lang="ko-KR" sz="1450"/>
          </a:p>
        </p:txBody>
      </p:sp>
      <p:sp>
        <p:nvSpPr>
          <p:cNvPr id="20" name="TextBox 20"/>
          <p:cNvSpPr txBox="1"/>
          <p:nvPr/>
        </p:nvSpPr>
        <p:spPr>
          <a:xfrm>
            <a:off x="868680" y="1828800"/>
            <a:ext cx="2148840" cy="1938528"/>
          </a:xfrm>
          <a:prstGeom prst="roundRect">
            <a:avLst/>
          </a:prstGeom>
          <a:solidFill>
            <a:srgbClr val="F0FDF4"/>
          </a:solidFill>
          <a:ln>
            <a:solidFill>
              <a:srgbClr val="86EFAC"/>
            </a:solidFill>
          </a:ln>
        </p:spPr>
        <p:txBody>
          <a:bodyPr wrap="square" rtlCol="0" anchor="t"/>
          <a:lstStyle/>
          <a:p>
            <a:pPr algn="ctr"/>
            <a:r>
              <a:rPr lang="ko-KR" sz="1370" b="1">
                <a:solidFill>
                  <a:srgbClr val="14532D"/>
                </a:solidFill>
              </a:rPr>
              <a:t>정상 호출</a:t>
            </a:r>
            <a:endParaRPr lang="ko-KR" sz="1370"/>
          </a:p>
          <a:p>
            <a:pPr algn="ctr"/>
            <a:r>
              <a:rPr lang="ko-KR" sz="1370" b="1">
                <a:solidFill>
                  <a:srgbClr val="14532D"/>
                </a:solidFill>
              </a:rPr>
              <a:t/>
            </a:r>
            <a:endParaRPr lang="ko-KR" sz="1370"/>
          </a:p>
          <a:p>
            <a:pPr algn="ctr"/>
            <a:r>
              <a:rPr lang="ko-KR" sz="1370" b="1">
                <a:solidFill>
                  <a:srgbClr val="14532D"/>
                </a:solidFill>
              </a:rPr>
              <a:t>Idle이면 즉시 출발</a:t>
            </a:r>
            <a:endParaRPr lang="ko-KR" sz="1370"/>
          </a:p>
          <a:p>
            <a:pPr algn="ctr"/>
            <a:r>
              <a:rPr lang="ko-KR" sz="1370" b="1">
                <a:solidFill>
                  <a:srgbClr val="14532D"/>
                </a:solidFill>
              </a:rPr>
              <a:t>DB와 이력 저장</a:t>
            </a:r>
            <a:endParaRPr lang="ko-KR" sz="1370"/>
          </a:p>
        </p:txBody>
      </p:sp>
      <p:sp>
        <p:nvSpPr>
          <p:cNvPr id="21" name="TextBox 21"/>
          <p:cNvSpPr txBox="1"/>
          <p:nvPr/>
        </p:nvSpPr>
        <p:spPr>
          <a:xfrm>
            <a:off x="3218688" y="1828800"/>
            <a:ext cx="2148840" cy="1938528"/>
          </a:xfrm>
          <a:prstGeom prst="roundRect">
            <a:avLst/>
          </a:prstGeom>
          <a:solidFill>
            <a:srgbClr val="ECFEFF"/>
          </a:solidFill>
          <a:ln>
            <a:solidFill>
              <a:srgbClr val="67E8F9"/>
            </a:solidFill>
          </a:ln>
        </p:spPr>
        <p:txBody>
          <a:bodyPr wrap="square" rtlCol="0" anchor="t"/>
          <a:lstStyle/>
          <a:p>
            <a:pPr algn="ctr"/>
            <a:r>
              <a:rPr lang="ko-KR" sz="1370" b="1">
                <a:solidFill>
                  <a:srgbClr val="164E63"/>
                </a:solidFill>
              </a:rPr>
              <a:t>중복 BTN_01</a:t>
            </a:r>
            <a:endParaRPr lang="ko-KR" sz="1370"/>
          </a:p>
          <a:p>
            <a:pPr algn="ctr"/>
            <a:r>
              <a:rPr lang="ko-KR" sz="1370" b="1">
                <a:solidFill>
                  <a:srgbClr val="164E63"/>
                </a:solidFill>
              </a:rPr>
              <a:t/>
            </a:r>
            <a:endParaRPr lang="ko-KR" sz="1370"/>
          </a:p>
          <a:p>
            <a:pPr algn="ctr"/>
            <a:r>
              <a:rPr lang="ko-KR" sz="1370" b="1">
                <a:solidFill>
                  <a:srgbClr val="164E63"/>
                </a:solidFill>
              </a:rPr>
              <a:t>진행/대기 waypoint 검색</a:t>
            </a:r>
            <a:endParaRPr lang="ko-KR" sz="1370"/>
          </a:p>
          <a:p>
            <a:pPr algn="ctr"/>
            <a:r>
              <a:rPr lang="ko-KR" sz="1370" b="1">
                <a:solidFill>
                  <a:srgbClr val="164E63"/>
                </a:solidFill>
              </a:rPr>
              <a:t>중복 무시 기록</a:t>
            </a:r>
            <a:endParaRPr lang="ko-KR" sz="1370"/>
          </a:p>
        </p:txBody>
      </p:sp>
      <p:sp>
        <p:nvSpPr>
          <p:cNvPr id="22" name="TextBox 22"/>
          <p:cNvSpPr txBox="1"/>
          <p:nvPr/>
        </p:nvSpPr>
        <p:spPr>
          <a:xfrm>
            <a:off x="5568696" y="1828800"/>
            <a:ext cx="2148840" cy="1938528"/>
          </a:xfrm>
          <a:prstGeom prst="roundRect">
            <a:avLst/>
          </a:prstGeom>
          <a:solidFill>
            <a:srgbClr val="F5F3FF"/>
          </a:solidFill>
          <a:ln>
            <a:solidFill>
              <a:srgbClr val="C4B5FD"/>
            </a:solidFill>
          </a:ln>
        </p:spPr>
        <p:txBody>
          <a:bodyPr wrap="square" rtlCol="0" anchor="t"/>
          <a:lstStyle/>
          <a:p>
            <a:pPr algn="ctr"/>
            <a:r>
              <a:rPr lang="ko-KR" sz="1370" b="1">
                <a:solidFill>
                  <a:srgbClr val="4C1D95"/>
                </a:solidFill>
              </a:rPr>
              <a:t>추가 BTN_02</a:t>
            </a:r>
            <a:endParaRPr lang="ko-KR" sz="1370"/>
          </a:p>
          <a:p>
            <a:pPr algn="ctr"/>
            <a:r>
              <a:rPr lang="ko-KR" sz="1370" b="1">
                <a:solidFill>
                  <a:srgbClr val="4C1D95"/>
                </a:solidFill>
              </a:rPr>
              <a:t/>
            </a:r>
            <a:endParaRPr lang="ko-KR" sz="1370"/>
          </a:p>
          <a:p>
            <a:pPr algn="ctr"/>
            <a:r>
              <a:rPr lang="ko-KR" sz="1370" b="1">
                <a:solidFill>
                  <a:srgbClr val="4C1D95"/>
                </a:solidFill>
              </a:rPr>
              <a:t>새 호출을 queue에 등록</a:t>
            </a:r>
            <a:endParaRPr lang="ko-KR" sz="1370"/>
          </a:p>
          <a:p>
            <a:pPr algn="ctr"/>
            <a:r>
              <a:rPr lang="ko-KR" sz="1370" b="1">
                <a:solidFill>
                  <a:srgbClr val="4C1D95"/>
                </a:solidFill>
              </a:rPr>
              <a:t>현재 미션 뒤 처리</a:t>
            </a:r>
            <a:endParaRPr lang="ko-KR" sz="1370"/>
          </a:p>
        </p:txBody>
      </p:sp>
      <p:sp>
        <p:nvSpPr>
          <p:cNvPr id="23" name="TextBox 23"/>
          <p:cNvSpPr txBox="1"/>
          <p:nvPr/>
        </p:nvSpPr>
        <p:spPr>
          <a:xfrm>
            <a:off x="7918704" y="1828800"/>
            <a:ext cx="2203704" cy="1938528"/>
          </a:xfrm>
          <a:prstGeom prst="roundRect">
            <a:avLst/>
          </a:prstGeom>
          <a:solidFill>
            <a:srgbClr val="FEF2F2"/>
          </a:solidFill>
          <a:ln>
            <a:solidFill>
              <a:srgbClr val="FCA5A5"/>
            </a:solidFill>
          </a:ln>
        </p:spPr>
        <p:txBody>
          <a:bodyPr wrap="square" rtlCol="0" anchor="t"/>
          <a:lstStyle/>
          <a:p>
            <a:pPr algn="ctr"/>
            <a:r>
              <a:rPr lang="ko-KR" sz="1260" b="1">
                <a:solidFill>
                  <a:srgbClr val="7F1D1D"/>
                </a:solidFill>
              </a:rPr>
              <a:t>출동 거절</a:t>
            </a:r>
            <a:endParaRPr lang="ko-KR" sz="1260"/>
          </a:p>
          <a:p>
            <a:pPr algn="ctr"/>
            <a:r>
              <a:rPr lang="ko-KR" sz="1260" b="1">
                <a:solidFill>
                  <a:srgbClr val="7F1D1D"/>
                </a:solidFill>
              </a:rPr>
              <a:t/>
            </a:r>
            <a:endParaRPr lang="ko-KR" sz="1260"/>
          </a:p>
          <a:p>
            <a:pPr algn="ctr"/>
            <a:r>
              <a:rPr lang="ko-KR" sz="1260" b="1">
                <a:solidFill>
                  <a:srgbClr val="7F1D1D"/>
                </a:solidFill>
              </a:rPr>
              <a:t>COOLDOWN · LOW_BATTERY</a:t>
            </a:r>
            <a:endParaRPr lang="ko-KR" sz="1260"/>
          </a:p>
          <a:p>
            <a:pPr algn="ctr"/>
            <a:r>
              <a:rPr lang="ko-KR" sz="1260" b="1">
                <a:solidFill>
                  <a:srgbClr val="7F1D1D"/>
                </a:solidFill>
              </a:rPr>
              <a:t>PAYLOAD_MISSING · NOT_READY</a:t>
            </a:r>
            <a:endParaRPr lang="ko-KR" sz="1260"/>
          </a:p>
        </p:txBody>
      </p:sp>
      <p:sp>
        <p:nvSpPr>
          <p:cNvPr id="24" name="TextBox 24"/>
          <p:cNvSpPr txBox="1"/>
          <p:nvPr/>
        </p:nvSpPr>
        <p:spPr>
          <a:xfrm>
            <a:off x="868680" y="4096512"/>
            <a:ext cx="9253728" cy="1005840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txBody>
          <a:bodyPr wrap="square" rtlCol="0" anchor="t"/>
          <a:lstStyle/>
          <a:p>
            <a:pPr algn="ctr"/>
            <a:r>
              <a:rPr lang="ko-KR" sz="1190" b="1">
                <a:solidFill>
                  <a:srgbClr val="7C2D12"/>
                </a:solidFill>
              </a:rPr>
              <a:t>현재 배선 주의</a:t>
            </a:r>
            <a:endParaRPr lang="ko-KR" sz="1190"/>
          </a:p>
          <a:p>
            <a:pPr algn="ctr"/>
            <a:r>
              <a:rPr lang="ko-KR" sz="1190" b="1">
                <a:solidFill>
                  <a:srgbClr val="7C2D12"/>
                </a:solidFill>
              </a:rPr>
              <a:t>callzone launch만 실행하면 payload / battery / readiness 발행자가 없어 dispatcher의 초기값을 사용합니다.</a:t>
            </a:r>
            <a:endParaRPr lang="ko-KR" sz="1190"/>
          </a:p>
          <a:p>
            <a:pPr algn="ctr"/>
            <a:r>
              <a:rPr lang="ko-KR" sz="1190" b="1">
                <a:solidFill>
                  <a:srgbClr val="7C2D12"/>
                </a:solidFill>
              </a:rPr>
              <a:t>실운영 전 /arduino/payload_loaded와 /battery_state 통합이 필요합니다.</a:t>
            </a:r>
            <a:endParaRPr lang="ko-KR" sz="119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Band"/>
          <p:cNvSpPr/>
          <p:nvPr/>
        </p:nvSpPr>
        <p:spPr>
          <a:xfrm>
            <a:off x="0" y="0"/>
            <a:ext cx="12192000" cy="2377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Accent"/>
          <p:cNvSpPr/>
          <p:nvPr/>
        </p:nvSpPr>
        <p:spPr>
          <a:xfrm>
            <a:off x="822960" y="1572768"/>
            <a:ext cx="196596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Footer Line"/>
          <p:cNvSpPr/>
          <p:nvPr/>
        </p:nvSpPr>
        <p:spPr>
          <a:xfrm>
            <a:off x="822960" y="6062472"/>
            <a:ext cx="9326880" cy="22860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oter"/>
          <p:cNvSpPr txBox="1"/>
          <p:nvPr/>
        </p:nvSpPr>
        <p:spPr>
          <a:xfrm>
            <a:off x="841248" y="5843016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980">
                <a:solidFill>
                  <a:srgbClr val="64748B"/>
                </a:solidFill>
              </a:rPr>
              <a:t>AURIX MediRun</a:t>
            </a:r>
            <a:endParaRPr lang="ko-KR" sz="980"/>
          </a:p>
        </p:txBody>
      </p:sp>
      <p:sp>
        <p:nvSpPr>
          <p:cNvPr id="7" name="Page"/>
          <p:cNvSpPr txBox="1"/>
          <p:nvPr/>
        </p:nvSpPr>
        <p:spPr>
          <a:xfrm>
            <a:off x="10012680" y="577900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100" b="1">
                <a:solidFill>
                  <a:srgbClr val="94A3B8"/>
                </a:solidFill>
              </a:rPr>
              <a:t>07</a:t>
            </a:r>
            <a:endParaRPr lang="ko-KR" sz="1100"/>
          </a:p>
        </p:txBody>
      </p:sp>
      <p:sp>
        <p:nvSpPr>
          <p:cNvPr id="10" name="Title"/>
          <p:cNvSpPr txBox="1"/>
          <p:nvPr/>
        </p:nvSpPr>
        <p:spPr>
          <a:xfrm>
            <a:off x="822960" y="64008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3000" b="1">
                <a:solidFill>
                  <a:srgbClr val="0F172A"/>
                </a:solidFill>
              </a:rPr>
              <a:t>ROS 2 Pub / Sub / Type</a:t>
            </a:r>
            <a:endParaRPr lang="ko-KR" sz="3000"/>
          </a:p>
        </p:txBody>
      </p:sp>
      <p:sp>
        <p:nvSpPr>
          <p:cNvPr id="11" name="Subtitle"/>
          <p:cNvSpPr txBox="1"/>
          <p:nvPr/>
        </p:nvSpPr>
        <p:spPr>
          <a:xfrm>
            <a:off x="841248" y="132588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450">
                <a:solidFill>
                  <a:srgbClr val="64748B"/>
                </a:solidFill>
              </a:rPr>
              <a:t>Publisher=방송국 · Topic=채널 · Subscriber=라디오 · Type=방송 서식</a:t>
            </a:r>
            <a:endParaRPr lang="ko-KR" sz="1450"/>
          </a:p>
        </p:txBody>
      </p:sp>
      <p:sp>
        <p:nvSpPr>
          <p:cNvPr id="20" name="TextBox 20"/>
          <p:cNvSpPr txBox="1"/>
          <p:nvPr/>
        </p:nvSpPr>
        <p:spPr>
          <a:xfrm>
            <a:off x="868680" y="1828800"/>
            <a:ext cx="1965960" cy="10515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500" b="1">
                <a:solidFill>
                  <a:srgbClr val="FFFFFF"/>
                </a:solidFill>
              </a:rPr>
              <a:t>Publisher</a:t>
            </a:r>
            <a:endParaRPr lang="ko-KR" sz="1500"/>
          </a:p>
          <a:p>
            <a:pPr algn="ctr"/>
            <a:r>
              <a:rPr lang="ko-KR" sz="1500" b="1">
                <a:solidFill>
                  <a:srgbClr val="FFFFFF"/>
                </a:solidFill>
              </a:rPr>
              <a:t>방송국</a:t>
            </a:r>
            <a:endParaRPr lang="ko-KR" sz="1500"/>
          </a:p>
        </p:txBody>
      </p:sp>
      <p:sp>
        <p:nvSpPr>
          <p:cNvPr id="21" name="TextBox 21"/>
          <p:cNvSpPr txBox="1"/>
          <p:nvPr/>
        </p:nvSpPr>
        <p:spPr>
          <a:xfrm>
            <a:off x="2852928" y="2176272"/>
            <a:ext cx="502920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2200" b="1">
                <a:solidFill>
                  <a:srgbClr val="3B82F6"/>
                </a:solidFill>
              </a:rPr>
              <a:t>→</a:t>
            </a:r>
            <a:endParaRPr lang="ko-KR" sz="2200"/>
          </a:p>
        </p:txBody>
      </p:sp>
      <p:sp>
        <p:nvSpPr>
          <p:cNvPr id="22" name="TextBox 22"/>
          <p:cNvSpPr txBox="1"/>
          <p:nvPr/>
        </p:nvSpPr>
        <p:spPr>
          <a:xfrm>
            <a:off x="3364992" y="1828800"/>
            <a:ext cx="3749039" cy="1051560"/>
          </a:xfrm>
          <a:prstGeom prst="roundRect">
            <a:avLst/>
          </a:prstGeom>
          <a:solidFill>
            <a:srgbClr val="E0F2FE"/>
          </a:solidFill>
          <a:ln>
            <a:solidFill>
              <a:srgbClr val="7DD3FC"/>
            </a:solidFill>
          </a:ln>
        </p:spPr>
        <p:txBody>
          <a:bodyPr wrap="square" rtlCol="0" anchor="t"/>
          <a:lstStyle/>
          <a:p>
            <a:pPr algn="ctr"/>
            <a:r>
              <a:rPr lang="ko-KR" sz="1500" b="1">
                <a:solidFill>
                  <a:srgbClr val="0C4A6E"/>
                </a:solidFill>
              </a:rPr>
              <a:t>Topic + Type</a:t>
            </a:r>
            <a:endParaRPr lang="ko-KR" sz="1500"/>
          </a:p>
          <a:p>
            <a:pPr algn="ctr"/>
            <a:r>
              <a:rPr lang="ko-KR" sz="1500" b="1">
                <a:solidFill>
                  <a:srgbClr val="0C4A6E"/>
                </a:solidFill>
              </a:rPr>
              <a:t>채널 + 데이터 서식</a:t>
            </a:r>
            <a:endParaRPr lang="ko-KR" sz="1500"/>
          </a:p>
        </p:txBody>
      </p:sp>
      <p:sp>
        <p:nvSpPr>
          <p:cNvPr id="23" name="TextBox 23"/>
          <p:cNvSpPr txBox="1"/>
          <p:nvPr/>
        </p:nvSpPr>
        <p:spPr>
          <a:xfrm>
            <a:off x="7132320" y="2176272"/>
            <a:ext cx="502920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2200" b="1">
                <a:solidFill>
                  <a:srgbClr val="3B82F6"/>
                </a:solidFill>
              </a:rPr>
              <a:t>→</a:t>
            </a:r>
            <a:endParaRPr lang="ko-KR" sz="2200"/>
          </a:p>
        </p:txBody>
      </p:sp>
      <p:sp>
        <p:nvSpPr>
          <p:cNvPr id="24" name="TextBox 24"/>
          <p:cNvSpPr txBox="1"/>
          <p:nvPr/>
        </p:nvSpPr>
        <p:spPr>
          <a:xfrm>
            <a:off x="7644383" y="1828800"/>
            <a:ext cx="2478024" cy="105156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500" b="1">
                <a:solidFill>
                  <a:srgbClr val="FFFFFF"/>
                </a:solidFill>
              </a:rPr>
              <a:t>Subscriber</a:t>
            </a:r>
            <a:endParaRPr lang="ko-KR" sz="1500"/>
          </a:p>
          <a:p>
            <a:pPr algn="ctr"/>
            <a:r>
              <a:rPr lang="ko-KR" sz="1500" b="1">
                <a:solidFill>
                  <a:srgbClr val="FFFFFF"/>
                </a:solidFill>
              </a:rPr>
              <a:t>라디오</a:t>
            </a:r>
            <a:endParaRPr lang="ko-KR" sz="1500"/>
          </a:p>
        </p:txBody>
      </p:sp>
      <p:sp>
        <p:nvSpPr>
          <p:cNvPr id="25" name="TextBox 25"/>
          <p:cNvSpPr txBox="1"/>
          <p:nvPr/>
        </p:nvSpPr>
        <p:spPr>
          <a:xfrm>
            <a:off x="868680" y="3273552"/>
            <a:ext cx="9253728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AE6FD"/>
            </a:solidFill>
          </a:ln>
        </p:spPr>
        <p:txBody>
          <a:bodyPr wrap="square" rtlCol="0" anchor="t"/>
          <a:lstStyle/>
          <a:p>
            <a:pPr algn="ctr"/>
            <a:r>
              <a:rPr lang="ko-KR" sz="1210" b="1">
                <a:solidFill>
                  <a:srgbClr val="0C4A6E"/>
                </a:solidFill>
              </a:rPr>
              <a:t>mqtt_bridge  →  /medirun/sensor/sos_button  [std_msgs/msg/String]  →  emergency_dispatcher</a:t>
            </a:r>
            <a:endParaRPr lang="ko-KR" sz="1210"/>
          </a:p>
        </p:txBody>
      </p:sp>
      <p:sp>
        <p:nvSpPr>
          <p:cNvPr id="26" name="TextBox 26"/>
          <p:cNvSpPr txBox="1"/>
          <p:nvPr/>
        </p:nvSpPr>
        <p:spPr>
          <a:xfrm>
            <a:off x="868680" y="4023360"/>
            <a:ext cx="9253728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BF7D0"/>
            </a:solidFill>
          </a:ln>
        </p:spPr>
        <p:txBody>
          <a:bodyPr wrap="square" rtlCol="0" anchor="t"/>
          <a:lstStyle/>
          <a:p>
            <a:pPr algn="ctr"/>
            <a:r>
              <a:rPr lang="ko-KR" sz="1180" b="1">
                <a:solidFill>
                  <a:srgbClr val="14532D"/>
                </a:solidFill>
              </a:rPr>
              <a:t>Nav2 smoother / behavior_server  →  /medirun/navigation/cmd_vel_raw  [Twist]  →  safety_stop</a:t>
            </a:r>
            <a:endParaRPr lang="ko-KR" sz="1180"/>
          </a:p>
        </p:txBody>
      </p:sp>
      <p:sp>
        <p:nvSpPr>
          <p:cNvPr id="27" name="TextBox 27"/>
          <p:cNvSpPr txBox="1"/>
          <p:nvPr/>
        </p:nvSpPr>
        <p:spPr>
          <a:xfrm>
            <a:off x="868680" y="4773168"/>
            <a:ext cx="9253728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DD6FE"/>
            </a:solidFill>
          </a:ln>
        </p:spPr>
        <p:txBody>
          <a:bodyPr wrap="square" rtlCol="0" anchor="t"/>
          <a:lstStyle/>
          <a:p>
            <a:pPr algn="ctr"/>
            <a:r>
              <a:rPr lang="ko-KR" sz="1180" b="1">
                <a:solidFill>
                  <a:srgbClr val="4C1D95"/>
                </a:solidFill>
              </a:rPr>
              <a:t>OpenCR  →  /battery_state [sensor_msgs/msg/BatteryState]  ·  LiDAR → /scan [LaserScan]</a:t>
            </a:r>
            <a:endParaRPr lang="ko-KR" sz="118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Band"/>
          <p:cNvSpPr/>
          <p:nvPr/>
        </p:nvSpPr>
        <p:spPr>
          <a:xfrm>
            <a:off x="0" y="0"/>
            <a:ext cx="12192000" cy="23774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Accent"/>
          <p:cNvSpPr/>
          <p:nvPr/>
        </p:nvSpPr>
        <p:spPr>
          <a:xfrm>
            <a:off x="822960" y="1572768"/>
            <a:ext cx="196596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Footer Line"/>
          <p:cNvSpPr/>
          <p:nvPr/>
        </p:nvSpPr>
        <p:spPr>
          <a:xfrm>
            <a:off x="822960" y="6062472"/>
            <a:ext cx="9326880" cy="22860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oter"/>
          <p:cNvSpPr txBox="1"/>
          <p:nvPr/>
        </p:nvSpPr>
        <p:spPr>
          <a:xfrm>
            <a:off x="841248" y="5843016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980">
                <a:solidFill>
                  <a:srgbClr val="64748B"/>
                </a:solidFill>
              </a:rPr>
              <a:t>AURIX MediRun</a:t>
            </a:r>
            <a:endParaRPr lang="ko-KR" sz="980"/>
          </a:p>
        </p:txBody>
      </p:sp>
      <p:sp>
        <p:nvSpPr>
          <p:cNvPr id="7" name="Page"/>
          <p:cNvSpPr txBox="1"/>
          <p:nvPr/>
        </p:nvSpPr>
        <p:spPr>
          <a:xfrm>
            <a:off x="10012680" y="577900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100" b="1">
                <a:solidFill>
                  <a:srgbClr val="94A3B8"/>
                </a:solidFill>
              </a:rPr>
              <a:t>08</a:t>
            </a:r>
            <a:endParaRPr lang="ko-KR" sz="1100"/>
          </a:p>
        </p:txBody>
      </p:sp>
      <p:sp>
        <p:nvSpPr>
          <p:cNvPr id="10" name="Title"/>
          <p:cNvSpPr txBox="1"/>
          <p:nvPr/>
        </p:nvSpPr>
        <p:spPr>
          <a:xfrm>
            <a:off x="822960" y="64008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3000" b="1">
                <a:solidFill>
                  <a:srgbClr val="0F172A"/>
                </a:solidFill>
              </a:rPr>
              <a:t>Nav2 이동과 위치 추정</a:t>
            </a:r>
            <a:endParaRPr lang="ko-KR" sz="3000"/>
          </a:p>
        </p:txBody>
      </p:sp>
      <p:sp>
        <p:nvSpPr>
          <p:cNvPr id="11" name="Subtitle"/>
          <p:cNvSpPr txBox="1"/>
          <p:nvPr/>
        </p:nvSpPr>
        <p:spPr>
          <a:xfrm>
            <a:off x="841248" y="132588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450">
                <a:solidFill>
                  <a:srgbClr val="64748B"/>
                </a:solidFill>
              </a:rPr>
              <a:t>이동은 진행률·취소·결과가 필요한 장기 작업이므로 Action을 사용합니다</a:t>
            </a:r>
            <a:endParaRPr lang="ko-KR" sz="1450"/>
          </a:p>
        </p:txBody>
      </p:sp>
      <p:sp>
        <p:nvSpPr>
          <p:cNvPr id="20" name="TextBox 20"/>
          <p:cNvSpPr txBox="1"/>
          <p:nvPr/>
        </p:nvSpPr>
        <p:spPr>
          <a:xfrm>
            <a:off x="868680" y="1828800"/>
            <a:ext cx="2468880" cy="14630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350" b="1">
                <a:solidFill>
                  <a:srgbClr val="FFFFFF"/>
                </a:solidFill>
              </a:rPr>
              <a:t>NavigateToPose</a:t>
            </a:r>
            <a:endParaRPr lang="ko-KR" sz="1350"/>
          </a:p>
          <a:p>
            <a:pPr algn="ctr"/>
            <a:r>
              <a:rPr lang="ko-KR" sz="1350" b="1">
                <a:solidFill>
                  <a:srgbClr val="FFFFFF"/>
                </a:solidFill>
              </a:rPr>
              <a:t>Action</a:t>
            </a:r>
            <a:endParaRPr lang="ko-KR" sz="1350"/>
          </a:p>
          <a:p>
            <a:pPr algn="ctr"/>
            <a:r>
              <a:rPr lang="ko-KR" sz="1350" b="1">
                <a:solidFill>
                  <a:srgbClr val="FFFFFF"/>
                </a:solidFill>
              </a:rPr>
              <a:t/>
            </a:r>
            <a:endParaRPr lang="ko-KR" sz="1350"/>
          </a:p>
          <a:p>
            <a:pPr algn="ctr"/>
            <a:r>
              <a:rPr lang="ko-KR" sz="1350" b="1">
                <a:solidFill>
                  <a:srgbClr val="FFFFFF"/>
                </a:solidFill>
              </a:rPr>
              <a:t>goal · feedback · cancel · result</a:t>
            </a:r>
            <a:endParaRPr lang="ko-KR" sz="1350"/>
          </a:p>
        </p:txBody>
      </p:sp>
      <p:sp>
        <p:nvSpPr>
          <p:cNvPr id="21" name="TextBox 21"/>
          <p:cNvSpPr txBox="1"/>
          <p:nvPr/>
        </p:nvSpPr>
        <p:spPr>
          <a:xfrm>
            <a:off x="3822191" y="1828800"/>
            <a:ext cx="2468880" cy="1463040"/>
          </a:xfrm>
          <a:prstGeom prst="roundRect">
            <a:avLst/>
          </a:prstGeom>
          <a:solidFill>
            <a:srgbClr val="EEF2FF"/>
          </a:solidFill>
          <a:ln>
            <a:solidFill>
              <a:srgbClr val="A5B4FC"/>
            </a:solidFill>
          </a:ln>
        </p:spPr>
        <p:txBody>
          <a:bodyPr wrap="square" rtlCol="0" anchor="t"/>
          <a:lstStyle/>
          <a:p>
            <a:pPr algn="ctr"/>
            <a:r>
              <a:rPr lang="ko-KR" sz="1350" b="1">
                <a:solidFill>
                  <a:srgbClr val="312E81"/>
                </a:solidFill>
              </a:rPr>
              <a:t>AMCL + TF</a:t>
            </a:r>
            <a:endParaRPr lang="ko-KR" sz="1350"/>
          </a:p>
          <a:p>
            <a:pPr algn="ctr"/>
            <a:r>
              <a:rPr lang="ko-KR" sz="1350" b="1">
                <a:solidFill>
                  <a:srgbClr val="312E81"/>
                </a:solidFill>
              </a:rPr>
              <a:t/>
            </a:r>
            <a:endParaRPr lang="ko-KR" sz="1350"/>
          </a:p>
          <a:p>
            <a:pPr algn="ctr"/>
            <a:r>
              <a:rPr lang="ko-KR" sz="1350" b="1">
                <a:solidFill>
                  <a:srgbClr val="312E81"/>
                </a:solidFill>
              </a:rPr>
              <a:t>지도 속 로봇 위치와</a:t>
            </a:r>
            <a:endParaRPr lang="ko-KR" sz="1350"/>
          </a:p>
          <a:p>
            <a:pPr algn="ctr"/>
            <a:r>
              <a:rPr lang="ko-KR" sz="1350" b="1">
                <a:solidFill>
                  <a:srgbClr val="312E81"/>
                </a:solidFill>
              </a:rPr>
              <a:t>좌표계 관계 추정</a:t>
            </a:r>
            <a:endParaRPr lang="ko-KR" sz="1350"/>
          </a:p>
        </p:txBody>
      </p:sp>
      <p:sp>
        <p:nvSpPr>
          <p:cNvPr id="22" name="TextBox 22"/>
          <p:cNvSpPr txBox="1"/>
          <p:nvPr/>
        </p:nvSpPr>
        <p:spPr>
          <a:xfrm>
            <a:off x="6784848" y="1828800"/>
            <a:ext cx="3337560" cy="1463040"/>
          </a:xfrm>
          <a:prstGeom prst="roundRect">
            <a:avLst/>
          </a:prstGeom>
          <a:solidFill>
            <a:srgbClr val="ECFEFF"/>
          </a:solidFill>
          <a:ln>
            <a:solidFill>
              <a:srgbClr val="67E8F9"/>
            </a:solidFill>
          </a:ln>
        </p:spPr>
        <p:txBody>
          <a:bodyPr wrap="square" rtlCol="0" anchor="t"/>
          <a:lstStyle/>
          <a:p>
            <a:pPr algn="ctr"/>
            <a:r>
              <a:rPr lang="ko-KR" sz="1350" b="1">
                <a:solidFill>
                  <a:srgbClr val="164E63"/>
                </a:solidFill>
              </a:rPr>
              <a:t>Map + Costmap + LaserScan</a:t>
            </a:r>
            <a:endParaRPr lang="ko-KR" sz="1350"/>
          </a:p>
          <a:p>
            <a:pPr algn="ctr"/>
            <a:r>
              <a:rPr lang="ko-KR" sz="1350" b="1">
                <a:solidFill>
                  <a:srgbClr val="164E63"/>
                </a:solidFill>
              </a:rPr>
              <a:t/>
            </a:r>
            <a:endParaRPr lang="ko-KR" sz="1350"/>
          </a:p>
          <a:p>
            <a:pPr algn="ctr"/>
            <a:r>
              <a:rPr lang="ko-KR" sz="1350" b="1">
                <a:solidFill>
                  <a:srgbClr val="164E63"/>
                </a:solidFill>
              </a:rPr>
              <a:t>경로와 장애물 공간 판단</a:t>
            </a:r>
            <a:endParaRPr lang="ko-KR" sz="1350"/>
          </a:p>
        </p:txBody>
      </p:sp>
      <p:sp>
        <p:nvSpPr>
          <p:cNvPr id="23" name="TextBox 23"/>
          <p:cNvSpPr txBox="1"/>
          <p:nvPr/>
        </p:nvSpPr>
        <p:spPr>
          <a:xfrm>
            <a:off x="3364992" y="2331720"/>
            <a:ext cx="411480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2100" b="1">
                <a:solidFill>
                  <a:srgbClr val="8B5CF6"/>
                </a:solidFill>
              </a:rPr>
              <a:t>→</a:t>
            </a:r>
            <a:endParaRPr lang="ko-KR" sz="2100"/>
          </a:p>
        </p:txBody>
      </p:sp>
      <p:sp>
        <p:nvSpPr>
          <p:cNvPr id="24" name="TextBox 24"/>
          <p:cNvSpPr txBox="1"/>
          <p:nvPr/>
        </p:nvSpPr>
        <p:spPr>
          <a:xfrm>
            <a:off x="6327648" y="2331720"/>
            <a:ext cx="411480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2100" b="1">
                <a:solidFill>
                  <a:srgbClr val="8B5CF6"/>
                </a:solidFill>
              </a:rPr>
              <a:t>→</a:t>
            </a:r>
            <a:endParaRPr lang="ko-KR" sz="2100"/>
          </a:p>
        </p:txBody>
      </p:sp>
      <p:sp>
        <p:nvSpPr>
          <p:cNvPr id="25" name="TextBox 25"/>
          <p:cNvSpPr txBox="1"/>
          <p:nvPr/>
        </p:nvSpPr>
        <p:spPr>
          <a:xfrm>
            <a:off x="868680" y="3703320"/>
            <a:ext cx="4572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7DD3FC"/>
            </a:solidFill>
          </a:ln>
        </p:spPr>
        <p:txBody>
          <a:bodyPr wrap="square" rtlCol="0" anchor="t"/>
          <a:lstStyle/>
          <a:p>
            <a:pPr algn="ctr"/>
            <a:r>
              <a:rPr lang="ko-KR" sz="1320" b="1">
                <a:solidFill>
                  <a:srgbClr val="0C4A6E"/>
                </a:solidFill>
              </a:rPr>
              <a:t>접근 pose 검사</a:t>
            </a:r>
            <a:endParaRPr lang="ko-KR" sz="1320"/>
          </a:p>
          <a:p>
            <a:pPr algn="ctr"/>
            <a:r>
              <a:rPr lang="ko-KR" sz="1320" b="1">
                <a:solidFill>
                  <a:srgbClr val="0C4A6E"/>
                </a:solidFill>
              </a:rPr>
              <a:t>목표 앞 0.5m → 0.4m → 0.3m</a:t>
            </a:r>
            <a:endParaRPr lang="ko-KR" sz="1320"/>
          </a:p>
          <a:p>
            <a:pPr algn="ctr"/>
            <a:r>
              <a:rPr lang="ko-KR" sz="1320" b="1">
                <a:solidFill>
                  <a:srgbClr val="0C4A6E"/>
                </a:solidFill>
              </a:rPr>
              <a:t>cost &lt; 90인 위치를 먼저 선택</a:t>
            </a:r>
            <a:endParaRPr lang="ko-KR" sz="1320"/>
          </a:p>
        </p:txBody>
      </p:sp>
      <p:sp>
        <p:nvSpPr>
          <p:cNvPr id="26" name="TextBox 26"/>
          <p:cNvSpPr txBox="1"/>
          <p:nvPr/>
        </p:nvSpPr>
        <p:spPr>
          <a:xfrm>
            <a:off x="5559552" y="3703320"/>
            <a:ext cx="4562856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4B5FD"/>
            </a:solidFill>
          </a:ln>
        </p:spPr>
        <p:txBody>
          <a:bodyPr wrap="square" rtlCol="0" anchor="t"/>
          <a:lstStyle/>
          <a:p>
            <a:pPr algn="ctr"/>
            <a:r>
              <a:rPr lang="ko-KR" sz="1320" b="1">
                <a:solidFill>
                  <a:srgbClr val="4C1D95"/>
                </a:solidFill>
              </a:rPr>
              <a:t>GUI가 사용하는 입력</a:t>
            </a:r>
            <a:endParaRPr lang="ko-KR" sz="1320"/>
          </a:p>
          <a:p>
            <a:pPr algn="ctr"/>
            <a:r>
              <a:rPr lang="ko-KR" sz="1320" b="1">
                <a:solidFill>
                  <a:srgbClr val="4C1D95"/>
                </a:solidFill>
              </a:rPr>
              <a:t>/amcl_pose · /odom · /scan</a:t>
            </a:r>
            <a:endParaRPr lang="ko-KR" sz="1320"/>
          </a:p>
          <a:p>
            <a:pPr algn="ctr"/>
            <a:r>
              <a:rPr lang="ko-KR" sz="1320" b="1">
                <a:solidFill>
                  <a:srgbClr val="4C1D95"/>
                </a:solidFill>
              </a:rPr>
              <a:t>/global_costmap/costmap · TF</a:t>
            </a:r>
            <a:endParaRPr lang="ko-KR" sz="1320"/>
          </a:p>
        </p:txBody>
      </p:sp>
      <p:sp>
        <p:nvSpPr>
          <p:cNvPr id="27" name="TextBox 27"/>
          <p:cNvSpPr txBox="1"/>
          <p:nvPr/>
        </p:nvSpPr>
        <p:spPr>
          <a:xfrm>
            <a:off x="4178808" y="5193792"/>
            <a:ext cx="2651760" cy="329184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050" b="1">
                <a:solidFill>
                  <a:srgbClr val="FFFFFF"/>
                </a:solidFill>
              </a:rPr>
              <a:t>중복 goal은 atomic guard로 차단</a:t>
            </a:r>
            <a:endParaRPr lang="ko-KR" sz="10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Band"/>
          <p:cNvSpPr/>
          <p:nvPr/>
        </p:nvSpPr>
        <p:spPr>
          <a:xfrm>
            <a:off x="0" y="0"/>
            <a:ext cx="12192000" cy="2377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Accent"/>
          <p:cNvSpPr/>
          <p:nvPr/>
        </p:nvSpPr>
        <p:spPr>
          <a:xfrm>
            <a:off x="822960" y="1572768"/>
            <a:ext cx="196596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Footer Line"/>
          <p:cNvSpPr/>
          <p:nvPr/>
        </p:nvSpPr>
        <p:spPr>
          <a:xfrm>
            <a:off x="822960" y="6062472"/>
            <a:ext cx="9326880" cy="22860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oter"/>
          <p:cNvSpPr txBox="1"/>
          <p:nvPr/>
        </p:nvSpPr>
        <p:spPr>
          <a:xfrm>
            <a:off x="841248" y="5843016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980">
                <a:solidFill>
                  <a:srgbClr val="64748B"/>
                </a:solidFill>
              </a:rPr>
              <a:t>AURIX MediRun</a:t>
            </a:r>
            <a:endParaRPr lang="ko-KR" sz="980"/>
          </a:p>
        </p:txBody>
      </p:sp>
      <p:sp>
        <p:nvSpPr>
          <p:cNvPr id="7" name="Page"/>
          <p:cNvSpPr txBox="1"/>
          <p:nvPr/>
        </p:nvSpPr>
        <p:spPr>
          <a:xfrm>
            <a:off x="10012680" y="577900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100" b="1">
                <a:solidFill>
                  <a:srgbClr val="94A3B8"/>
                </a:solidFill>
              </a:rPr>
              <a:t>09</a:t>
            </a:r>
            <a:endParaRPr lang="ko-KR" sz="1100"/>
          </a:p>
        </p:txBody>
      </p:sp>
      <p:sp>
        <p:nvSpPr>
          <p:cNvPr id="10" name="Title"/>
          <p:cNvSpPr txBox="1"/>
          <p:nvPr/>
        </p:nvSpPr>
        <p:spPr>
          <a:xfrm>
            <a:off x="822960" y="64008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3000" b="1">
                <a:solidFill>
                  <a:srgbClr val="0F172A"/>
                </a:solidFill>
              </a:rPr>
              <a:t>장애물 안전 정지와 Arduino</a:t>
            </a:r>
            <a:endParaRPr lang="ko-KR" sz="3000"/>
          </a:p>
        </p:txBody>
      </p:sp>
      <p:sp>
        <p:nvSpPr>
          <p:cNvPr id="11" name="Subtitle"/>
          <p:cNvSpPr txBox="1"/>
          <p:nvPr/>
        </p:nvSpPr>
        <p:spPr>
          <a:xfrm>
            <a:off x="841248" y="132588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450">
                <a:solidFill>
                  <a:srgbClr val="64748B"/>
                </a:solidFill>
              </a:rPr>
              <a:t>Nav2 속도는 초음파 검사를 통과한 뒤에만 모터로 전달됩니다</a:t>
            </a:r>
            <a:endParaRPr lang="ko-KR" sz="1450"/>
          </a:p>
        </p:txBody>
      </p:sp>
      <p:sp>
        <p:nvSpPr>
          <p:cNvPr id="20" name="TextBox 20"/>
          <p:cNvSpPr txBox="1"/>
          <p:nvPr/>
        </p:nvSpPr>
        <p:spPr>
          <a:xfrm>
            <a:off x="868680" y="1874519"/>
            <a:ext cx="1920240" cy="11430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280" b="1">
                <a:solidFill>
                  <a:srgbClr val="FFFFFF"/>
                </a:solidFill>
              </a:rPr>
              <a:t>Nav2</a:t>
            </a:r>
            <a:endParaRPr lang="ko-KR" sz="1280"/>
          </a:p>
          <a:p>
            <a:pPr algn="ctr"/>
            <a:r>
              <a:rPr lang="ko-KR" sz="1280" b="1">
                <a:solidFill>
                  <a:srgbClr val="FFFFFF"/>
                </a:solidFill>
              </a:rPr>
              <a:t>smoother +</a:t>
            </a:r>
            <a:endParaRPr lang="ko-KR" sz="1280"/>
          </a:p>
          <a:p>
            <a:pPr algn="ctr"/>
            <a:r>
              <a:rPr lang="ko-KR" sz="1280" b="1">
                <a:solidFill>
                  <a:srgbClr val="FFFFFF"/>
                </a:solidFill>
              </a:rPr>
              <a:t>BackUp / Spin</a:t>
            </a:r>
            <a:endParaRPr lang="ko-KR" sz="1280"/>
          </a:p>
        </p:txBody>
      </p:sp>
      <p:sp>
        <p:nvSpPr>
          <p:cNvPr id="21" name="TextBox 21"/>
          <p:cNvSpPr txBox="1"/>
          <p:nvPr/>
        </p:nvSpPr>
        <p:spPr>
          <a:xfrm>
            <a:off x="2807208" y="2267712"/>
            <a:ext cx="502920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2200" b="1">
                <a:solidFill>
                  <a:srgbClr val="F59E0B"/>
                </a:solidFill>
              </a:rPr>
              <a:t>→</a:t>
            </a:r>
            <a:endParaRPr lang="ko-KR" sz="2200"/>
          </a:p>
        </p:txBody>
      </p:sp>
      <p:sp>
        <p:nvSpPr>
          <p:cNvPr id="22" name="TextBox 22"/>
          <p:cNvSpPr txBox="1"/>
          <p:nvPr/>
        </p:nvSpPr>
        <p:spPr>
          <a:xfrm>
            <a:off x="3328416" y="1783080"/>
            <a:ext cx="3337560" cy="1353312"/>
          </a:xfrm>
          <a:prstGeom prst="roundRect">
            <a:avLst/>
          </a:prstGeom>
          <a:solidFill>
            <a:srgbClr val="FEF3C7"/>
          </a:solidFill>
          <a:ln>
            <a:solidFill>
              <a:srgbClr val="F59E0B"/>
            </a:solidFill>
          </a:ln>
        </p:spPr>
        <p:txBody>
          <a:bodyPr wrap="square" rtlCol="0" anchor="t"/>
          <a:lstStyle/>
          <a:p>
            <a:pPr algn="ctr"/>
            <a:r>
              <a:rPr lang="ko-KR" sz="1300" b="1">
                <a:solidFill>
                  <a:srgbClr val="7C2D12"/>
                </a:solidFill>
              </a:rPr>
              <a:t>ultrasonic_safety_stop</a:t>
            </a:r>
            <a:endParaRPr lang="ko-KR" sz="1300"/>
          </a:p>
          <a:p>
            <a:pPr algn="ctr"/>
            <a:r>
              <a:rPr lang="ko-KR" sz="1300" b="1">
                <a:solidFill>
                  <a:srgbClr val="7C2D12"/>
                </a:solidFill>
              </a:rPr>
              <a:t/>
            </a:r>
            <a:endParaRPr lang="ko-KR" sz="1300"/>
          </a:p>
          <a:p>
            <a:pPr algn="ctr"/>
            <a:r>
              <a:rPr lang="ko-KR" sz="1300" b="1">
                <a:solidFill>
                  <a:srgbClr val="7C2D12"/>
                </a:solidFill>
              </a:rPr>
              <a:t>front / rear ≤ 15cm 정지</a:t>
            </a:r>
            <a:endParaRPr lang="ko-KR" sz="1300"/>
          </a:p>
          <a:p>
            <a:pPr algn="ctr"/>
            <a:r>
              <a:rPr lang="ko-KR" sz="1300" b="1">
                <a:solidFill>
                  <a:srgbClr val="7C2D12"/>
                </a:solidFill>
              </a:rPr>
              <a:t>&gt; 15cm 즉시 해제</a:t>
            </a:r>
            <a:endParaRPr lang="ko-KR" sz="1300"/>
          </a:p>
        </p:txBody>
      </p:sp>
      <p:sp>
        <p:nvSpPr>
          <p:cNvPr id="23" name="TextBox 23"/>
          <p:cNvSpPr txBox="1"/>
          <p:nvPr/>
        </p:nvSpPr>
        <p:spPr>
          <a:xfrm>
            <a:off x="6684264" y="2267712"/>
            <a:ext cx="502920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2200" b="1">
                <a:solidFill>
                  <a:srgbClr val="F59E0B"/>
                </a:solidFill>
              </a:rPr>
              <a:t>→</a:t>
            </a:r>
            <a:endParaRPr lang="ko-KR" sz="2200"/>
          </a:p>
        </p:txBody>
      </p:sp>
      <p:sp>
        <p:nvSpPr>
          <p:cNvPr id="24" name="TextBox 24"/>
          <p:cNvSpPr txBox="1"/>
          <p:nvPr/>
        </p:nvSpPr>
        <p:spPr>
          <a:xfrm>
            <a:off x="7205472" y="1874519"/>
            <a:ext cx="2880360" cy="114300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380" b="1">
                <a:solidFill>
                  <a:srgbClr val="FFFFFF"/>
                </a:solidFill>
              </a:rPr>
              <a:t>/cmd_vel</a:t>
            </a:r>
            <a:endParaRPr lang="ko-KR" sz="1380"/>
          </a:p>
          <a:p>
            <a:pPr algn="ctr"/>
            <a:r>
              <a:rPr lang="ko-KR" sz="1380" b="1">
                <a:solidFill>
                  <a:srgbClr val="FFFFFF"/>
                </a:solidFill>
              </a:rPr>
              <a:t>TurtleBot3 base</a:t>
            </a:r>
            <a:endParaRPr lang="ko-KR" sz="1380"/>
          </a:p>
        </p:txBody>
      </p:sp>
      <p:sp>
        <p:nvSpPr>
          <p:cNvPr id="25" name="TextBox 25"/>
          <p:cNvSpPr txBox="1"/>
          <p:nvPr/>
        </p:nvSpPr>
        <p:spPr>
          <a:xfrm>
            <a:off x="868680" y="3547872"/>
            <a:ext cx="2880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DBA74"/>
            </a:solidFill>
          </a:ln>
        </p:spPr>
        <p:txBody>
          <a:bodyPr wrap="square" rtlCol="0" anchor="t"/>
          <a:lstStyle/>
          <a:p>
            <a:pPr algn="ctr"/>
            <a:r>
              <a:rPr lang="ko-KR" sz="1260" b="1">
                <a:solidFill>
                  <a:srgbClr val="7C2D12"/>
                </a:solidFill>
              </a:rPr>
              <a:t>Arduino 센서</a:t>
            </a:r>
            <a:endParaRPr lang="ko-KR" sz="1260"/>
          </a:p>
          <a:p>
            <a:pPr algn="ctr"/>
            <a:r>
              <a:rPr lang="ko-KR" sz="1260" b="1">
                <a:solidFill>
                  <a:srgbClr val="7C2D12"/>
                </a:solidFill>
              </a:rPr>
              <a:t/>
            </a:r>
            <a:endParaRPr lang="ko-KR" sz="1260"/>
          </a:p>
          <a:p>
            <a:pPr algn="ctr"/>
            <a:r>
              <a:rPr lang="ko-KR" sz="1260" b="1">
                <a:solidFill>
                  <a:srgbClr val="7C2D12"/>
                </a:solidFill>
              </a:rPr>
              <a:t>초음파 100ms · 중앙값 3개</a:t>
            </a:r>
            <a:endParaRPr lang="ko-KR" sz="1260"/>
          </a:p>
          <a:p>
            <a:pPr algn="ctr"/>
            <a:r>
              <a:rPr lang="ko-KR" sz="1260" b="1">
                <a:solidFill>
                  <a:srgbClr val="7C2D12"/>
                </a:solidFill>
              </a:rPr>
              <a:t>홀 센서 · 버튼 · RGB LED</a:t>
            </a:r>
            <a:endParaRPr lang="ko-KR" sz="1260"/>
          </a:p>
        </p:txBody>
      </p:sp>
      <p:sp>
        <p:nvSpPr>
          <p:cNvPr id="26" name="TextBox 26"/>
          <p:cNvSpPr txBox="1"/>
          <p:nvPr/>
        </p:nvSpPr>
        <p:spPr>
          <a:xfrm>
            <a:off x="3977639" y="3547872"/>
            <a:ext cx="2880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DBA74"/>
            </a:solidFill>
          </a:ln>
        </p:spPr>
        <p:txBody>
          <a:bodyPr wrap="square" rtlCol="0" anchor="t"/>
          <a:lstStyle/>
          <a:p>
            <a:pPr algn="ctr"/>
            <a:r>
              <a:rPr lang="ko-KR" sz="1260" b="1">
                <a:solidFill>
                  <a:srgbClr val="7C2D12"/>
                </a:solidFill>
              </a:rPr>
              <a:t>근접 timeout 보정</a:t>
            </a:r>
            <a:endParaRPr lang="ko-KR" sz="1260"/>
          </a:p>
          <a:p>
            <a:pPr algn="ctr"/>
            <a:r>
              <a:rPr lang="ko-KR" sz="1260" b="1">
                <a:solidFill>
                  <a:srgbClr val="7C2D12"/>
                </a:solidFill>
              </a:rPr>
              <a:t/>
            </a:r>
            <a:endParaRPr lang="ko-KR" sz="1260"/>
          </a:p>
          <a:p>
            <a:pPr algn="ctr"/>
            <a:r>
              <a:rPr lang="ko-KR" sz="1260" b="1">
                <a:solidFill>
                  <a:srgbClr val="7C2D12"/>
                </a:solidFill>
              </a:rPr>
              <a:t>이전 값 ≤ 25cm이면</a:t>
            </a:r>
            <a:endParaRPr lang="ko-KR" sz="1260"/>
          </a:p>
          <a:p>
            <a:pPr algn="ctr"/>
            <a:r>
              <a:rPr lang="ko-KR" sz="1260" b="1">
                <a:solidFill>
                  <a:srgbClr val="7C2D12"/>
                </a:solidFill>
              </a:rPr>
              <a:t>위험 거리 5cm로 간주</a:t>
            </a:r>
            <a:endParaRPr lang="ko-KR" sz="1260"/>
          </a:p>
        </p:txBody>
      </p:sp>
      <p:sp>
        <p:nvSpPr>
          <p:cNvPr id="27" name="TextBox 27"/>
          <p:cNvSpPr txBox="1"/>
          <p:nvPr/>
        </p:nvSpPr>
        <p:spPr>
          <a:xfrm>
            <a:off x="7086600" y="3547872"/>
            <a:ext cx="2999232" cy="1417320"/>
          </a:xfrm>
          <a:prstGeom prst="roundRect">
            <a:avLst/>
          </a:prstGeom>
          <a:solidFill>
            <a:srgbClr val="F0FDF4"/>
          </a:solidFill>
          <a:ln>
            <a:solidFill>
              <a:srgbClr val="86EFAC"/>
            </a:solidFill>
          </a:ln>
        </p:spPr>
        <p:txBody>
          <a:bodyPr wrap="square" rtlCol="0" anchor="t"/>
          <a:lstStyle/>
          <a:p>
            <a:pPr algn="ctr"/>
            <a:r>
              <a:rPr lang="ko-KR" sz="1260" b="1">
                <a:solidFill>
                  <a:srgbClr val="14532D"/>
                </a:solidFill>
              </a:rPr>
              <a:t>현재 상태</a:t>
            </a:r>
            <a:endParaRPr lang="ko-KR" sz="1260"/>
          </a:p>
          <a:p>
            <a:pPr algn="ctr"/>
            <a:r>
              <a:rPr lang="ko-KR" sz="1260" b="1">
                <a:solidFill>
                  <a:srgbClr val="14532D"/>
                </a:solidFill>
              </a:rPr>
              <a:t/>
            </a:r>
            <a:endParaRPr lang="ko-KR" sz="1260"/>
          </a:p>
          <a:p>
            <a:pPr algn="ctr"/>
            <a:r>
              <a:rPr lang="ko-KR" sz="1260" b="1">
                <a:solidFill>
                  <a:srgbClr val="14532D"/>
                </a:solidFill>
              </a:rPr>
              <a:t>Nav2 recovery도 gate 통과</a:t>
            </a:r>
            <a:endParaRPr lang="ko-KR" sz="1260"/>
          </a:p>
          <a:p>
            <a:pPr algn="ctr"/>
            <a:r>
              <a:rPr lang="ko-KR" sz="1260" b="1">
                <a:solidFill>
                  <a:srgbClr val="14532D"/>
                </a:solidFill>
              </a:rPr>
              <a:t>GUI teleop 정책은 별도 필요</a:t>
            </a:r>
            <a:endParaRPr lang="ko-KR" sz="1260"/>
          </a:p>
        </p:txBody>
      </p:sp>
      <p:pic>
        <p:nvPicPr>
          <p:cNvPr id="28" name="Picture 28"/>
          <p:cNvPicPr/>
          <p:nvPr/>
        </p:nvPicPr>
        <p:blipFill>
          <a:blip r:embed="rId2"/>
          <a:stretch>
            <a:fillRect/>
          </a:stretch>
        </p:blipFill>
        <p:spPr>
          <a:xfrm>
            <a:off x="9464040" y="5193792"/>
            <a:ext cx="621792" cy="411480"/>
          </a:xfrm>
          <a:prstGeom prst="rect">
            <a:avLst/>
          </a:prstGeom>
          <a:ln>
            <a:solidFill>
              <a:srgbClr val="FDBA74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9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Band"/>
          <p:cNvSpPr/>
          <p:nvPr/>
        </p:nvSpPr>
        <p:spPr>
          <a:xfrm>
            <a:off x="0" y="0"/>
            <a:ext cx="12192000" cy="237744"/>
          </a:xfrm>
          <a:prstGeom prst="rect">
            <a:avLst/>
          </a:prstGeom>
          <a:solidFill>
            <a:srgbClr val="22C7D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Accent"/>
          <p:cNvSpPr/>
          <p:nvPr/>
        </p:nvSpPr>
        <p:spPr>
          <a:xfrm>
            <a:off x="822960" y="1572768"/>
            <a:ext cx="1965960" cy="73152"/>
          </a:xfrm>
          <a:prstGeom prst="rect">
            <a:avLst/>
          </a:prstGeom>
          <a:solidFill>
            <a:srgbClr val="22C7DF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Footer Line"/>
          <p:cNvSpPr/>
          <p:nvPr/>
        </p:nvSpPr>
        <p:spPr>
          <a:xfrm>
            <a:off x="822960" y="6062472"/>
            <a:ext cx="9326880" cy="22860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oter"/>
          <p:cNvSpPr txBox="1"/>
          <p:nvPr/>
        </p:nvSpPr>
        <p:spPr>
          <a:xfrm>
            <a:off x="841248" y="5843016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980">
                <a:solidFill>
                  <a:srgbClr val="64748B"/>
                </a:solidFill>
              </a:rPr>
              <a:t>AURIX MediRun</a:t>
            </a:r>
            <a:endParaRPr lang="ko-KR" sz="980"/>
          </a:p>
        </p:txBody>
      </p:sp>
      <p:sp>
        <p:nvSpPr>
          <p:cNvPr id="7" name="Page"/>
          <p:cNvSpPr txBox="1"/>
          <p:nvPr/>
        </p:nvSpPr>
        <p:spPr>
          <a:xfrm>
            <a:off x="10012680" y="577900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100" b="1">
                <a:solidFill>
                  <a:srgbClr val="94A3B8"/>
                </a:solidFill>
              </a:rPr>
              <a:t>10</a:t>
            </a:r>
            <a:endParaRPr lang="ko-KR" sz="1100"/>
          </a:p>
        </p:txBody>
      </p:sp>
      <p:sp>
        <p:nvSpPr>
          <p:cNvPr id="10" name="Title"/>
          <p:cNvSpPr txBox="1"/>
          <p:nvPr/>
        </p:nvSpPr>
        <p:spPr>
          <a:xfrm>
            <a:off x="822960" y="64008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3000" b="1">
                <a:solidFill>
                  <a:srgbClr val="0F172A"/>
                </a:solidFill>
              </a:rPr>
              <a:t>운영 GUI · 한 화면에서 판단</a:t>
            </a:r>
            <a:endParaRPr lang="ko-KR" sz="3000"/>
          </a:p>
        </p:txBody>
      </p:sp>
      <p:sp>
        <p:nvSpPr>
          <p:cNvPr id="11" name="Subtitle"/>
          <p:cNvSpPr txBox="1"/>
          <p:nvPr/>
        </p:nvSpPr>
        <p:spPr>
          <a:xfrm>
            <a:off x="841248" y="132588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450">
                <a:solidFill>
                  <a:srgbClr val="64748B"/>
                </a:solidFill>
              </a:rPr>
              <a:t>일반 사용자 관제 + 관리자 SLAM·웨이포인트·시스템 관리</a:t>
            </a:r>
            <a:endParaRPr lang="ko-KR" sz="1450"/>
          </a:p>
        </p:txBody>
      </p:sp>
      <p:sp>
        <p:nvSpPr>
          <p:cNvPr id="20" name="TextBox 20"/>
          <p:cNvSpPr txBox="1"/>
          <p:nvPr/>
        </p:nvSpPr>
        <p:spPr>
          <a:xfrm>
            <a:off x="7269480" y="1828800"/>
            <a:ext cx="2834640" cy="603504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250" b="1">
                <a:solidFill>
                  <a:srgbClr val="FFFFFF"/>
                </a:solidFill>
              </a:rPr>
              <a:t>전체 사용자</a:t>
            </a:r>
            <a:endParaRPr lang="ko-KR" sz="1250"/>
          </a:p>
        </p:txBody>
      </p:sp>
      <p:sp>
        <p:nvSpPr>
          <p:cNvPr id="21" name="TextBox 21"/>
          <p:cNvSpPr txBox="1"/>
          <p:nvPr/>
        </p:nvSpPr>
        <p:spPr>
          <a:xfrm>
            <a:off x="7452360" y="2578608"/>
            <a:ext cx="2468880" cy="117043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380" b="1">
                <a:solidFill>
                  <a:srgbClr val="0F172A"/>
                </a:solidFill>
              </a:rPr>
              <a:t>운영 현황</a:t>
            </a:r>
            <a:endParaRPr lang="ko-KR" sz="1380"/>
          </a:p>
          <a:p>
            <a:pPr algn="l"/>
            <a:r>
              <a:rPr lang="ko-KR" sz="1380" b="1">
                <a:solidFill>
                  <a:srgbClr val="0F172A"/>
                </a:solidFill>
              </a:rPr>
              <a:t>실시간 관제</a:t>
            </a:r>
            <a:endParaRPr lang="ko-KR" sz="1380"/>
          </a:p>
          <a:p>
            <a:pPr algn="l"/>
            <a:r>
              <a:rPr lang="ko-KR" sz="1380" b="1">
                <a:solidFill>
                  <a:srgbClr val="0F172A"/>
                </a:solidFill>
              </a:rPr>
              <a:t>미션 관제</a:t>
            </a:r>
            <a:endParaRPr lang="ko-KR" sz="1380"/>
          </a:p>
          <a:p>
            <a:pPr algn="l"/>
            <a:r>
              <a:rPr lang="ko-KR" sz="1380" b="1">
                <a:solidFill>
                  <a:srgbClr val="0F172A"/>
                </a:solidFill>
              </a:rPr>
              <a:t>원격 제어</a:t>
            </a:r>
            <a:endParaRPr lang="ko-KR" sz="1380"/>
          </a:p>
        </p:txBody>
      </p:sp>
      <p:sp>
        <p:nvSpPr>
          <p:cNvPr id="22" name="TextBox 22"/>
          <p:cNvSpPr txBox="1"/>
          <p:nvPr/>
        </p:nvSpPr>
        <p:spPr>
          <a:xfrm>
            <a:off x="7269480" y="3877056"/>
            <a:ext cx="2834640" cy="60350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250" b="1">
                <a:solidFill>
                  <a:srgbClr val="FFFFFF"/>
                </a:solidFill>
              </a:rPr>
              <a:t>관리자 추가</a:t>
            </a:r>
            <a:endParaRPr lang="ko-KR" sz="1250"/>
          </a:p>
        </p:txBody>
      </p:sp>
      <p:sp>
        <p:nvSpPr>
          <p:cNvPr id="23" name="TextBox 23"/>
          <p:cNvSpPr txBox="1"/>
          <p:nvPr/>
        </p:nvSpPr>
        <p:spPr>
          <a:xfrm>
            <a:off x="7452360" y="4599432"/>
            <a:ext cx="2468880" cy="7772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280" b="1">
                <a:solidFill>
                  <a:srgbClr val="0F172A"/>
                </a:solidFill>
              </a:rPr>
              <a:t>지도 생성 · 웨이포인트</a:t>
            </a:r>
            <a:endParaRPr lang="ko-KR" sz="1280"/>
          </a:p>
          <a:p>
            <a:pPr algn="l"/>
            <a:r>
              <a:rPr lang="ko-KR" sz="1280" b="1">
                <a:solidFill>
                  <a:srgbClr val="0F172A"/>
                </a:solidFill>
              </a:rPr>
              <a:t>사용자 · 로봇 · 설정</a:t>
            </a:r>
            <a:endParaRPr lang="ko-KR" sz="1280"/>
          </a:p>
        </p:txBody>
      </p:sp>
      <p:sp>
        <p:nvSpPr>
          <p:cNvPr id="24" name="TextBox 24"/>
          <p:cNvSpPr txBox="1"/>
          <p:nvPr/>
        </p:nvSpPr>
        <p:spPr>
          <a:xfrm>
            <a:off x="868680" y="5376672"/>
            <a:ext cx="5989320" cy="32918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050" b="1">
                <a:solidFill>
                  <a:srgbClr val="451A03"/>
                </a:solidFill>
              </a:rPr>
              <a:t>주행 기록·호출 이력은 구현됐지만 현재 메뉴에서 숨김</a:t>
            </a:r>
            <a:endParaRPr lang="ko-KR" sz="1050"/>
          </a:p>
        </p:txBody>
      </p:sp>
      <p:pic>
        <p:nvPicPr>
          <p:cNvPr id="25" name="Picture 25"/>
          <p:cNvPicPr/>
          <p:nvPr/>
        </p:nvPicPr>
        <p:blipFill>
          <a:blip r:embed="rId2"/>
          <a:stretch>
            <a:fillRect/>
          </a:stretch>
        </p:blipFill>
        <p:spPr>
          <a:xfrm>
            <a:off x="868680" y="1828800"/>
            <a:ext cx="5989320" cy="3401568"/>
          </a:xfrm>
          <a:prstGeom prst="rect">
            <a:avLst/>
          </a:prstGeom>
          <a:ln>
            <a:solidFill>
              <a:srgbClr val="86DDE8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Band"/>
          <p:cNvSpPr/>
          <p:nvPr/>
        </p:nvSpPr>
        <p:spPr>
          <a:xfrm>
            <a:off x="0" y="0"/>
            <a:ext cx="12192000" cy="23774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Accent"/>
          <p:cNvSpPr/>
          <p:nvPr/>
        </p:nvSpPr>
        <p:spPr>
          <a:xfrm>
            <a:off x="822960" y="1572768"/>
            <a:ext cx="196596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Footer Line"/>
          <p:cNvSpPr/>
          <p:nvPr/>
        </p:nvSpPr>
        <p:spPr>
          <a:xfrm>
            <a:off x="822960" y="6062472"/>
            <a:ext cx="9326880" cy="22860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oter"/>
          <p:cNvSpPr txBox="1"/>
          <p:nvPr/>
        </p:nvSpPr>
        <p:spPr>
          <a:xfrm>
            <a:off x="841248" y="5843016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980">
                <a:solidFill>
                  <a:srgbClr val="64748B"/>
                </a:solidFill>
              </a:rPr>
              <a:t>AURIX MediRun</a:t>
            </a:r>
            <a:endParaRPr lang="ko-KR" sz="980"/>
          </a:p>
        </p:txBody>
      </p:sp>
      <p:sp>
        <p:nvSpPr>
          <p:cNvPr id="7" name="Page"/>
          <p:cNvSpPr txBox="1"/>
          <p:nvPr/>
        </p:nvSpPr>
        <p:spPr>
          <a:xfrm>
            <a:off x="10012680" y="577900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100" b="1">
                <a:solidFill>
                  <a:srgbClr val="94A3B8"/>
                </a:solidFill>
              </a:rPr>
              <a:t>11</a:t>
            </a:r>
            <a:endParaRPr lang="ko-KR" sz="1100"/>
          </a:p>
        </p:txBody>
      </p:sp>
      <p:sp>
        <p:nvSpPr>
          <p:cNvPr id="10" name="Title"/>
          <p:cNvSpPr txBox="1"/>
          <p:nvPr/>
        </p:nvSpPr>
        <p:spPr>
          <a:xfrm>
            <a:off x="822960" y="64008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3000" b="1">
                <a:solidFill>
                  <a:srgbClr val="0F172A"/>
                </a:solidFill>
              </a:rPr>
              <a:t>PostgreSQL · 전 과정을 추적</a:t>
            </a:r>
            <a:endParaRPr lang="ko-KR" sz="3000"/>
          </a:p>
        </p:txBody>
      </p:sp>
      <p:sp>
        <p:nvSpPr>
          <p:cNvPr id="11" name="Subtitle"/>
          <p:cNvSpPr txBox="1"/>
          <p:nvPr/>
        </p:nvSpPr>
        <p:spPr>
          <a:xfrm>
            <a:off x="841248" y="132588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450">
                <a:solidFill>
                  <a:srgbClr val="64748B"/>
                </a:solidFill>
              </a:rPr>
              <a:t>호출은 화면에서 사라져도 판단·주행·영상 기록으로 남습니다</a:t>
            </a:r>
            <a:endParaRPr lang="ko-KR" sz="1450"/>
          </a:p>
        </p:txBody>
      </p:sp>
      <p:sp>
        <p:nvSpPr>
          <p:cNvPr id="20" name="TextBox 20"/>
          <p:cNvSpPr txBox="1"/>
          <p:nvPr/>
        </p:nvSpPr>
        <p:spPr>
          <a:xfrm>
            <a:off x="3931920" y="2121408"/>
            <a:ext cx="3127248" cy="12344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850" b="1">
                <a:solidFill>
                  <a:srgbClr val="FFFFFF"/>
                </a:solidFill>
              </a:rPr>
              <a:t>PostgreSQL</a:t>
            </a:r>
            <a:endParaRPr lang="ko-KR" sz="1850"/>
          </a:p>
          <a:p>
            <a:pPr algn="ctr"/>
            <a:r>
              <a:rPr lang="ko-KR" sz="1850" b="1">
                <a:solidFill>
                  <a:srgbClr val="FFFFFF"/>
                </a:solidFill>
              </a:rPr>
              <a:t>19 tables</a:t>
            </a:r>
            <a:endParaRPr lang="ko-KR" sz="1850"/>
          </a:p>
        </p:txBody>
      </p:sp>
      <p:sp>
        <p:nvSpPr>
          <p:cNvPr id="21" name="TextBox 21"/>
          <p:cNvSpPr txBox="1"/>
          <p:nvPr/>
        </p:nvSpPr>
        <p:spPr>
          <a:xfrm>
            <a:off x="868680" y="182880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4B5FD"/>
            </a:solidFill>
          </a:ln>
        </p:spPr>
        <p:txBody>
          <a:bodyPr wrap="square" rtlCol="0" anchor="t"/>
          <a:lstStyle/>
          <a:p>
            <a:pPr algn="ctr"/>
            <a:r>
              <a:rPr lang="ko-KR" sz="1270" b="1">
                <a:solidFill>
                  <a:srgbClr val="0F172A"/>
                </a:solidFill>
              </a:rPr>
              <a:t>계정 · 장비</a:t>
            </a:r>
            <a:endParaRPr lang="ko-KR" sz="1270"/>
          </a:p>
          <a:p>
            <a:pPr algn="ctr"/>
            <a:r>
              <a:rPr lang="ko-KR" sz="1270" b="1">
                <a:solidFill>
                  <a:srgbClr val="0F172A"/>
                </a:solidFill>
              </a:rPr>
              <a:t/>
            </a:r>
            <a:endParaRPr lang="ko-KR" sz="1270"/>
          </a:p>
          <a:p>
            <a:pPr algn="ctr"/>
            <a:r>
              <a:rPr lang="ko-KR" sz="1270" b="1">
                <a:solidFill>
                  <a:srgbClr val="0F172A"/>
                </a:solidFill>
              </a:rPr>
              <a:t>aurix_user</a:t>
            </a:r>
            <a:endParaRPr lang="ko-KR" sz="1270"/>
          </a:p>
          <a:p>
            <a:pPr algn="ctr"/>
            <a:r>
              <a:rPr lang="ko-KR" sz="1270" b="1">
                <a:solidFill>
                  <a:srgbClr val="0F172A"/>
                </a:solidFill>
              </a:rPr>
              <a:t>robot · robot_session</a:t>
            </a:r>
            <a:endParaRPr lang="ko-KR" sz="1270"/>
          </a:p>
        </p:txBody>
      </p:sp>
      <p:sp>
        <p:nvSpPr>
          <p:cNvPr id="22" name="TextBox 22"/>
          <p:cNvSpPr txBox="1"/>
          <p:nvPr/>
        </p:nvSpPr>
        <p:spPr>
          <a:xfrm>
            <a:off x="7790688" y="182880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4B5FD"/>
            </a:solidFill>
          </a:ln>
        </p:spPr>
        <p:txBody>
          <a:bodyPr wrap="square" rtlCol="0" anchor="t"/>
          <a:lstStyle/>
          <a:p>
            <a:pPr algn="ctr"/>
            <a:r>
              <a:rPr lang="ko-KR" sz="1270" b="1">
                <a:solidFill>
                  <a:srgbClr val="0F172A"/>
                </a:solidFill>
              </a:rPr>
              <a:t>호출 · 미션</a:t>
            </a:r>
            <a:endParaRPr lang="ko-KR" sz="1270"/>
          </a:p>
          <a:p>
            <a:pPr algn="ctr"/>
            <a:r>
              <a:rPr lang="ko-KR" sz="1270" b="1">
                <a:solidFill>
                  <a:srgbClr val="0F172A"/>
                </a:solidFill>
              </a:rPr>
              <a:t/>
            </a:r>
            <a:endParaRPr lang="ko-KR" sz="1270"/>
          </a:p>
          <a:p>
            <a:pPr algn="ctr"/>
            <a:r>
              <a:rPr lang="ko-KR" sz="1270" b="1">
                <a:solidFill>
                  <a:srgbClr val="0F172A"/>
                </a:solidFill>
              </a:rPr>
              <a:t>call_button</a:t>
            </a:r>
            <a:endParaRPr lang="ko-KR" sz="1270"/>
          </a:p>
          <a:p>
            <a:pPr algn="ctr"/>
            <a:r>
              <a:rPr lang="ko-KR" sz="1270" b="1">
                <a:solidFill>
                  <a:srgbClr val="0F172A"/>
                </a:solidFill>
              </a:rPr>
              <a:t>mission</a:t>
            </a:r>
            <a:endParaRPr lang="ko-KR" sz="1270"/>
          </a:p>
        </p:txBody>
      </p:sp>
      <p:sp>
        <p:nvSpPr>
          <p:cNvPr id="23" name="TextBox 23"/>
          <p:cNvSpPr txBox="1"/>
          <p:nvPr/>
        </p:nvSpPr>
        <p:spPr>
          <a:xfrm>
            <a:off x="868680" y="379476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4B5FD"/>
            </a:solidFill>
          </a:ln>
        </p:spPr>
        <p:txBody>
          <a:bodyPr wrap="square" rtlCol="0" anchor="t"/>
          <a:lstStyle/>
          <a:p>
            <a:pPr algn="ctr"/>
            <a:r>
              <a:rPr lang="ko-KR" sz="1200" b="1">
                <a:solidFill>
                  <a:srgbClr val="0F172A"/>
                </a:solidFill>
              </a:rPr>
              <a:t>지도 · 경로</a:t>
            </a:r>
            <a:endParaRPr lang="ko-KR" sz="1200"/>
          </a:p>
          <a:p>
            <a:pPr algn="ctr"/>
            <a:r>
              <a:rPr lang="ko-KR" sz="1200" b="1">
                <a:solidFill>
                  <a:srgbClr val="0F172A"/>
                </a:solidFill>
              </a:rPr>
              <a:t/>
            </a:r>
            <a:endParaRPr lang="ko-KR" sz="1200"/>
          </a:p>
          <a:p>
            <a:pPr algn="ctr"/>
            <a:r>
              <a:rPr lang="ko-KR" sz="1200" b="1">
                <a:solidFill>
                  <a:srgbClr val="0F172A"/>
                </a:solidFill>
              </a:rPr>
              <a:t>map · slam_job</a:t>
            </a:r>
            <a:endParaRPr lang="ko-KR" sz="1200"/>
          </a:p>
          <a:p>
            <a:pPr algn="ctr"/>
            <a:r>
              <a:rPr lang="ko-KR" sz="1200" b="1">
                <a:solidFill>
                  <a:srgbClr val="0F172A"/>
                </a:solidFill>
              </a:rPr>
              <a:t>waypoint_set · nav_goal_log</a:t>
            </a:r>
            <a:endParaRPr lang="ko-KR" sz="1200"/>
          </a:p>
        </p:txBody>
      </p:sp>
      <p:sp>
        <p:nvSpPr>
          <p:cNvPr id="24" name="TextBox 24"/>
          <p:cNvSpPr txBox="1"/>
          <p:nvPr/>
        </p:nvSpPr>
        <p:spPr>
          <a:xfrm>
            <a:off x="3931920" y="3794760"/>
            <a:ext cx="312724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4B5FD"/>
            </a:solidFill>
          </a:ln>
        </p:spPr>
        <p:txBody>
          <a:bodyPr wrap="square" rtlCol="0" anchor="t"/>
          <a:lstStyle/>
          <a:p>
            <a:pPr algn="ctr"/>
            <a:r>
              <a:rPr lang="ko-KR" sz="1200" b="1">
                <a:solidFill>
                  <a:srgbClr val="0F172A"/>
                </a:solidFill>
              </a:rPr>
              <a:t>이벤트 · 감사</a:t>
            </a:r>
            <a:endParaRPr lang="ko-KR" sz="1200"/>
          </a:p>
          <a:p>
            <a:pPr algn="ctr"/>
            <a:r>
              <a:rPr lang="ko-KR" sz="1200" b="1">
                <a:solidFill>
                  <a:srgbClr val="0F172A"/>
                </a:solidFill>
              </a:rPr>
              <a:t/>
            </a:r>
            <a:endParaRPr lang="ko-KR" sz="1200"/>
          </a:p>
          <a:p>
            <a:pPr algn="ctr"/>
            <a:r>
              <a:rPr lang="ko-KR" sz="1200" b="1">
                <a:solidFill>
                  <a:srgbClr val="0F172A"/>
                </a:solidFill>
              </a:rPr>
              <a:t>system_event · user_action</a:t>
            </a:r>
            <a:endParaRPr lang="ko-KR" sz="1200"/>
          </a:p>
          <a:p>
            <a:pPr algn="ctr"/>
            <a:r>
              <a:rPr lang="ko-KR" sz="1200" b="1">
                <a:solidFill>
                  <a:srgbClr val="0F172A"/>
                </a:solidFill>
              </a:rPr>
              <a:t>connection · control logs</a:t>
            </a:r>
            <a:endParaRPr lang="ko-KR" sz="1200"/>
          </a:p>
        </p:txBody>
      </p:sp>
      <p:sp>
        <p:nvSpPr>
          <p:cNvPr id="25" name="TextBox 25"/>
          <p:cNvSpPr txBox="1"/>
          <p:nvPr/>
        </p:nvSpPr>
        <p:spPr>
          <a:xfrm>
            <a:off x="7790688" y="379476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4B5FD"/>
            </a:solidFill>
          </a:ln>
        </p:spPr>
        <p:txBody>
          <a:bodyPr wrap="square" rtlCol="0" anchor="t"/>
          <a:lstStyle/>
          <a:p>
            <a:pPr algn="ctr"/>
            <a:r>
              <a:rPr lang="ko-KR" sz="1200" b="1">
                <a:solidFill>
                  <a:srgbClr val="0F172A"/>
                </a:solidFill>
              </a:rPr>
              <a:t>주행 · 영상</a:t>
            </a:r>
            <a:endParaRPr lang="ko-KR" sz="1200"/>
          </a:p>
          <a:p>
            <a:pPr algn="ctr"/>
            <a:r>
              <a:rPr lang="ko-KR" sz="1200" b="1">
                <a:solidFill>
                  <a:srgbClr val="0F172A"/>
                </a:solidFill>
              </a:rPr>
              <a:t/>
            </a:r>
            <a:endParaRPr lang="ko-KR" sz="1200"/>
          </a:p>
          <a:p>
            <a:pPr algn="ctr"/>
            <a:r>
              <a:rPr lang="ko-KR" sz="1200" b="1">
                <a:solidFill>
                  <a:srgbClr val="0F172A"/>
                </a:solidFill>
              </a:rPr>
              <a:t>driving_record</a:t>
            </a:r>
            <a:endParaRPr lang="ko-KR" sz="1200"/>
          </a:p>
          <a:p>
            <a:pPr algn="ctr"/>
            <a:r>
              <a:rPr lang="ko-KR" sz="1200" b="1">
                <a:solidFill>
                  <a:srgbClr val="0F172A"/>
                </a:solidFill>
              </a:rPr>
              <a:t>camera_recording · files</a:t>
            </a:r>
            <a:endParaRPr lang="ko-KR" sz="1200"/>
          </a:p>
        </p:txBody>
      </p:sp>
      <p:sp>
        <p:nvSpPr>
          <p:cNvPr id="26" name="TextBox 26"/>
          <p:cNvSpPr txBox="1"/>
          <p:nvPr/>
        </p:nvSpPr>
        <p:spPr>
          <a:xfrm>
            <a:off x="3255264" y="2404872"/>
            <a:ext cx="621792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800" b="1">
                <a:solidFill>
                  <a:srgbClr val="8B5CF6"/>
                </a:solidFill>
              </a:rPr>
              <a:t>→</a:t>
            </a:r>
            <a:endParaRPr lang="ko-KR" sz="1800"/>
          </a:p>
        </p:txBody>
      </p:sp>
      <p:sp>
        <p:nvSpPr>
          <p:cNvPr id="27" name="TextBox 27"/>
          <p:cNvSpPr txBox="1"/>
          <p:nvPr/>
        </p:nvSpPr>
        <p:spPr>
          <a:xfrm>
            <a:off x="7104888" y="2404872"/>
            <a:ext cx="621792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800" b="1">
                <a:solidFill>
                  <a:srgbClr val="8B5CF6"/>
                </a:solidFill>
              </a:rPr>
              <a:t>→</a:t>
            </a:r>
            <a:endParaRPr lang="ko-KR" sz="1800"/>
          </a:p>
        </p:txBody>
      </p:sp>
      <p:sp>
        <p:nvSpPr>
          <p:cNvPr id="28" name="TextBox 28"/>
          <p:cNvSpPr txBox="1"/>
          <p:nvPr/>
        </p:nvSpPr>
        <p:spPr>
          <a:xfrm>
            <a:off x="3931920" y="5440680"/>
            <a:ext cx="3127248" cy="329184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050" b="1">
                <a:solidFill>
                  <a:srgbClr val="FFFFFF"/>
                </a:solidFill>
              </a:rPr>
              <a:t>call_button = BTN_01 좌표의 기준 정보</a:t>
            </a:r>
            <a:endParaRPr lang="ko-KR" sz="10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F7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Band"/>
          <p:cNvSpPr/>
          <p:nvPr/>
        </p:nvSpPr>
        <p:spPr>
          <a:xfrm>
            <a:off x="0" y="0"/>
            <a:ext cx="12192000" cy="2377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Accent"/>
          <p:cNvSpPr/>
          <p:nvPr/>
        </p:nvSpPr>
        <p:spPr>
          <a:xfrm>
            <a:off x="822960" y="1572768"/>
            <a:ext cx="196596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Footer Line"/>
          <p:cNvSpPr/>
          <p:nvPr/>
        </p:nvSpPr>
        <p:spPr>
          <a:xfrm>
            <a:off x="822960" y="6062472"/>
            <a:ext cx="9326880" cy="22860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oter"/>
          <p:cNvSpPr txBox="1"/>
          <p:nvPr/>
        </p:nvSpPr>
        <p:spPr>
          <a:xfrm>
            <a:off x="841248" y="5843016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980">
                <a:solidFill>
                  <a:srgbClr val="64748B"/>
                </a:solidFill>
              </a:rPr>
              <a:t>AURIX MediRun</a:t>
            </a:r>
            <a:endParaRPr lang="ko-KR" sz="980"/>
          </a:p>
        </p:txBody>
      </p:sp>
      <p:sp>
        <p:nvSpPr>
          <p:cNvPr id="7" name="Page"/>
          <p:cNvSpPr txBox="1"/>
          <p:nvPr/>
        </p:nvSpPr>
        <p:spPr>
          <a:xfrm>
            <a:off x="10012680" y="577900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100" b="1">
                <a:solidFill>
                  <a:srgbClr val="94A3B8"/>
                </a:solidFill>
              </a:rPr>
              <a:t>12</a:t>
            </a:r>
            <a:endParaRPr lang="ko-KR" sz="1100"/>
          </a:p>
        </p:txBody>
      </p:sp>
      <p:sp>
        <p:nvSpPr>
          <p:cNvPr id="10" name="Title"/>
          <p:cNvSpPr txBox="1"/>
          <p:nvPr/>
        </p:nvSpPr>
        <p:spPr>
          <a:xfrm>
            <a:off x="822960" y="64008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3000" b="1">
                <a:solidFill>
                  <a:srgbClr val="0F172A"/>
                </a:solidFill>
              </a:rPr>
              <a:t>핵심 파라미터 · 동작을 바꾸는 손잡이</a:t>
            </a:r>
            <a:endParaRPr lang="ko-KR" sz="3000"/>
          </a:p>
        </p:txBody>
      </p:sp>
      <p:sp>
        <p:nvSpPr>
          <p:cNvPr id="11" name="Subtitle"/>
          <p:cNvSpPr txBox="1"/>
          <p:nvPr/>
        </p:nvSpPr>
        <p:spPr>
          <a:xfrm>
            <a:off x="841248" y="132588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450">
                <a:solidFill>
                  <a:srgbClr val="64748B"/>
                </a:solidFill>
              </a:rPr>
              <a:t>숫자는 독립적이지 않습니다. 속도·센서 주기·공간 환경을 함께 시험해야 합니다</a:t>
            </a:r>
            <a:endParaRPr lang="ko-KR" sz="1450"/>
          </a:p>
        </p:txBody>
      </p:sp>
      <p:sp>
        <p:nvSpPr>
          <p:cNvPr id="20" name="TextBox 20"/>
          <p:cNvSpPr txBox="1"/>
          <p:nvPr/>
        </p:nvSpPr>
        <p:spPr>
          <a:xfrm>
            <a:off x="868680" y="1874519"/>
            <a:ext cx="1691640" cy="1828800"/>
          </a:xfrm>
          <a:prstGeom prst="roundRect">
            <a:avLst/>
          </a:prstGeom>
          <a:solidFill>
            <a:srgbClr val="FEF3C7"/>
          </a:solidFill>
          <a:ln>
            <a:solidFill>
              <a:srgbClr val="FCD34D"/>
            </a:solidFill>
          </a:ln>
        </p:spPr>
        <p:txBody>
          <a:bodyPr wrap="square" rtlCol="0" anchor="t"/>
          <a:lstStyle/>
          <a:p>
            <a:pPr algn="ctr"/>
            <a:r>
              <a:rPr lang="ko-KR" sz="2200" b="1">
                <a:solidFill>
                  <a:srgbClr val="78350F"/>
                </a:solidFill>
              </a:rPr>
              <a:t>2s</a:t>
            </a:r>
            <a:endParaRPr lang="ko-KR" sz="2200"/>
          </a:p>
          <a:p>
            <a:pPr algn="ctr"/>
            <a:r>
              <a:rPr lang="ko-KR" sz="2200" b="1">
                <a:solidFill>
                  <a:srgbClr val="78350F"/>
                </a:solidFill>
              </a:rPr>
              <a:t/>
            </a:r>
            <a:endParaRPr lang="ko-KR" sz="2200"/>
          </a:p>
          <a:p>
            <a:pPr algn="ctr"/>
            <a:r>
              <a:rPr lang="ko-KR" sz="2200" b="1">
                <a:solidFill>
                  <a:srgbClr val="78350F"/>
                </a:solidFill>
              </a:rPr>
              <a:t>호출</a:t>
            </a:r>
            <a:endParaRPr lang="ko-KR" sz="2200"/>
          </a:p>
          <a:p>
            <a:pPr algn="ctr"/>
            <a:r>
              <a:rPr lang="ko-KR" sz="2200" b="1">
                <a:solidFill>
                  <a:srgbClr val="78350F"/>
                </a:solidFill>
              </a:rPr>
              <a:t>쿨다운</a:t>
            </a:r>
            <a:endParaRPr lang="ko-KR" sz="2200"/>
          </a:p>
        </p:txBody>
      </p:sp>
      <p:sp>
        <p:nvSpPr>
          <p:cNvPr id="21" name="TextBox 21"/>
          <p:cNvSpPr txBox="1"/>
          <p:nvPr/>
        </p:nvSpPr>
        <p:spPr>
          <a:xfrm>
            <a:off x="2761488" y="1874519"/>
            <a:ext cx="1691640" cy="1828800"/>
          </a:xfrm>
          <a:prstGeom prst="roundRect">
            <a:avLst/>
          </a:prstGeom>
          <a:solidFill>
            <a:srgbClr val="FEE2E2"/>
          </a:solidFill>
          <a:ln>
            <a:solidFill>
              <a:srgbClr val="FCA5A5"/>
            </a:solidFill>
          </a:ln>
        </p:spPr>
        <p:txBody>
          <a:bodyPr wrap="square" rtlCol="0" anchor="t"/>
          <a:lstStyle/>
          <a:p>
            <a:pPr algn="ctr"/>
            <a:r>
              <a:rPr lang="ko-KR" sz="2200" b="1">
                <a:solidFill>
                  <a:srgbClr val="7F1D1D"/>
                </a:solidFill>
              </a:rPr>
              <a:t>30%</a:t>
            </a:r>
            <a:endParaRPr lang="ko-KR" sz="2200"/>
          </a:p>
          <a:p>
            <a:pPr algn="ctr"/>
            <a:r>
              <a:rPr lang="ko-KR" sz="2200" b="1">
                <a:solidFill>
                  <a:srgbClr val="7F1D1D"/>
                </a:solidFill>
              </a:rPr>
              <a:t/>
            </a:r>
            <a:endParaRPr lang="ko-KR" sz="2200"/>
          </a:p>
          <a:p>
            <a:pPr algn="ctr"/>
            <a:r>
              <a:rPr lang="ko-KR" sz="2200" b="1">
                <a:solidFill>
                  <a:srgbClr val="7F1D1D"/>
                </a:solidFill>
              </a:rPr>
              <a:t>배터리</a:t>
            </a:r>
            <a:endParaRPr lang="ko-KR" sz="2200"/>
          </a:p>
          <a:p>
            <a:pPr algn="ctr"/>
            <a:r>
              <a:rPr lang="ko-KR" sz="2200" b="1">
                <a:solidFill>
                  <a:srgbClr val="7F1D1D"/>
                </a:solidFill>
              </a:rPr>
              <a:t>거절 기준</a:t>
            </a:r>
            <a:endParaRPr lang="ko-KR" sz="2200"/>
          </a:p>
        </p:txBody>
      </p:sp>
      <p:sp>
        <p:nvSpPr>
          <p:cNvPr id="22" name="TextBox 22"/>
          <p:cNvSpPr txBox="1"/>
          <p:nvPr/>
        </p:nvSpPr>
        <p:spPr>
          <a:xfrm>
            <a:off x="4654296" y="1874519"/>
            <a:ext cx="1691640" cy="1828800"/>
          </a:xfrm>
          <a:prstGeom prst="roundRect">
            <a:avLst/>
          </a:prstGeom>
          <a:solidFill>
            <a:srgbClr val="E0F2FE"/>
          </a:solidFill>
          <a:ln>
            <a:solidFill>
              <a:srgbClr val="7DD3FC"/>
            </a:solidFill>
          </a:ln>
        </p:spPr>
        <p:txBody>
          <a:bodyPr wrap="square" rtlCol="0" anchor="t"/>
          <a:lstStyle/>
          <a:p>
            <a:pPr algn="ctr"/>
            <a:r>
              <a:rPr lang="ko-KR" sz="2200" b="1">
                <a:solidFill>
                  <a:srgbClr val="0C4A6E"/>
                </a:solidFill>
              </a:rPr>
              <a:t>15cm</a:t>
            </a:r>
            <a:endParaRPr lang="ko-KR" sz="2200"/>
          </a:p>
          <a:p>
            <a:pPr algn="ctr"/>
            <a:r>
              <a:rPr lang="ko-KR" sz="2200" b="1">
                <a:solidFill>
                  <a:srgbClr val="0C4A6E"/>
                </a:solidFill>
              </a:rPr>
              <a:t/>
            </a:r>
            <a:endParaRPr lang="ko-KR" sz="2200"/>
          </a:p>
          <a:p>
            <a:pPr algn="ctr"/>
            <a:r>
              <a:rPr lang="ko-KR" sz="2200" b="1">
                <a:solidFill>
                  <a:srgbClr val="0C4A6E"/>
                </a:solidFill>
              </a:rPr>
              <a:t>전·후방</a:t>
            </a:r>
            <a:endParaRPr lang="ko-KR" sz="2200"/>
          </a:p>
          <a:p>
            <a:pPr algn="ctr"/>
            <a:r>
              <a:rPr lang="ko-KR" sz="2200" b="1">
                <a:solidFill>
                  <a:srgbClr val="0C4A6E"/>
                </a:solidFill>
              </a:rPr>
              <a:t>정지 거리</a:t>
            </a:r>
            <a:endParaRPr lang="ko-KR" sz="2200"/>
          </a:p>
        </p:txBody>
      </p:sp>
      <p:sp>
        <p:nvSpPr>
          <p:cNvPr id="23" name="TextBox 23"/>
          <p:cNvSpPr txBox="1"/>
          <p:nvPr/>
        </p:nvSpPr>
        <p:spPr>
          <a:xfrm>
            <a:off x="6547104" y="1874519"/>
            <a:ext cx="1691640" cy="1828800"/>
          </a:xfrm>
          <a:prstGeom prst="roundRect">
            <a:avLst/>
          </a:prstGeom>
          <a:solidFill>
            <a:srgbClr val="DCFCE7"/>
          </a:solidFill>
          <a:ln>
            <a:solidFill>
              <a:srgbClr val="86EFAC"/>
            </a:solidFill>
          </a:ln>
        </p:spPr>
        <p:txBody>
          <a:bodyPr wrap="square" rtlCol="0" anchor="t"/>
          <a:lstStyle/>
          <a:p>
            <a:pPr algn="ctr"/>
            <a:r>
              <a:rPr lang="ko-KR" sz="2200" b="1">
                <a:solidFill>
                  <a:srgbClr val="14532D"/>
                </a:solidFill>
              </a:rPr>
              <a:t>4s</a:t>
            </a:r>
            <a:endParaRPr lang="ko-KR" sz="2200"/>
          </a:p>
          <a:p>
            <a:pPr algn="ctr"/>
            <a:r>
              <a:rPr lang="ko-KR" sz="2200" b="1">
                <a:solidFill>
                  <a:srgbClr val="14532D"/>
                </a:solidFill>
              </a:rPr>
              <a:t/>
            </a:r>
            <a:endParaRPr lang="ko-KR" sz="2200"/>
          </a:p>
          <a:p>
            <a:pPr algn="ctr"/>
            <a:r>
              <a:rPr lang="ko-KR" sz="2200" b="1">
                <a:solidFill>
                  <a:srgbClr val="14532D"/>
                </a:solidFill>
              </a:rPr>
              <a:t>정지</a:t>
            </a:r>
            <a:endParaRPr lang="ko-KR" sz="2200"/>
          </a:p>
          <a:p>
            <a:pPr algn="ctr"/>
            <a:r>
              <a:rPr lang="ko-KR" sz="2200" b="1">
                <a:solidFill>
                  <a:srgbClr val="14532D"/>
                </a:solidFill>
              </a:rPr>
              <a:t>유지 시간</a:t>
            </a:r>
            <a:endParaRPr lang="ko-KR" sz="2200"/>
          </a:p>
        </p:txBody>
      </p:sp>
      <p:sp>
        <p:nvSpPr>
          <p:cNvPr id="24" name="TextBox 24"/>
          <p:cNvSpPr txBox="1"/>
          <p:nvPr/>
        </p:nvSpPr>
        <p:spPr>
          <a:xfrm>
            <a:off x="8430768" y="1874519"/>
            <a:ext cx="1691640" cy="1828800"/>
          </a:xfrm>
          <a:prstGeom prst="roundRect">
            <a:avLst/>
          </a:prstGeom>
          <a:solidFill>
            <a:srgbClr val="EDE9FE"/>
          </a:solidFill>
          <a:ln>
            <a:solidFill>
              <a:srgbClr val="C4B5FD"/>
            </a:solidFill>
          </a:ln>
        </p:spPr>
        <p:txBody>
          <a:bodyPr wrap="square" rtlCol="0" anchor="t"/>
          <a:lstStyle/>
          <a:p>
            <a:pPr algn="ctr"/>
            <a:r>
              <a:rPr lang="ko-KR" sz="2200" b="1">
                <a:solidFill>
                  <a:srgbClr val="4C1D95"/>
                </a:solidFill>
              </a:rPr>
              <a:t>0.05m</a:t>
            </a:r>
            <a:endParaRPr lang="ko-KR" sz="2200"/>
          </a:p>
          <a:p>
            <a:pPr algn="ctr"/>
            <a:r>
              <a:rPr lang="ko-KR" sz="2200" b="1">
                <a:solidFill>
                  <a:srgbClr val="4C1D95"/>
                </a:solidFill>
              </a:rPr>
              <a:t/>
            </a:r>
            <a:endParaRPr lang="ko-KR" sz="2200"/>
          </a:p>
          <a:p>
            <a:pPr algn="ctr"/>
            <a:r>
              <a:rPr lang="ko-KR" sz="2200" b="1">
                <a:solidFill>
                  <a:srgbClr val="4C1D95"/>
                </a:solidFill>
              </a:rPr>
              <a:t>지도</a:t>
            </a:r>
            <a:endParaRPr lang="ko-KR" sz="2200"/>
          </a:p>
          <a:p>
            <a:pPr algn="ctr"/>
            <a:r>
              <a:rPr lang="ko-KR" sz="2200" b="1">
                <a:solidFill>
                  <a:srgbClr val="4C1D95"/>
                </a:solidFill>
              </a:rPr>
              <a:t>해상도</a:t>
            </a:r>
            <a:endParaRPr lang="ko-KR" sz="2200"/>
          </a:p>
        </p:txBody>
      </p:sp>
      <p:sp>
        <p:nvSpPr>
          <p:cNvPr id="25" name="TextBox 25"/>
          <p:cNvSpPr txBox="1"/>
          <p:nvPr/>
        </p:nvSpPr>
        <p:spPr>
          <a:xfrm>
            <a:off x="868680" y="4114800"/>
            <a:ext cx="4462272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FCD34D"/>
            </a:solidFill>
          </a:ln>
        </p:spPr>
        <p:txBody>
          <a:bodyPr wrap="square" rtlCol="0" anchor="t"/>
          <a:lstStyle/>
          <a:p>
            <a:pPr algn="ctr"/>
            <a:r>
              <a:rPr lang="ko-KR" sz="1320" b="1">
                <a:solidFill>
                  <a:srgbClr val="78350F"/>
                </a:solidFill>
              </a:rPr>
              <a:t>MQTT</a:t>
            </a:r>
            <a:endParaRPr lang="ko-KR" sz="1320"/>
          </a:p>
          <a:p>
            <a:pPr algn="ctr"/>
            <a:r>
              <a:rPr lang="ko-KR" sz="1320" b="1">
                <a:solidFill>
                  <a:srgbClr val="78350F"/>
                </a:solidFill>
              </a:rPr>
              <a:t>192.168.230.9 : 1883</a:t>
            </a:r>
            <a:endParaRPr lang="ko-KR" sz="1320"/>
          </a:p>
          <a:p>
            <a:pPr algn="ctr"/>
            <a:r>
              <a:rPr lang="ko-KR" sz="1320" b="1">
                <a:solidFill>
                  <a:srgbClr val="78350F"/>
                </a:solidFill>
              </a:rPr>
              <a:t>medirun/button</a:t>
            </a:r>
            <a:endParaRPr lang="ko-KR" sz="1320"/>
          </a:p>
        </p:txBody>
      </p:sp>
      <p:sp>
        <p:nvSpPr>
          <p:cNvPr id="26" name="TextBox 26"/>
          <p:cNvSpPr txBox="1"/>
          <p:nvPr/>
        </p:nvSpPr>
        <p:spPr>
          <a:xfrm>
            <a:off x="5650992" y="4114800"/>
            <a:ext cx="4471416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7DD3FC"/>
            </a:solidFill>
          </a:ln>
        </p:spPr>
        <p:txBody>
          <a:bodyPr wrap="square" rtlCol="0" anchor="t"/>
          <a:lstStyle/>
          <a:p>
            <a:pPr algn="ctr"/>
            <a:r>
              <a:rPr lang="ko-KR" sz="1280" b="1">
                <a:solidFill>
                  <a:srgbClr val="0C4A6E"/>
                </a:solidFill>
              </a:rPr>
              <a:t>Arduino serial</a:t>
            </a:r>
            <a:endParaRPr lang="ko-KR" sz="1280"/>
          </a:p>
          <a:p>
            <a:pPr algn="ctr"/>
            <a:r>
              <a:rPr lang="ko-KR" sz="1280" b="1">
                <a:solidFill>
                  <a:srgbClr val="0C4A6E"/>
                </a:solidFill>
              </a:rPr>
              <a:t>9600 baud · 약 100ms sensor sample</a:t>
            </a:r>
            <a:endParaRPr lang="ko-KR" sz="1280"/>
          </a:p>
          <a:p>
            <a:pPr algn="ctr"/>
            <a:r>
              <a:rPr lang="ko-KR" sz="1280" b="1">
                <a:solidFill>
                  <a:srgbClr val="0C4A6E"/>
                </a:solidFill>
              </a:rPr>
              <a:t>Pi는 by-id device 권장</a:t>
            </a:r>
            <a:endParaRPr lang="ko-KR" sz="128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C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Band"/>
          <p:cNvSpPr/>
          <p:nvPr/>
        </p:nvSpPr>
        <p:spPr>
          <a:xfrm>
            <a:off x="0" y="0"/>
            <a:ext cx="12192000" cy="23774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Accent"/>
          <p:cNvSpPr/>
          <p:nvPr/>
        </p:nvSpPr>
        <p:spPr>
          <a:xfrm>
            <a:off x="822960" y="1572768"/>
            <a:ext cx="196596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Footer Line"/>
          <p:cNvSpPr/>
          <p:nvPr/>
        </p:nvSpPr>
        <p:spPr>
          <a:xfrm>
            <a:off x="822960" y="6062472"/>
            <a:ext cx="9326880" cy="22860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oter"/>
          <p:cNvSpPr txBox="1"/>
          <p:nvPr/>
        </p:nvSpPr>
        <p:spPr>
          <a:xfrm>
            <a:off x="841248" y="5843016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980">
                <a:solidFill>
                  <a:srgbClr val="64748B"/>
                </a:solidFill>
              </a:rPr>
              <a:t>AURIX MediRun</a:t>
            </a:r>
            <a:endParaRPr lang="ko-KR" sz="980"/>
          </a:p>
        </p:txBody>
      </p:sp>
      <p:sp>
        <p:nvSpPr>
          <p:cNvPr id="7" name="Page"/>
          <p:cNvSpPr txBox="1"/>
          <p:nvPr/>
        </p:nvSpPr>
        <p:spPr>
          <a:xfrm>
            <a:off x="10012680" y="577900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100" b="1">
                <a:solidFill>
                  <a:srgbClr val="94A3B8"/>
                </a:solidFill>
              </a:rPr>
              <a:t>13</a:t>
            </a:r>
            <a:endParaRPr lang="ko-KR" sz="1100"/>
          </a:p>
        </p:txBody>
      </p:sp>
      <p:sp>
        <p:nvSpPr>
          <p:cNvPr id="10" name="Title"/>
          <p:cNvSpPr txBox="1"/>
          <p:nvPr/>
        </p:nvSpPr>
        <p:spPr>
          <a:xfrm>
            <a:off x="822960" y="64008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3000" b="1">
                <a:solidFill>
                  <a:srgbClr val="0F172A"/>
                </a:solidFill>
              </a:rPr>
              <a:t>시험 결과와 현재 한계</a:t>
            </a:r>
            <a:endParaRPr lang="ko-KR" sz="3000"/>
          </a:p>
        </p:txBody>
      </p:sp>
      <p:sp>
        <p:nvSpPr>
          <p:cNvPr id="11" name="Subtitle"/>
          <p:cNvSpPr txBox="1"/>
          <p:nvPr/>
        </p:nvSpPr>
        <p:spPr>
          <a:xfrm>
            <a:off x="841248" y="132588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450">
                <a:solidFill>
                  <a:srgbClr val="64748B"/>
                </a:solidFill>
              </a:rPr>
              <a:t>ROS 내부 log 성능과 실제 물리 성능을 함께 측정해야 합니다</a:t>
            </a:r>
            <a:endParaRPr lang="ko-KR" sz="1450"/>
          </a:p>
        </p:txBody>
      </p:sp>
      <p:sp>
        <p:nvSpPr>
          <p:cNvPr id="20" name="TextBox 20"/>
          <p:cNvSpPr txBox="1"/>
          <p:nvPr/>
        </p:nvSpPr>
        <p:spPr>
          <a:xfrm>
            <a:off x="868680" y="1828800"/>
            <a:ext cx="2743200" cy="1874519"/>
          </a:xfrm>
          <a:prstGeom prst="roundRect">
            <a:avLst/>
          </a:prstGeom>
          <a:solidFill>
            <a:srgbClr val="F0FDF4"/>
          </a:solidFill>
          <a:ln>
            <a:solidFill>
              <a:srgbClr val="86EFAC"/>
            </a:solidFill>
          </a:ln>
        </p:spPr>
        <p:txBody>
          <a:bodyPr wrap="square" rtlCol="0" anchor="t"/>
          <a:lstStyle/>
          <a:p>
            <a:pPr algn="ctr"/>
            <a:r>
              <a:rPr lang="ko-KR" sz="1720" b="1">
                <a:solidFill>
                  <a:srgbClr val="14532D"/>
                </a:solidFill>
              </a:rPr>
              <a:t>T-00 · 90° 회전</a:t>
            </a:r>
            <a:endParaRPr lang="ko-KR" sz="1720"/>
          </a:p>
          <a:p>
            <a:pPr algn="ctr"/>
            <a:r>
              <a:rPr lang="ko-KR" sz="1720" b="1">
                <a:solidFill>
                  <a:srgbClr val="14532D"/>
                </a:solidFill>
              </a:rPr>
              <a:t/>
            </a:r>
            <a:endParaRPr lang="ko-KR" sz="1720"/>
          </a:p>
          <a:p>
            <a:pPr algn="ctr"/>
            <a:r>
              <a:rPr lang="ko-KR" sz="1720" b="1">
                <a:solidFill>
                  <a:srgbClr val="14532D"/>
                </a:solidFill>
              </a:rPr>
              <a:t>0.13° MAE</a:t>
            </a:r>
            <a:endParaRPr lang="ko-KR" sz="1720"/>
          </a:p>
          <a:p>
            <a:pPr algn="ctr"/>
            <a:r>
              <a:rPr lang="ko-KR" sz="1720" b="1">
                <a:solidFill>
                  <a:srgbClr val="14532D"/>
                </a:solidFill>
              </a:rPr>
              <a:t>10 / 10 PASS</a:t>
            </a:r>
            <a:endParaRPr lang="ko-KR" sz="1720"/>
          </a:p>
          <a:p>
            <a:pPr algn="ctr"/>
            <a:r>
              <a:rPr lang="ko-KR" sz="1720" b="1">
                <a:solidFill>
                  <a:srgbClr val="14532D"/>
                </a:solidFill>
              </a:rPr>
              <a:t>(log 기준)</a:t>
            </a:r>
            <a:endParaRPr lang="ko-KR" sz="1720"/>
          </a:p>
        </p:txBody>
      </p:sp>
      <p:sp>
        <p:nvSpPr>
          <p:cNvPr id="21" name="TextBox 21"/>
          <p:cNvSpPr txBox="1"/>
          <p:nvPr/>
        </p:nvSpPr>
        <p:spPr>
          <a:xfrm>
            <a:off x="3822191" y="1828800"/>
            <a:ext cx="2743200" cy="1874519"/>
          </a:xfrm>
          <a:prstGeom prst="roundRect">
            <a:avLst/>
          </a:prstGeom>
          <a:solidFill>
            <a:srgbClr val="F0FDF4"/>
          </a:solidFill>
          <a:ln>
            <a:solidFill>
              <a:srgbClr val="86EFAC"/>
            </a:solidFill>
          </a:ln>
        </p:spPr>
        <p:txBody>
          <a:bodyPr wrap="square" rtlCol="0" anchor="t"/>
          <a:lstStyle/>
          <a:p>
            <a:pPr algn="ctr"/>
            <a:r>
              <a:rPr lang="ko-KR" sz="1720" b="1">
                <a:solidFill>
                  <a:srgbClr val="14532D"/>
                </a:solidFill>
              </a:rPr>
              <a:t>T-01 · 0.45m 직진</a:t>
            </a:r>
            <a:endParaRPr lang="ko-KR" sz="1720"/>
          </a:p>
          <a:p>
            <a:pPr algn="ctr"/>
            <a:r>
              <a:rPr lang="ko-KR" sz="1720" b="1">
                <a:solidFill>
                  <a:srgbClr val="14532D"/>
                </a:solidFill>
              </a:rPr>
              <a:t/>
            </a:r>
            <a:endParaRPr lang="ko-KR" sz="1720"/>
          </a:p>
          <a:p>
            <a:pPr algn="ctr"/>
            <a:r>
              <a:rPr lang="ko-KR" sz="1720" b="1">
                <a:solidFill>
                  <a:srgbClr val="14532D"/>
                </a:solidFill>
              </a:rPr>
              <a:t>0.002m MAE</a:t>
            </a:r>
            <a:endParaRPr lang="ko-KR" sz="1720"/>
          </a:p>
          <a:p>
            <a:pPr algn="ctr"/>
            <a:r>
              <a:rPr lang="ko-KR" sz="1720" b="1">
                <a:solidFill>
                  <a:srgbClr val="14532D"/>
                </a:solidFill>
              </a:rPr>
              <a:t>10 / 10 PASS</a:t>
            </a:r>
            <a:endParaRPr lang="ko-KR" sz="1720"/>
          </a:p>
          <a:p>
            <a:pPr algn="ctr"/>
            <a:r>
              <a:rPr lang="ko-KR" sz="1720" b="1">
                <a:solidFill>
                  <a:srgbClr val="14532D"/>
                </a:solidFill>
              </a:rPr>
              <a:t>(odom 기준)</a:t>
            </a:r>
            <a:endParaRPr lang="ko-KR" sz="1720"/>
          </a:p>
        </p:txBody>
      </p:sp>
      <p:sp>
        <p:nvSpPr>
          <p:cNvPr id="22" name="TextBox 22"/>
          <p:cNvSpPr txBox="1"/>
          <p:nvPr/>
        </p:nvSpPr>
        <p:spPr>
          <a:xfrm>
            <a:off x="6784848" y="1828800"/>
            <a:ext cx="3337560" cy="1874519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txBody>
          <a:bodyPr wrap="square" rtlCol="0" anchor="t"/>
          <a:lstStyle/>
          <a:p>
            <a:pPr algn="ctr"/>
            <a:r>
              <a:rPr lang="ko-KR" sz="1430" b="1">
                <a:solidFill>
                  <a:srgbClr val="7C2D12"/>
                </a:solidFill>
              </a:rPr>
              <a:t>물리 측정 주의</a:t>
            </a:r>
            <a:endParaRPr lang="ko-KR" sz="1430"/>
          </a:p>
          <a:p>
            <a:pPr algn="ctr"/>
            <a:r>
              <a:rPr lang="ko-KR" sz="1430" b="1">
                <a:solidFill>
                  <a:srgbClr val="7C2D12"/>
                </a:solidFill>
              </a:rPr>
              <a:t/>
            </a:r>
            <a:endParaRPr lang="ko-KR" sz="1430"/>
          </a:p>
          <a:p>
            <a:pPr algn="ctr"/>
            <a:r>
              <a:rPr lang="ko-KR" sz="1430" b="1">
                <a:solidFill>
                  <a:srgbClr val="7C2D12"/>
                </a:solidFill>
              </a:rPr>
              <a:t>회전 약 4° 부족 관측</a:t>
            </a:r>
            <a:endParaRPr lang="ko-KR" sz="1430"/>
          </a:p>
          <a:p>
            <a:pPr algn="ctr"/>
            <a:r>
              <a:rPr lang="ko-KR" sz="1430" b="1">
                <a:solidFill>
                  <a:srgbClr val="7C2D12"/>
                </a:solidFill>
              </a:rPr>
              <a:t>바퀴 미끄러짐·바닥 영향</a:t>
            </a:r>
            <a:endParaRPr lang="ko-KR" sz="1430"/>
          </a:p>
          <a:p>
            <a:pPr algn="ctr"/>
            <a:r>
              <a:rPr lang="ko-KR" sz="1430" b="1">
                <a:solidFill>
                  <a:srgbClr val="7C2D12"/>
                </a:solidFill>
              </a:rPr>
              <a:t>ground truth 필요</a:t>
            </a:r>
            <a:endParaRPr lang="ko-KR" sz="1430"/>
          </a:p>
        </p:txBody>
      </p:sp>
      <p:sp>
        <p:nvSpPr>
          <p:cNvPr id="23" name="TextBox 23"/>
          <p:cNvSpPr txBox="1"/>
          <p:nvPr/>
        </p:nvSpPr>
        <p:spPr>
          <a:xfrm>
            <a:off x="868680" y="4114800"/>
            <a:ext cx="9253728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rtlCol="0" anchor="t"/>
          <a:lstStyle/>
          <a:p>
            <a:pPr algn="ctr"/>
            <a:r>
              <a:rPr lang="ko-KR" sz="1250" b="1">
                <a:solidFill>
                  <a:srgbClr val="334155"/>
                </a:solidFill>
              </a:rPr>
              <a:t>우선 개선</a:t>
            </a:r>
            <a:endParaRPr lang="ko-KR" sz="1250"/>
          </a:p>
          <a:p>
            <a:pPr algn="ctr"/>
            <a:r>
              <a:rPr lang="ko-KR" sz="1250" b="1">
                <a:solidFill>
                  <a:srgbClr val="334155"/>
                </a:solidFill>
              </a:rPr>
              <a:t>① 실제 battery/payload 배선  ② typed medirun_msgs  ③ 단일 조정자·패키징 정리</a:t>
            </a:r>
            <a:endParaRPr lang="ko-KR" sz="1250"/>
          </a:p>
          <a:p>
            <a:pPr algn="ctr"/>
            <a:r>
              <a:rPr lang="ko-KR" sz="1250" b="1">
                <a:solidFill>
                  <a:srgbClr val="334155"/>
                </a:solidFill>
              </a:rPr>
              <a:t>④ teleop 안전 정책 적용  ⑤ 모의 도킹 → 실제 도킹</a:t>
            </a:r>
            <a:endParaRPr lang="ko-KR" sz="12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Band"/>
          <p:cNvSpPr/>
          <p:nvPr/>
        </p:nvSpPr>
        <p:spPr>
          <a:xfrm>
            <a:off x="0" y="0"/>
            <a:ext cx="12192000" cy="237744"/>
          </a:xfrm>
          <a:prstGeom prst="rect">
            <a:avLst/>
          </a:prstGeom>
          <a:solidFill>
            <a:srgbClr val="22C7D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Accent"/>
          <p:cNvSpPr/>
          <p:nvPr/>
        </p:nvSpPr>
        <p:spPr>
          <a:xfrm>
            <a:off x="822960" y="1572768"/>
            <a:ext cx="1965960" cy="73152"/>
          </a:xfrm>
          <a:prstGeom prst="rect">
            <a:avLst/>
          </a:prstGeom>
          <a:solidFill>
            <a:srgbClr val="22C7DF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Footer Line"/>
          <p:cNvSpPr/>
          <p:nvPr/>
        </p:nvSpPr>
        <p:spPr>
          <a:xfrm>
            <a:off x="822960" y="6062472"/>
            <a:ext cx="9326880" cy="22860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oter"/>
          <p:cNvSpPr txBox="1"/>
          <p:nvPr/>
        </p:nvSpPr>
        <p:spPr>
          <a:xfrm>
            <a:off x="841248" y="5843016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980">
                <a:solidFill>
                  <a:srgbClr val="64748B"/>
                </a:solidFill>
              </a:rPr>
              <a:t>AURIX MEDIRUN</a:t>
            </a:r>
            <a:endParaRPr lang="ko-KR" sz="980"/>
          </a:p>
        </p:txBody>
      </p:sp>
      <p:sp>
        <p:nvSpPr>
          <p:cNvPr id="7" name="Page"/>
          <p:cNvSpPr txBox="1"/>
          <p:nvPr/>
        </p:nvSpPr>
        <p:spPr>
          <a:xfrm>
            <a:off x="10012680" y="577900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100" b="1">
                <a:solidFill>
                  <a:srgbClr val="94A3B8"/>
                </a:solidFill>
              </a:rPr>
              <a:t>14</a:t>
            </a:r>
            <a:endParaRPr lang="ko-KR" sz="1100"/>
          </a:p>
        </p:txBody>
      </p:sp>
      <p:sp>
        <p:nvSpPr>
          <p:cNvPr id="10" name="Title"/>
          <p:cNvSpPr txBox="1"/>
          <p:nvPr/>
        </p:nvSpPr>
        <p:spPr>
          <a:xfrm>
            <a:off x="822960" y="64008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3000" b="1">
                <a:solidFill>
                  <a:srgbClr val="0F172A"/>
                </a:solidFill>
              </a:rPr>
              <a:t>결론 · 호출에서 기록까지 하나의 흐름</a:t>
            </a:r>
            <a:endParaRPr lang="ko-KR" sz="3000"/>
          </a:p>
        </p:txBody>
      </p:sp>
      <p:sp>
        <p:nvSpPr>
          <p:cNvPr id="11" name="Subtitle"/>
          <p:cNvSpPr txBox="1"/>
          <p:nvPr/>
        </p:nvSpPr>
        <p:spPr>
          <a:xfrm>
            <a:off x="841248" y="132588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450">
                <a:solidFill>
                  <a:srgbClr val="64748B"/>
                </a:solidFill>
              </a:rPr>
              <a:t>중앙 대합실 BTN_01 상황을 코드가 어떻게 처리했는지 다시 연결합니다</a:t>
            </a:r>
            <a:endParaRPr lang="ko-KR" sz="1450"/>
          </a:p>
        </p:txBody>
      </p:sp>
      <p:sp>
        <p:nvSpPr>
          <p:cNvPr id="20" name="TextBox 20"/>
          <p:cNvSpPr txBox="1"/>
          <p:nvPr/>
        </p:nvSpPr>
        <p:spPr>
          <a:xfrm>
            <a:off x="685800" y="1965960"/>
            <a:ext cx="1600200" cy="12344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750" b="1">
                <a:solidFill>
                  <a:srgbClr val="FFFFFF"/>
                </a:solidFill>
              </a:rPr>
              <a:t>CALL</a:t>
            </a:r>
            <a:endParaRPr lang="ko-KR" sz="1750"/>
          </a:p>
          <a:p>
            <a:pPr algn="ctr"/>
            <a:r>
              <a:rPr lang="ko-KR" sz="1750" b="1">
                <a:solidFill>
                  <a:srgbClr val="FFFFFF"/>
                </a:solidFill>
              </a:rPr>
              <a:t>MQTT</a:t>
            </a:r>
            <a:endParaRPr lang="ko-KR" sz="1750"/>
          </a:p>
        </p:txBody>
      </p:sp>
      <p:sp>
        <p:nvSpPr>
          <p:cNvPr id="21" name="TextBox 21"/>
          <p:cNvSpPr txBox="1"/>
          <p:nvPr/>
        </p:nvSpPr>
        <p:spPr>
          <a:xfrm>
            <a:off x="2267712" y="237744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900" b="1">
                <a:solidFill>
                  <a:srgbClr val="7DD3FC"/>
                </a:solidFill>
              </a:rPr>
              <a:t>→</a:t>
            </a:r>
            <a:endParaRPr lang="ko-KR" sz="1900"/>
          </a:p>
        </p:txBody>
      </p:sp>
      <p:sp>
        <p:nvSpPr>
          <p:cNvPr id="22" name="TextBox 22"/>
          <p:cNvSpPr txBox="1"/>
          <p:nvPr/>
        </p:nvSpPr>
        <p:spPr>
          <a:xfrm>
            <a:off x="2578608" y="1965960"/>
            <a:ext cx="1600200" cy="12344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750" b="1">
                <a:solidFill>
                  <a:srgbClr val="FFFFFF"/>
                </a:solidFill>
              </a:rPr>
              <a:t>DECIDE</a:t>
            </a:r>
            <a:endParaRPr lang="ko-KR" sz="1750"/>
          </a:p>
          <a:p>
            <a:pPr algn="ctr"/>
            <a:r>
              <a:rPr lang="ko-KR" sz="1750" b="1">
                <a:solidFill>
                  <a:srgbClr val="FFFFFF"/>
                </a:solidFill>
              </a:rPr>
              <a:t>Queue</a:t>
            </a:r>
            <a:endParaRPr lang="ko-KR" sz="1750"/>
          </a:p>
        </p:txBody>
      </p:sp>
      <p:sp>
        <p:nvSpPr>
          <p:cNvPr id="23" name="TextBox 23"/>
          <p:cNvSpPr txBox="1"/>
          <p:nvPr/>
        </p:nvSpPr>
        <p:spPr>
          <a:xfrm>
            <a:off x="4160520" y="237744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900" b="1">
                <a:solidFill>
                  <a:srgbClr val="7DD3FC"/>
                </a:solidFill>
              </a:rPr>
              <a:t>→</a:t>
            </a:r>
            <a:endParaRPr lang="ko-KR" sz="1900"/>
          </a:p>
        </p:txBody>
      </p:sp>
      <p:sp>
        <p:nvSpPr>
          <p:cNvPr id="24" name="TextBox 24"/>
          <p:cNvSpPr txBox="1"/>
          <p:nvPr/>
        </p:nvSpPr>
        <p:spPr>
          <a:xfrm>
            <a:off x="4471416" y="1965960"/>
            <a:ext cx="1600200" cy="12344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750" b="1">
                <a:solidFill>
                  <a:srgbClr val="FFFFFF"/>
                </a:solidFill>
              </a:rPr>
              <a:t>DRIVE</a:t>
            </a:r>
            <a:endParaRPr lang="ko-KR" sz="1750"/>
          </a:p>
          <a:p>
            <a:pPr algn="ctr"/>
            <a:r>
              <a:rPr lang="ko-KR" sz="1750" b="1">
                <a:solidFill>
                  <a:srgbClr val="FFFFFF"/>
                </a:solidFill>
              </a:rPr>
              <a:t>Nav2</a:t>
            </a:r>
            <a:endParaRPr lang="ko-KR" sz="1750"/>
          </a:p>
        </p:txBody>
      </p:sp>
      <p:sp>
        <p:nvSpPr>
          <p:cNvPr id="25" name="TextBox 25"/>
          <p:cNvSpPr txBox="1"/>
          <p:nvPr/>
        </p:nvSpPr>
        <p:spPr>
          <a:xfrm>
            <a:off x="6053328" y="237744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900" b="1">
                <a:solidFill>
                  <a:srgbClr val="7DD3FC"/>
                </a:solidFill>
              </a:rPr>
              <a:t>→</a:t>
            </a:r>
            <a:endParaRPr lang="ko-KR" sz="1900"/>
          </a:p>
        </p:txBody>
      </p:sp>
      <p:sp>
        <p:nvSpPr>
          <p:cNvPr id="26" name="TextBox 26"/>
          <p:cNvSpPr txBox="1"/>
          <p:nvPr/>
        </p:nvSpPr>
        <p:spPr>
          <a:xfrm>
            <a:off x="6364224" y="1965960"/>
            <a:ext cx="1600200" cy="1234440"/>
          </a:xfrm>
          <a:prstGeom prst="roundRect">
            <a:avLst/>
          </a:prstGeom>
          <a:solidFill>
            <a:srgbClr val="FCD34D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750" b="1">
                <a:solidFill>
                  <a:srgbClr val="071827"/>
                </a:solidFill>
              </a:rPr>
              <a:t>PROTECT</a:t>
            </a:r>
            <a:endParaRPr lang="ko-KR" sz="1750"/>
          </a:p>
          <a:p>
            <a:pPr algn="ctr"/>
            <a:r>
              <a:rPr lang="ko-KR" sz="1750" b="1">
                <a:solidFill>
                  <a:srgbClr val="071827"/>
                </a:solidFill>
              </a:rPr>
              <a:t>15cm</a:t>
            </a:r>
            <a:endParaRPr lang="ko-KR" sz="1750"/>
          </a:p>
        </p:txBody>
      </p:sp>
      <p:sp>
        <p:nvSpPr>
          <p:cNvPr id="27" name="TextBox 27"/>
          <p:cNvSpPr txBox="1"/>
          <p:nvPr/>
        </p:nvSpPr>
        <p:spPr>
          <a:xfrm>
            <a:off x="7946136" y="237744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900" b="1">
                <a:solidFill>
                  <a:srgbClr val="7DD3FC"/>
                </a:solidFill>
              </a:rPr>
              <a:t>→</a:t>
            </a:r>
            <a:endParaRPr lang="ko-KR" sz="1900"/>
          </a:p>
        </p:txBody>
      </p:sp>
      <p:sp>
        <p:nvSpPr>
          <p:cNvPr id="28" name="TextBox 28"/>
          <p:cNvSpPr txBox="1"/>
          <p:nvPr/>
        </p:nvSpPr>
        <p:spPr>
          <a:xfrm>
            <a:off x="8257031" y="1965960"/>
            <a:ext cx="1865376" cy="123444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750" b="1">
                <a:solidFill>
                  <a:srgbClr val="FFFFFF"/>
                </a:solidFill>
              </a:rPr>
              <a:t>RECORD</a:t>
            </a:r>
            <a:endParaRPr lang="ko-KR" sz="1750"/>
          </a:p>
          <a:p>
            <a:pPr algn="ctr"/>
            <a:r>
              <a:rPr lang="ko-KR" sz="1750" b="1">
                <a:solidFill>
                  <a:srgbClr val="FFFFFF"/>
                </a:solidFill>
              </a:rPr>
              <a:t>DB · Video</a:t>
            </a:r>
            <a:endParaRPr lang="ko-KR" sz="1750"/>
          </a:p>
        </p:txBody>
      </p:sp>
      <p:sp>
        <p:nvSpPr>
          <p:cNvPr id="29" name="TextBox 29"/>
          <p:cNvSpPr txBox="1"/>
          <p:nvPr/>
        </p:nvSpPr>
        <p:spPr>
          <a:xfrm>
            <a:off x="868680" y="3858768"/>
            <a:ext cx="9253728" cy="1005840"/>
          </a:xfrm>
          <a:prstGeom prst="roundRect">
            <a:avLst/>
          </a:prstGeom>
          <a:solidFill>
            <a:srgbClr val="102A3A"/>
          </a:solidFill>
          <a:ln>
            <a:solidFill>
              <a:srgbClr val="2C6370"/>
            </a:solidFill>
          </a:ln>
        </p:spPr>
        <p:txBody>
          <a:bodyPr wrap="square" rtlCol="0" anchor="t"/>
          <a:lstStyle/>
          <a:p>
            <a:pPr algn="ctr"/>
            <a:r>
              <a:rPr lang="ko-KR" sz="1450" b="1">
                <a:solidFill>
                  <a:srgbClr val="FFFFFF"/>
                </a:solidFill>
              </a:rPr>
              <a:t>현재 핵심</a:t>
            </a:r>
            <a:endParaRPr lang="ko-KR" sz="1450"/>
          </a:p>
          <a:p>
            <a:pPr algn="ctr"/>
            <a:r>
              <a:rPr lang="ko-KR" sz="1450" b="1">
                <a:solidFill>
                  <a:srgbClr val="FFFFFF"/>
                </a:solidFill>
              </a:rPr>
              <a:t>GUI의 단일 미션 조정자가 DB 좌표와 Nav2 Action을 연결하고,</a:t>
            </a:r>
            <a:endParaRPr lang="ko-KR" sz="1450"/>
          </a:p>
          <a:p>
            <a:pPr algn="ctr"/>
            <a:r>
              <a:rPr lang="ko-KR" sz="1450" b="1">
                <a:solidFill>
                  <a:srgbClr val="FFFFFF"/>
                </a:solidFill>
              </a:rPr>
              <a:t>Arduino 초음파 안전 게이트가 최종 자율주행 속도를 보호합니다.</a:t>
            </a:r>
            <a:endParaRPr lang="ko-KR" sz="1450"/>
          </a:p>
        </p:txBody>
      </p:sp>
      <p:sp>
        <p:nvSpPr>
          <p:cNvPr id="30" name="TextBox 30"/>
          <p:cNvSpPr txBox="1"/>
          <p:nvPr/>
        </p:nvSpPr>
        <p:spPr>
          <a:xfrm>
            <a:off x="3822191" y="5230368"/>
            <a:ext cx="3401568" cy="329184"/>
          </a:xfrm>
          <a:prstGeom prst="roundRect">
            <a:avLst/>
          </a:prstGeom>
          <a:solidFill>
            <a:srgbClr val="22C7DF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050" b="1">
                <a:solidFill>
                  <a:srgbClr val="071827"/>
                </a:solidFill>
              </a:rPr>
              <a:t>AED 운반을 돕는 신뢰 가능한 연결</a:t>
            </a:r>
            <a:endParaRPr lang="ko-KR" sz="10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Band"/>
          <p:cNvSpPr/>
          <p:nvPr/>
        </p:nvSpPr>
        <p:spPr>
          <a:xfrm>
            <a:off x="0" y="0"/>
            <a:ext cx="12192000" cy="2377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Accent"/>
          <p:cNvSpPr/>
          <p:nvPr/>
        </p:nvSpPr>
        <p:spPr>
          <a:xfrm>
            <a:off x="822960" y="1572768"/>
            <a:ext cx="196596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Footer Line"/>
          <p:cNvSpPr/>
          <p:nvPr/>
        </p:nvSpPr>
        <p:spPr>
          <a:xfrm>
            <a:off x="822960" y="6062472"/>
            <a:ext cx="9326880" cy="22860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oter"/>
          <p:cNvSpPr txBox="1"/>
          <p:nvPr/>
        </p:nvSpPr>
        <p:spPr>
          <a:xfrm>
            <a:off x="841248" y="5843016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980">
                <a:solidFill>
                  <a:srgbClr val="64748B"/>
                </a:solidFill>
              </a:rPr>
              <a:t>APPENDIX · CALL INPUT</a:t>
            </a:r>
            <a:endParaRPr lang="ko-KR" sz="980"/>
          </a:p>
        </p:txBody>
      </p:sp>
      <p:sp>
        <p:nvSpPr>
          <p:cNvPr id="7" name="Page"/>
          <p:cNvSpPr txBox="1"/>
          <p:nvPr/>
        </p:nvSpPr>
        <p:spPr>
          <a:xfrm>
            <a:off x="10012680" y="577900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100" b="1">
                <a:solidFill>
                  <a:srgbClr val="94A3B8"/>
                </a:solidFill>
              </a:rPr>
              <a:t>15</a:t>
            </a:r>
            <a:endParaRPr lang="ko-KR" sz="1100"/>
          </a:p>
        </p:txBody>
      </p:sp>
      <p:sp>
        <p:nvSpPr>
          <p:cNvPr id="10" name="Title"/>
          <p:cNvSpPr txBox="1"/>
          <p:nvPr/>
        </p:nvSpPr>
        <p:spPr>
          <a:xfrm>
            <a:off x="822960" y="64008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3000" b="1">
                <a:solidFill>
                  <a:srgbClr val="0F172A"/>
                </a:solidFill>
              </a:rPr>
              <a:t>부록 A1 · 호출 입력 아키텍처</a:t>
            </a:r>
            <a:endParaRPr lang="ko-KR" sz="3000"/>
          </a:p>
        </p:txBody>
      </p:sp>
      <p:sp>
        <p:nvSpPr>
          <p:cNvPr id="11" name="Subtitle"/>
          <p:cNvSpPr txBox="1"/>
          <p:nvPr/>
        </p:nvSpPr>
        <p:spPr>
          <a:xfrm>
            <a:off x="841248" y="132588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450">
                <a:solidFill>
                  <a:srgbClr val="64748B"/>
                </a:solidFill>
              </a:rPr>
              <a:t>Wi-Fi 버튼은 현재 호출 경로, 유선 Arduino 버튼은 namespace 통합이 필요합니다</a:t>
            </a:r>
            <a:endParaRPr lang="ko-KR" sz="1450"/>
          </a:p>
        </p:txBody>
      </p:sp>
      <p:sp>
        <p:nvSpPr>
          <p:cNvPr id="20" name="TextBox 20"/>
          <p:cNvSpPr txBox="1"/>
          <p:nvPr/>
        </p:nvSpPr>
        <p:spPr>
          <a:xfrm>
            <a:off x="868680" y="1783080"/>
            <a:ext cx="4069080" cy="32918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050" b="1">
                <a:solidFill>
                  <a:srgbClr val="FFFFFF"/>
                </a:solidFill>
              </a:rPr>
              <a:t>Wi-Fi 호출 · 현재 연결</a:t>
            </a:r>
            <a:endParaRPr lang="ko-KR" sz="1050"/>
          </a:p>
        </p:txBody>
      </p:sp>
      <p:sp>
        <p:nvSpPr>
          <p:cNvPr id="21" name="TextBox 21"/>
          <p:cNvSpPr txBox="1"/>
          <p:nvPr/>
        </p:nvSpPr>
        <p:spPr>
          <a:xfrm>
            <a:off x="868680" y="2267712"/>
            <a:ext cx="1417320" cy="107899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350" b="1">
                <a:solidFill>
                  <a:srgbClr val="FFFFFF"/>
                </a:solidFill>
              </a:rPr>
              <a:t>ESP32</a:t>
            </a:r>
            <a:endParaRPr lang="ko-KR" sz="1350"/>
          </a:p>
          <a:p>
            <a:pPr algn="ctr"/>
            <a:r>
              <a:rPr lang="ko-KR" sz="1350" b="1">
                <a:solidFill>
                  <a:srgbClr val="FFFFFF"/>
                </a:solidFill>
              </a:rPr>
              <a:t>GPIO 25</a:t>
            </a:r>
            <a:endParaRPr lang="ko-KR" sz="1350"/>
          </a:p>
        </p:txBody>
      </p:sp>
      <p:sp>
        <p:nvSpPr>
          <p:cNvPr id="22" name="TextBox 22"/>
          <p:cNvSpPr txBox="1"/>
          <p:nvPr/>
        </p:nvSpPr>
        <p:spPr>
          <a:xfrm>
            <a:off x="2304288" y="2624328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800" b="1">
                <a:solidFill>
                  <a:srgbClr val="3B82F6"/>
                </a:solidFill>
              </a:rPr>
              <a:t>→</a:t>
            </a:r>
            <a:endParaRPr lang="ko-KR" sz="1800"/>
          </a:p>
        </p:txBody>
      </p:sp>
      <p:sp>
        <p:nvSpPr>
          <p:cNvPr id="23" name="TextBox 23"/>
          <p:cNvSpPr txBox="1"/>
          <p:nvPr/>
        </p:nvSpPr>
        <p:spPr>
          <a:xfrm>
            <a:off x="2633472" y="2267712"/>
            <a:ext cx="1508760" cy="1078992"/>
          </a:xfrm>
          <a:prstGeom prst="roundRect">
            <a:avLst/>
          </a:prstGeom>
          <a:solidFill>
            <a:srgbClr val="E0F2FE"/>
          </a:solidFill>
          <a:ln>
            <a:solidFill>
              <a:srgbClr val="7DD3FC"/>
            </a:solidFill>
          </a:ln>
        </p:spPr>
        <p:txBody>
          <a:bodyPr wrap="square" rtlCol="0" anchor="t"/>
          <a:lstStyle/>
          <a:p>
            <a:pPr algn="ctr"/>
            <a:r>
              <a:rPr lang="ko-KR" sz="1260" b="1">
                <a:solidFill>
                  <a:srgbClr val="0C4A6E"/>
                </a:solidFill>
              </a:rPr>
              <a:t>200ms</a:t>
            </a:r>
            <a:endParaRPr lang="ko-KR" sz="1260"/>
          </a:p>
          <a:p>
            <a:pPr algn="ctr"/>
            <a:r>
              <a:rPr lang="ko-KR" sz="1260" b="1">
                <a:solidFill>
                  <a:srgbClr val="0C4A6E"/>
                </a:solidFill>
              </a:rPr>
              <a:t>debounce</a:t>
            </a:r>
            <a:endParaRPr lang="ko-KR" sz="1260"/>
          </a:p>
        </p:txBody>
      </p:sp>
      <p:sp>
        <p:nvSpPr>
          <p:cNvPr id="24" name="TextBox 24"/>
          <p:cNvSpPr txBox="1"/>
          <p:nvPr/>
        </p:nvSpPr>
        <p:spPr>
          <a:xfrm>
            <a:off x="4160520" y="2624328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800" b="1">
                <a:solidFill>
                  <a:srgbClr val="3B82F6"/>
                </a:solidFill>
              </a:rPr>
              <a:t>→</a:t>
            </a:r>
            <a:endParaRPr lang="ko-KR" sz="1800"/>
          </a:p>
        </p:txBody>
      </p:sp>
      <p:sp>
        <p:nvSpPr>
          <p:cNvPr id="25" name="TextBox 25"/>
          <p:cNvSpPr txBox="1"/>
          <p:nvPr/>
        </p:nvSpPr>
        <p:spPr>
          <a:xfrm>
            <a:off x="4498848" y="2267712"/>
            <a:ext cx="1874519" cy="1078992"/>
          </a:xfrm>
          <a:prstGeom prst="roundRect">
            <a:avLst/>
          </a:prstGeom>
          <a:solidFill>
            <a:srgbClr val="FEF3C7"/>
          </a:solidFill>
          <a:ln>
            <a:solidFill>
              <a:srgbClr val="FCD34D"/>
            </a:solidFill>
          </a:ln>
        </p:spPr>
        <p:txBody>
          <a:bodyPr wrap="square" rtlCol="0" anchor="t"/>
          <a:lstStyle/>
          <a:p>
            <a:pPr algn="ctr"/>
            <a:r>
              <a:rPr lang="ko-KR" sz="1250" b="1">
                <a:solidFill>
                  <a:srgbClr val="78350F"/>
                </a:solidFill>
              </a:rPr>
              <a:t>MQTT Broker</a:t>
            </a:r>
            <a:endParaRPr lang="ko-KR" sz="1250"/>
          </a:p>
          <a:p>
            <a:pPr algn="ctr"/>
            <a:r>
              <a:rPr lang="ko-KR" sz="1250" b="1">
                <a:solidFill>
                  <a:srgbClr val="78350F"/>
                </a:solidFill>
              </a:rPr>
              <a:t>medirun/button</a:t>
            </a:r>
            <a:endParaRPr lang="ko-KR" sz="1250"/>
          </a:p>
        </p:txBody>
      </p:sp>
      <p:sp>
        <p:nvSpPr>
          <p:cNvPr id="26" name="TextBox 26"/>
          <p:cNvSpPr txBox="1"/>
          <p:nvPr/>
        </p:nvSpPr>
        <p:spPr>
          <a:xfrm>
            <a:off x="6391656" y="2624328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800" b="1">
                <a:solidFill>
                  <a:srgbClr val="3B82F6"/>
                </a:solidFill>
              </a:rPr>
              <a:t>→</a:t>
            </a:r>
            <a:endParaRPr lang="ko-KR" sz="1800"/>
          </a:p>
        </p:txBody>
      </p:sp>
      <p:sp>
        <p:nvSpPr>
          <p:cNvPr id="27" name="TextBox 27"/>
          <p:cNvSpPr txBox="1"/>
          <p:nvPr/>
        </p:nvSpPr>
        <p:spPr>
          <a:xfrm>
            <a:off x="6729984" y="2267712"/>
            <a:ext cx="1554480" cy="1078992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320" b="1">
                <a:solidFill>
                  <a:srgbClr val="FFFFFF"/>
                </a:solidFill>
              </a:rPr>
              <a:t>mqtt_bridge</a:t>
            </a:r>
            <a:endParaRPr lang="ko-KR" sz="1320"/>
          </a:p>
        </p:txBody>
      </p:sp>
      <p:sp>
        <p:nvSpPr>
          <p:cNvPr id="28" name="TextBox 28"/>
          <p:cNvSpPr txBox="1"/>
          <p:nvPr/>
        </p:nvSpPr>
        <p:spPr>
          <a:xfrm>
            <a:off x="8302752" y="2624328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800" b="1">
                <a:solidFill>
                  <a:srgbClr val="3B82F6"/>
                </a:solidFill>
              </a:rPr>
              <a:t>→</a:t>
            </a:r>
            <a:endParaRPr lang="ko-KR" sz="1800"/>
          </a:p>
        </p:txBody>
      </p:sp>
      <p:sp>
        <p:nvSpPr>
          <p:cNvPr id="29" name="TextBox 29"/>
          <p:cNvSpPr txBox="1"/>
          <p:nvPr/>
        </p:nvSpPr>
        <p:spPr>
          <a:xfrm>
            <a:off x="8641080" y="2148840"/>
            <a:ext cx="1481328" cy="132588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270" b="1">
                <a:solidFill>
                  <a:srgbClr val="FFFFFF"/>
                </a:solidFill>
              </a:rPr>
              <a:t>/sos_button</a:t>
            </a:r>
            <a:endParaRPr lang="ko-KR" sz="1270"/>
          </a:p>
          <a:p>
            <a:pPr algn="ctr"/>
            <a:r>
              <a:rPr lang="ko-KR" sz="1270" b="1">
                <a:solidFill>
                  <a:srgbClr val="FFFFFF"/>
                </a:solidFill>
              </a:rPr>
              <a:t>String</a:t>
            </a:r>
            <a:endParaRPr lang="ko-KR" sz="1270"/>
          </a:p>
        </p:txBody>
      </p:sp>
      <p:sp>
        <p:nvSpPr>
          <p:cNvPr id="30" name="TextBox 30"/>
          <p:cNvSpPr txBox="1"/>
          <p:nvPr/>
        </p:nvSpPr>
        <p:spPr>
          <a:xfrm>
            <a:off x="868680" y="3822191"/>
            <a:ext cx="4069080" cy="32918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050" b="1">
                <a:solidFill>
                  <a:srgbClr val="451A03"/>
                </a:solidFill>
              </a:rPr>
              <a:t>유선 호출 · 변환 연결 필요</a:t>
            </a:r>
            <a:endParaRPr lang="ko-KR" sz="1050"/>
          </a:p>
        </p:txBody>
      </p:sp>
      <p:sp>
        <p:nvSpPr>
          <p:cNvPr id="31" name="TextBox 31"/>
          <p:cNvSpPr txBox="1"/>
          <p:nvPr/>
        </p:nvSpPr>
        <p:spPr>
          <a:xfrm>
            <a:off x="868680" y="4297680"/>
            <a:ext cx="1417320" cy="960120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txBody>
          <a:bodyPr wrap="square" rtlCol="0" anchor="t"/>
          <a:lstStyle/>
          <a:p>
            <a:pPr algn="ctr"/>
            <a:r>
              <a:rPr lang="ko-KR" sz="1250" b="1">
                <a:solidFill>
                  <a:srgbClr val="7C2D12"/>
                </a:solidFill>
              </a:rPr>
              <a:t>Arduino</a:t>
            </a:r>
            <a:endParaRPr lang="ko-KR" sz="1250"/>
          </a:p>
          <a:p>
            <a:pPr algn="ctr"/>
            <a:r>
              <a:rPr lang="ko-KR" sz="1250" b="1">
                <a:solidFill>
                  <a:srgbClr val="7C2D12"/>
                </a:solidFill>
              </a:rPr>
              <a:t>A1/A2/A3</a:t>
            </a:r>
            <a:endParaRPr lang="ko-KR" sz="1250"/>
          </a:p>
        </p:txBody>
      </p:sp>
      <p:sp>
        <p:nvSpPr>
          <p:cNvPr id="32" name="TextBox 32"/>
          <p:cNvSpPr txBox="1"/>
          <p:nvPr/>
        </p:nvSpPr>
        <p:spPr>
          <a:xfrm>
            <a:off x="2304288" y="4608576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800" b="1">
                <a:solidFill>
                  <a:srgbClr val="F59E0B"/>
                </a:solidFill>
              </a:rPr>
              <a:t>→</a:t>
            </a:r>
            <a:endParaRPr lang="ko-KR" sz="1800"/>
          </a:p>
        </p:txBody>
      </p:sp>
      <p:sp>
        <p:nvSpPr>
          <p:cNvPr id="33" name="TextBox 33"/>
          <p:cNvSpPr txBox="1"/>
          <p:nvPr/>
        </p:nvSpPr>
        <p:spPr>
          <a:xfrm>
            <a:off x="2633472" y="4297680"/>
            <a:ext cx="1508760" cy="960120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txBody>
          <a:bodyPr wrap="square" rtlCol="0" anchor="t"/>
          <a:lstStyle/>
          <a:p>
            <a:pPr algn="ctr"/>
            <a:r>
              <a:rPr lang="ko-KR" sz="1200" b="1">
                <a:solidFill>
                  <a:srgbClr val="7C2D12"/>
                </a:solidFill>
              </a:rPr>
              <a:t>50ms</a:t>
            </a:r>
            <a:endParaRPr lang="ko-KR" sz="1200"/>
          </a:p>
          <a:p>
            <a:pPr algn="ctr"/>
            <a:r>
              <a:rPr lang="ko-KR" sz="1200" b="1">
                <a:solidFill>
                  <a:srgbClr val="7C2D12"/>
                </a:solidFill>
              </a:rPr>
              <a:t>debounce</a:t>
            </a:r>
            <a:endParaRPr lang="ko-KR" sz="1200"/>
          </a:p>
        </p:txBody>
      </p:sp>
      <p:sp>
        <p:nvSpPr>
          <p:cNvPr id="34" name="TextBox 34"/>
          <p:cNvSpPr txBox="1"/>
          <p:nvPr/>
        </p:nvSpPr>
        <p:spPr>
          <a:xfrm>
            <a:off x="4160520" y="4608576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800" b="1">
                <a:solidFill>
                  <a:srgbClr val="F59E0B"/>
                </a:solidFill>
              </a:rPr>
              <a:t>→</a:t>
            </a:r>
            <a:endParaRPr lang="ko-KR" sz="1800"/>
          </a:p>
        </p:txBody>
      </p:sp>
      <p:sp>
        <p:nvSpPr>
          <p:cNvPr id="35" name="TextBox 35"/>
          <p:cNvSpPr txBox="1"/>
          <p:nvPr/>
        </p:nvSpPr>
        <p:spPr>
          <a:xfrm>
            <a:off x="4498848" y="4297680"/>
            <a:ext cx="1874519" cy="960120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txBody>
          <a:bodyPr wrap="square" rtlCol="0" anchor="t"/>
          <a:lstStyle/>
          <a:p>
            <a:pPr algn="ctr"/>
            <a:r>
              <a:rPr lang="ko-KR" sz="1250" b="1">
                <a:solidFill>
                  <a:srgbClr val="7C2D12"/>
                </a:solidFill>
              </a:rPr>
              <a:t>Serial BTN:*</a:t>
            </a:r>
            <a:endParaRPr lang="ko-KR" sz="1250"/>
          </a:p>
        </p:txBody>
      </p:sp>
      <p:sp>
        <p:nvSpPr>
          <p:cNvPr id="36" name="TextBox 36"/>
          <p:cNvSpPr txBox="1"/>
          <p:nvPr/>
        </p:nvSpPr>
        <p:spPr>
          <a:xfrm>
            <a:off x="6391656" y="4608576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800" b="1">
                <a:solidFill>
                  <a:srgbClr val="F59E0B"/>
                </a:solidFill>
              </a:rPr>
              <a:t>→</a:t>
            </a:r>
            <a:endParaRPr lang="ko-KR" sz="1800"/>
          </a:p>
        </p:txBody>
      </p:sp>
      <p:sp>
        <p:nvSpPr>
          <p:cNvPr id="37" name="TextBox 37"/>
          <p:cNvSpPr txBox="1"/>
          <p:nvPr/>
        </p:nvSpPr>
        <p:spPr>
          <a:xfrm>
            <a:off x="6729984" y="4297680"/>
            <a:ext cx="1554480" cy="960120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txBody>
          <a:bodyPr wrap="square" rtlCol="0" anchor="t"/>
          <a:lstStyle/>
          <a:p>
            <a:pPr algn="ctr"/>
            <a:r>
              <a:rPr lang="ko-KR" sz="1220" b="1">
                <a:solidFill>
                  <a:srgbClr val="7C2D12"/>
                </a:solidFill>
              </a:rPr>
              <a:t>serial_bridge</a:t>
            </a:r>
            <a:endParaRPr lang="ko-KR" sz="1220"/>
          </a:p>
        </p:txBody>
      </p:sp>
      <p:sp>
        <p:nvSpPr>
          <p:cNvPr id="38" name="TextBox 38"/>
          <p:cNvSpPr txBox="1"/>
          <p:nvPr/>
        </p:nvSpPr>
        <p:spPr>
          <a:xfrm>
            <a:off x="8302752" y="4608576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800" b="1">
                <a:solidFill>
                  <a:srgbClr val="F43F5E"/>
                </a:solidFill>
              </a:rPr>
              <a:t>⇢</a:t>
            </a:r>
            <a:endParaRPr lang="ko-KR" sz="1800"/>
          </a:p>
        </p:txBody>
      </p:sp>
      <p:sp>
        <p:nvSpPr>
          <p:cNvPr id="39" name="TextBox 39"/>
          <p:cNvSpPr txBox="1"/>
          <p:nvPr/>
        </p:nvSpPr>
        <p:spPr>
          <a:xfrm>
            <a:off x="8641080" y="4160520"/>
            <a:ext cx="1481328" cy="1234440"/>
          </a:xfrm>
          <a:prstGeom prst="roundRect">
            <a:avLst/>
          </a:prstGeom>
          <a:solidFill>
            <a:srgbClr val="FEF2F2"/>
          </a:solidFill>
          <a:ln>
            <a:solidFill>
              <a:srgbClr val="FCA5A5"/>
            </a:solidFill>
          </a:ln>
        </p:spPr>
        <p:txBody>
          <a:bodyPr wrap="square" rtlCol="0" anchor="t"/>
          <a:lstStyle/>
          <a:p>
            <a:pPr algn="ctr"/>
            <a:r>
              <a:rPr lang="ko-KR" sz="1110" b="1">
                <a:solidFill>
                  <a:srgbClr val="7F1D1D"/>
                </a:solidFill>
              </a:rPr>
              <a:t>/arduino/button</a:t>
            </a:r>
            <a:endParaRPr lang="ko-KR" sz="1110"/>
          </a:p>
          <a:p>
            <a:pPr algn="ctr"/>
            <a:r>
              <a:rPr lang="ko-KR" sz="1110" b="1">
                <a:solidFill>
                  <a:srgbClr val="7F1D1D"/>
                </a:solidFill>
              </a:rPr>
              <a:t>→ /sos_button</a:t>
            </a:r>
            <a:endParaRPr lang="ko-KR" sz="111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Band"/>
          <p:cNvSpPr/>
          <p:nvPr/>
        </p:nvSpPr>
        <p:spPr>
          <a:xfrm>
            <a:off x="0" y="0"/>
            <a:ext cx="12192000" cy="2377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Accent"/>
          <p:cNvSpPr/>
          <p:nvPr/>
        </p:nvSpPr>
        <p:spPr>
          <a:xfrm>
            <a:off x="822960" y="1572768"/>
            <a:ext cx="196596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Footer Line"/>
          <p:cNvSpPr/>
          <p:nvPr/>
        </p:nvSpPr>
        <p:spPr>
          <a:xfrm>
            <a:off x="822960" y="6062472"/>
            <a:ext cx="9326880" cy="22860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oter"/>
          <p:cNvSpPr txBox="1"/>
          <p:nvPr/>
        </p:nvSpPr>
        <p:spPr>
          <a:xfrm>
            <a:off x="841248" y="5843016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980">
                <a:solidFill>
                  <a:srgbClr val="64748B"/>
                </a:solidFill>
              </a:rPr>
              <a:t>APPENDIX · DISPATCH</a:t>
            </a:r>
            <a:endParaRPr lang="ko-KR" sz="980"/>
          </a:p>
        </p:txBody>
      </p:sp>
      <p:sp>
        <p:nvSpPr>
          <p:cNvPr id="7" name="Page"/>
          <p:cNvSpPr txBox="1"/>
          <p:nvPr/>
        </p:nvSpPr>
        <p:spPr>
          <a:xfrm>
            <a:off x="10012680" y="577900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100" b="1">
                <a:solidFill>
                  <a:srgbClr val="94A3B8"/>
                </a:solidFill>
              </a:rPr>
              <a:t>16</a:t>
            </a:r>
            <a:endParaRPr lang="ko-KR" sz="1100"/>
          </a:p>
        </p:txBody>
      </p:sp>
      <p:sp>
        <p:nvSpPr>
          <p:cNvPr id="10" name="Title"/>
          <p:cNvSpPr txBox="1"/>
          <p:nvPr/>
        </p:nvSpPr>
        <p:spPr>
          <a:xfrm>
            <a:off x="822960" y="64008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3000" b="1">
                <a:solidFill>
                  <a:srgbClr val="0F172A"/>
                </a:solidFill>
              </a:rPr>
              <a:t>부록 A2 · 출동 검증 아키텍처</a:t>
            </a:r>
            <a:endParaRPr lang="ko-KR" sz="3000"/>
          </a:p>
        </p:txBody>
      </p:sp>
      <p:sp>
        <p:nvSpPr>
          <p:cNvPr id="11" name="Subtitle"/>
          <p:cNvSpPr txBox="1"/>
          <p:nvPr/>
        </p:nvSpPr>
        <p:spPr>
          <a:xfrm>
            <a:off x="841248" y="132588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450">
                <a:solidFill>
                  <a:srgbClr val="64748B"/>
                </a:solidFill>
              </a:rPr>
              <a:t>호출을 받았다고 바로 출발하지 않고 네 가지 조건을 순서대로 확인합니다</a:t>
            </a:r>
            <a:endParaRPr lang="ko-KR" sz="1450"/>
          </a:p>
        </p:txBody>
      </p:sp>
      <p:sp>
        <p:nvSpPr>
          <p:cNvPr id="20" name="TextBox 20"/>
          <p:cNvSpPr txBox="1"/>
          <p:nvPr/>
        </p:nvSpPr>
        <p:spPr>
          <a:xfrm>
            <a:off x="868680" y="1828800"/>
            <a:ext cx="1920240" cy="65836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200" b="1">
                <a:solidFill>
                  <a:srgbClr val="FFFFFF"/>
                </a:solidFill>
              </a:rPr>
              <a:t>SOS · String</a:t>
            </a:r>
            <a:endParaRPr lang="ko-KR" sz="1200"/>
          </a:p>
        </p:txBody>
      </p:sp>
      <p:sp>
        <p:nvSpPr>
          <p:cNvPr id="21" name="TextBox 21"/>
          <p:cNvSpPr txBox="1"/>
          <p:nvPr/>
        </p:nvSpPr>
        <p:spPr>
          <a:xfrm>
            <a:off x="2999232" y="1828800"/>
            <a:ext cx="1920240" cy="658368"/>
          </a:xfrm>
          <a:prstGeom prst="roundRect">
            <a:avLst/>
          </a:prstGeom>
          <a:solidFill>
            <a:srgbClr val="DCFCE7"/>
          </a:solidFill>
          <a:ln>
            <a:solidFill>
              <a:srgbClr val="86EFAC"/>
            </a:solidFill>
          </a:ln>
        </p:spPr>
        <p:txBody>
          <a:bodyPr wrap="square" rtlCol="0" anchor="t"/>
          <a:lstStyle/>
          <a:p>
            <a:pPr algn="ctr"/>
            <a:r>
              <a:rPr lang="ko-KR" sz="1200" b="1">
                <a:solidFill>
                  <a:srgbClr val="14532D"/>
                </a:solidFill>
              </a:rPr>
              <a:t>Payload · Bool</a:t>
            </a:r>
            <a:endParaRPr lang="ko-KR" sz="1200"/>
          </a:p>
        </p:txBody>
      </p:sp>
      <p:sp>
        <p:nvSpPr>
          <p:cNvPr id="22" name="TextBox 22"/>
          <p:cNvSpPr txBox="1"/>
          <p:nvPr/>
        </p:nvSpPr>
        <p:spPr>
          <a:xfrm>
            <a:off x="5129784" y="1828800"/>
            <a:ext cx="1920240" cy="658368"/>
          </a:xfrm>
          <a:prstGeom prst="roundRect">
            <a:avLst/>
          </a:prstGeom>
          <a:solidFill>
            <a:srgbClr val="FEF3C7"/>
          </a:solidFill>
          <a:ln>
            <a:solidFill>
              <a:srgbClr val="FCD34D"/>
            </a:solidFill>
          </a:ln>
        </p:spPr>
        <p:txBody>
          <a:bodyPr wrap="square" rtlCol="0" anchor="t"/>
          <a:lstStyle/>
          <a:p>
            <a:pPr algn="ctr"/>
            <a:r>
              <a:rPr lang="ko-KR" sz="1200" b="1">
                <a:solidFill>
                  <a:srgbClr val="78350F"/>
                </a:solidFill>
              </a:rPr>
              <a:t>Battery · String</a:t>
            </a:r>
            <a:endParaRPr lang="ko-KR" sz="1200"/>
          </a:p>
        </p:txBody>
      </p:sp>
      <p:sp>
        <p:nvSpPr>
          <p:cNvPr id="23" name="TextBox 23"/>
          <p:cNvSpPr txBox="1"/>
          <p:nvPr/>
        </p:nvSpPr>
        <p:spPr>
          <a:xfrm>
            <a:off x="7260336" y="1828800"/>
            <a:ext cx="1920240" cy="658368"/>
          </a:xfrm>
          <a:prstGeom prst="roundRect">
            <a:avLst/>
          </a:prstGeom>
          <a:solidFill>
            <a:srgbClr val="EDE9FE"/>
          </a:solidFill>
          <a:ln>
            <a:solidFill>
              <a:srgbClr val="C4B5FD"/>
            </a:solidFill>
          </a:ln>
        </p:spPr>
        <p:txBody>
          <a:bodyPr wrap="square" rtlCol="0" anchor="t"/>
          <a:lstStyle/>
          <a:p>
            <a:pPr algn="ctr"/>
            <a:r>
              <a:rPr lang="ko-KR" sz="1200" b="1">
                <a:solidFill>
                  <a:srgbClr val="4C1D95"/>
                </a:solidFill>
              </a:rPr>
              <a:t>Readiness · String</a:t>
            </a:r>
            <a:endParaRPr lang="ko-KR" sz="1200"/>
          </a:p>
        </p:txBody>
      </p:sp>
      <p:sp>
        <p:nvSpPr>
          <p:cNvPr id="24" name="TextBox 24"/>
          <p:cNvSpPr txBox="1"/>
          <p:nvPr/>
        </p:nvSpPr>
        <p:spPr>
          <a:xfrm>
            <a:off x="4754880" y="2532888"/>
            <a:ext cx="502920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900" b="1">
                <a:solidFill>
                  <a:srgbClr val="F59E0B"/>
                </a:solidFill>
              </a:rPr>
              <a:t>↓</a:t>
            </a:r>
            <a:endParaRPr lang="ko-KR" sz="1900"/>
          </a:p>
        </p:txBody>
      </p:sp>
      <p:sp>
        <p:nvSpPr>
          <p:cNvPr id="25" name="TextBox 25"/>
          <p:cNvSpPr txBox="1"/>
          <p:nvPr/>
        </p:nvSpPr>
        <p:spPr>
          <a:xfrm>
            <a:off x="3703320" y="2852928"/>
            <a:ext cx="2743200" cy="62179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400" b="1">
                <a:solidFill>
                  <a:srgbClr val="FFFFFF"/>
                </a:solidFill>
              </a:rPr>
              <a:t>emergency_dispatcher</a:t>
            </a:r>
            <a:endParaRPr lang="ko-KR" sz="1400"/>
          </a:p>
        </p:txBody>
      </p:sp>
      <p:sp>
        <p:nvSpPr>
          <p:cNvPr id="26" name="TextBox 26"/>
          <p:cNvSpPr txBox="1"/>
          <p:nvPr/>
        </p:nvSpPr>
        <p:spPr>
          <a:xfrm>
            <a:off x="822960" y="3767328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700" b="1">
                <a:solidFill>
                  <a:srgbClr val="F59E0B"/>
                </a:solidFill>
              </a:rPr>
              <a:t>→</a:t>
            </a:r>
            <a:endParaRPr lang="ko-KR" sz="1700"/>
          </a:p>
        </p:txBody>
      </p:sp>
      <p:sp>
        <p:nvSpPr>
          <p:cNvPr id="27" name="TextBox 27"/>
          <p:cNvSpPr txBox="1"/>
          <p:nvPr/>
        </p:nvSpPr>
        <p:spPr>
          <a:xfrm>
            <a:off x="1143000" y="3593592"/>
            <a:ext cx="1828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FCD34D"/>
            </a:solidFill>
          </a:ln>
        </p:spPr>
        <p:txBody>
          <a:bodyPr wrap="square" rtlCol="0" anchor="t"/>
          <a:lstStyle/>
          <a:p>
            <a:pPr algn="ctr"/>
            <a:r>
              <a:rPr lang="ko-KR" sz="1200" b="1">
                <a:solidFill>
                  <a:srgbClr val="78350F"/>
                </a:solidFill>
              </a:rPr>
              <a:t>2초 쿨다운?</a:t>
            </a:r>
            <a:endParaRPr lang="ko-KR" sz="1200"/>
          </a:p>
        </p:txBody>
      </p:sp>
      <p:sp>
        <p:nvSpPr>
          <p:cNvPr id="28" name="TextBox 28"/>
          <p:cNvSpPr txBox="1"/>
          <p:nvPr/>
        </p:nvSpPr>
        <p:spPr>
          <a:xfrm>
            <a:off x="2990088" y="3767328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700" b="1">
                <a:solidFill>
                  <a:srgbClr val="F59E0B"/>
                </a:solidFill>
              </a:rPr>
              <a:t>→</a:t>
            </a:r>
            <a:endParaRPr lang="ko-KR" sz="1700"/>
          </a:p>
        </p:txBody>
      </p:sp>
      <p:sp>
        <p:nvSpPr>
          <p:cNvPr id="29" name="TextBox 29"/>
          <p:cNvSpPr txBox="1"/>
          <p:nvPr/>
        </p:nvSpPr>
        <p:spPr>
          <a:xfrm>
            <a:off x="3319272" y="3593592"/>
            <a:ext cx="1828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FCD34D"/>
            </a:solidFill>
          </a:ln>
        </p:spPr>
        <p:txBody>
          <a:bodyPr wrap="square" rtlCol="0" anchor="t"/>
          <a:lstStyle/>
          <a:p>
            <a:pPr algn="ctr"/>
            <a:r>
              <a:rPr lang="ko-KR" sz="1200" b="1">
                <a:solidFill>
                  <a:srgbClr val="78350F"/>
                </a:solidFill>
              </a:rPr>
              <a:t>AED 적재?</a:t>
            </a:r>
            <a:endParaRPr lang="ko-KR" sz="1200"/>
          </a:p>
        </p:txBody>
      </p:sp>
      <p:sp>
        <p:nvSpPr>
          <p:cNvPr id="30" name="TextBox 30"/>
          <p:cNvSpPr txBox="1"/>
          <p:nvPr/>
        </p:nvSpPr>
        <p:spPr>
          <a:xfrm>
            <a:off x="5166360" y="3767328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700" b="1">
                <a:solidFill>
                  <a:srgbClr val="F59E0B"/>
                </a:solidFill>
              </a:rPr>
              <a:t>→</a:t>
            </a:r>
            <a:endParaRPr lang="ko-KR" sz="1700"/>
          </a:p>
        </p:txBody>
      </p:sp>
      <p:sp>
        <p:nvSpPr>
          <p:cNvPr id="31" name="TextBox 31"/>
          <p:cNvSpPr txBox="1"/>
          <p:nvPr/>
        </p:nvSpPr>
        <p:spPr>
          <a:xfrm>
            <a:off x="5495544" y="3593592"/>
            <a:ext cx="1828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FCD34D"/>
            </a:solidFill>
          </a:ln>
        </p:spPr>
        <p:txBody>
          <a:bodyPr wrap="square" rtlCol="0" anchor="t"/>
          <a:lstStyle/>
          <a:p>
            <a:pPr algn="ctr"/>
            <a:r>
              <a:rPr lang="ko-KR" sz="1200" b="1">
                <a:solidFill>
                  <a:srgbClr val="78350F"/>
                </a:solidFill>
              </a:rPr>
              <a:t>배터리 ≥ 30%?</a:t>
            </a:r>
            <a:endParaRPr lang="ko-KR" sz="1200"/>
          </a:p>
        </p:txBody>
      </p:sp>
      <p:sp>
        <p:nvSpPr>
          <p:cNvPr id="32" name="TextBox 32"/>
          <p:cNvSpPr txBox="1"/>
          <p:nvPr/>
        </p:nvSpPr>
        <p:spPr>
          <a:xfrm>
            <a:off x="7342631" y="3767328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700" b="1">
                <a:solidFill>
                  <a:srgbClr val="F59E0B"/>
                </a:solidFill>
              </a:rPr>
              <a:t>→</a:t>
            </a:r>
            <a:endParaRPr lang="ko-KR" sz="1700"/>
          </a:p>
        </p:txBody>
      </p:sp>
      <p:sp>
        <p:nvSpPr>
          <p:cNvPr id="33" name="TextBox 33"/>
          <p:cNvSpPr txBox="1"/>
          <p:nvPr/>
        </p:nvSpPr>
        <p:spPr>
          <a:xfrm>
            <a:off x="7671816" y="3593592"/>
            <a:ext cx="1828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FCD34D"/>
            </a:solidFill>
          </a:ln>
        </p:spPr>
        <p:txBody>
          <a:bodyPr wrap="square" rtlCol="0" anchor="t"/>
          <a:lstStyle/>
          <a:p>
            <a:pPr algn="ctr"/>
            <a:r>
              <a:rPr lang="ko-KR" sz="1200" b="1">
                <a:solidFill>
                  <a:srgbClr val="78350F"/>
                </a:solidFill>
              </a:rPr>
              <a:t>READY?</a:t>
            </a:r>
            <a:endParaRPr lang="ko-KR" sz="1200"/>
          </a:p>
        </p:txBody>
      </p:sp>
      <p:sp>
        <p:nvSpPr>
          <p:cNvPr id="34" name="TextBox 34"/>
          <p:cNvSpPr txBox="1"/>
          <p:nvPr/>
        </p:nvSpPr>
        <p:spPr>
          <a:xfrm>
            <a:off x="868680" y="4709160"/>
            <a:ext cx="4343400" cy="713232"/>
          </a:xfrm>
          <a:prstGeom prst="roundRect">
            <a:avLst/>
          </a:prstGeom>
          <a:solidFill>
            <a:srgbClr val="FEF2F2"/>
          </a:solidFill>
          <a:ln>
            <a:solidFill>
              <a:srgbClr val="FCA5A5"/>
            </a:solidFill>
          </a:ln>
        </p:spPr>
        <p:txBody>
          <a:bodyPr wrap="square" rtlCol="0" anchor="t"/>
          <a:lstStyle/>
          <a:p>
            <a:pPr algn="ctr"/>
            <a:r>
              <a:rPr lang="ko-KR" sz="1110" b="1">
                <a:solidFill>
                  <a:srgbClr val="7F1D1D"/>
                </a:solidFill>
              </a:rPr>
              <a:t>실패 → dispatch_rejection JSON</a:t>
            </a:r>
            <a:endParaRPr lang="ko-KR" sz="1110"/>
          </a:p>
          <a:p>
            <a:pPr algn="ctr"/>
            <a:r>
              <a:rPr lang="ko-KR" sz="1110" b="1">
                <a:solidFill>
                  <a:srgbClr val="7F1D1D"/>
                </a:solidFill>
              </a:rPr>
              <a:t>COOLDOWN · PAYLOAD · BATTERY · NOT_READY</a:t>
            </a:r>
            <a:endParaRPr lang="ko-KR" sz="1110"/>
          </a:p>
        </p:txBody>
      </p:sp>
      <p:sp>
        <p:nvSpPr>
          <p:cNvPr id="35" name="TextBox 35"/>
          <p:cNvSpPr txBox="1"/>
          <p:nvPr/>
        </p:nvSpPr>
        <p:spPr>
          <a:xfrm>
            <a:off x="5513832" y="4709160"/>
            <a:ext cx="4608576" cy="713232"/>
          </a:xfrm>
          <a:prstGeom prst="roundRect">
            <a:avLst/>
          </a:prstGeom>
          <a:solidFill>
            <a:srgbClr val="F0FDF4"/>
          </a:solidFill>
          <a:ln>
            <a:solidFill>
              <a:srgbClr val="86EFAC"/>
            </a:solidFill>
          </a:ln>
        </p:spPr>
        <p:txBody>
          <a:bodyPr wrap="square" rtlCol="0" anchor="t"/>
          <a:lstStyle/>
          <a:p>
            <a:pPr algn="ctr"/>
            <a:r>
              <a:rPr lang="ko-KR" sz="1160" b="1">
                <a:solidFill>
                  <a:srgbClr val="14532D"/>
                </a:solidFill>
              </a:rPr>
              <a:t>통과 → UUID + dispatch_request JSON</a:t>
            </a:r>
            <a:endParaRPr lang="ko-KR" sz="1160"/>
          </a:p>
          <a:p>
            <a:pPr algn="ctr"/>
            <a:r>
              <a:rPr lang="ko-KR" sz="1160" b="1">
                <a:solidFill>
                  <a:srgbClr val="14532D"/>
                </a:solidFill>
              </a:rPr>
              <a:t>→ GUI MissionRosInterface</a:t>
            </a:r>
            <a:endParaRPr lang="ko-KR" sz="116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Band"/>
          <p:cNvSpPr/>
          <p:nvPr/>
        </p:nvSpPr>
        <p:spPr>
          <a:xfrm>
            <a:off x="0" y="0"/>
            <a:ext cx="12192000" cy="23774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Accent"/>
          <p:cNvSpPr/>
          <p:nvPr/>
        </p:nvSpPr>
        <p:spPr>
          <a:xfrm>
            <a:off x="822960" y="1572768"/>
            <a:ext cx="196596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Footer Line"/>
          <p:cNvSpPr/>
          <p:nvPr/>
        </p:nvSpPr>
        <p:spPr>
          <a:xfrm>
            <a:off x="822960" y="6062472"/>
            <a:ext cx="9326880" cy="22860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oter"/>
          <p:cNvSpPr txBox="1"/>
          <p:nvPr/>
        </p:nvSpPr>
        <p:spPr>
          <a:xfrm>
            <a:off x="841248" y="5843016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980">
                <a:solidFill>
                  <a:srgbClr val="64748B"/>
                </a:solidFill>
              </a:rPr>
              <a:t>APPENDIX · MISSION</a:t>
            </a:r>
            <a:endParaRPr lang="ko-KR" sz="980"/>
          </a:p>
        </p:txBody>
      </p:sp>
      <p:sp>
        <p:nvSpPr>
          <p:cNvPr id="7" name="Page"/>
          <p:cNvSpPr txBox="1"/>
          <p:nvPr/>
        </p:nvSpPr>
        <p:spPr>
          <a:xfrm>
            <a:off x="10012680" y="577900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100" b="1">
                <a:solidFill>
                  <a:srgbClr val="94A3B8"/>
                </a:solidFill>
              </a:rPr>
              <a:t>17</a:t>
            </a:r>
            <a:endParaRPr lang="ko-KR" sz="1100"/>
          </a:p>
        </p:txBody>
      </p:sp>
      <p:sp>
        <p:nvSpPr>
          <p:cNvPr id="10" name="Title"/>
          <p:cNvSpPr txBox="1"/>
          <p:nvPr/>
        </p:nvSpPr>
        <p:spPr>
          <a:xfrm>
            <a:off x="822960" y="64008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3000" b="1">
                <a:solidFill>
                  <a:srgbClr val="0F172A"/>
                </a:solidFill>
              </a:rPr>
              <a:t>부록 A3 · 미션 대기열 아키텍처</a:t>
            </a:r>
            <a:endParaRPr lang="ko-KR" sz="3000"/>
          </a:p>
        </p:txBody>
      </p:sp>
      <p:sp>
        <p:nvSpPr>
          <p:cNvPr id="11" name="Subtitle"/>
          <p:cNvSpPr txBox="1"/>
          <p:nvPr/>
        </p:nvSpPr>
        <p:spPr>
          <a:xfrm>
            <a:off x="841248" y="132588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450">
                <a:solidFill>
                  <a:srgbClr val="64748B"/>
                </a:solidFill>
              </a:rPr>
              <a:t>GUI MissionController 하나가 좌표, 대기열, 상태와 Nav2 goal을 조정합니다</a:t>
            </a:r>
            <a:endParaRPr lang="ko-KR" sz="1450"/>
          </a:p>
        </p:txBody>
      </p:sp>
      <p:sp>
        <p:nvSpPr>
          <p:cNvPr id="20" name="TextBox 20"/>
          <p:cNvSpPr txBox="1"/>
          <p:nvPr/>
        </p:nvSpPr>
        <p:spPr>
          <a:xfrm>
            <a:off x="868680" y="1828800"/>
            <a:ext cx="1828800" cy="914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230" b="1">
                <a:solidFill>
                  <a:srgbClr val="FFFFFF"/>
                </a:solidFill>
              </a:rPr>
              <a:t>dispatch_request</a:t>
            </a:r>
            <a:endParaRPr lang="ko-KR" sz="1230"/>
          </a:p>
          <a:p>
            <a:pPr algn="ctr"/>
            <a:r>
              <a:rPr lang="ko-KR" sz="1230" b="1">
                <a:solidFill>
                  <a:srgbClr val="FFFFFF"/>
                </a:solidFill>
              </a:rPr>
              <a:t>String JSON</a:t>
            </a:r>
            <a:endParaRPr lang="ko-KR" sz="1230"/>
          </a:p>
        </p:txBody>
      </p:sp>
      <p:sp>
        <p:nvSpPr>
          <p:cNvPr id="21" name="TextBox 21"/>
          <p:cNvSpPr txBox="1"/>
          <p:nvPr/>
        </p:nvSpPr>
        <p:spPr>
          <a:xfrm>
            <a:off x="2715768" y="2130552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800" b="1">
                <a:solidFill>
                  <a:srgbClr val="8B5CF6"/>
                </a:solidFill>
              </a:rPr>
              <a:t>→</a:t>
            </a:r>
            <a:endParaRPr lang="ko-KR" sz="1800"/>
          </a:p>
        </p:txBody>
      </p:sp>
      <p:sp>
        <p:nvSpPr>
          <p:cNvPr id="22" name="TextBox 22"/>
          <p:cNvSpPr txBox="1"/>
          <p:nvPr/>
        </p:nvSpPr>
        <p:spPr>
          <a:xfrm>
            <a:off x="3145536" y="1764792"/>
            <a:ext cx="2304288" cy="1051560"/>
          </a:xfrm>
          <a:prstGeom prst="roundRect">
            <a:avLst/>
          </a:prstGeom>
          <a:solidFill>
            <a:srgbClr val="EDE9FE"/>
          </a:solidFill>
          <a:ln>
            <a:solidFill>
              <a:srgbClr val="C4B5FD"/>
            </a:solidFill>
          </a:ln>
        </p:spPr>
        <p:txBody>
          <a:bodyPr wrap="square" rtlCol="0" anchor="t"/>
          <a:lstStyle/>
          <a:p>
            <a:pPr algn="ctr"/>
            <a:r>
              <a:rPr lang="ko-KR" sz="1250" b="1">
                <a:solidFill>
                  <a:srgbClr val="312E81"/>
                </a:solidFill>
              </a:rPr>
              <a:t>MissionRosInterface</a:t>
            </a:r>
            <a:endParaRPr lang="ko-KR" sz="1250"/>
          </a:p>
          <a:p>
            <a:pPr algn="ctr"/>
            <a:r>
              <a:rPr lang="ko-KR" sz="1250" b="1">
                <a:solidFill>
                  <a:srgbClr val="312E81"/>
                </a:solidFill>
              </a:rPr>
              <a:t>JSON → Qt signal</a:t>
            </a:r>
            <a:endParaRPr lang="ko-KR" sz="1250"/>
          </a:p>
        </p:txBody>
      </p:sp>
      <p:sp>
        <p:nvSpPr>
          <p:cNvPr id="23" name="TextBox 23"/>
          <p:cNvSpPr txBox="1"/>
          <p:nvPr/>
        </p:nvSpPr>
        <p:spPr>
          <a:xfrm>
            <a:off x="5468112" y="2130552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800" b="1">
                <a:solidFill>
                  <a:srgbClr val="8B5CF6"/>
                </a:solidFill>
              </a:rPr>
              <a:t>→</a:t>
            </a:r>
            <a:endParaRPr lang="ko-KR" sz="1800"/>
          </a:p>
        </p:txBody>
      </p:sp>
      <p:sp>
        <p:nvSpPr>
          <p:cNvPr id="24" name="TextBox 24"/>
          <p:cNvSpPr txBox="1"/>
          <p:nvPr/>
        </p:nvSpPr>
        <p:spPr>
          <a:xfrm>
            <a:off x="5897880" y="1645920"/>
            <a:ext cx="2788920" cy="129844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500" b="1">
                <a:solidFill>
                  <a:srgbClr val="FFFFFF"/>
                </a:solidFill>
              </a:rPr>
              <a:t>MissionController</a:t>
            </a:r>
            <a:endParaRPr lang="ko-KR" sz="1500"/>
          </a:p>
          <a:p>
            <a:pPr algn="ctr"/>
            <a:r>
              <a:rPr lang="ko-KR" sz="1500" b="1">
                <a:solidFill>
                  <a:srgbClr val="FFFFFF"/>
                </a:solidFill>
              </a:rPr>
              <a:t>단일 조정자</a:t>
            </a:r>
            <a:endParaRPr lang="ko-KR" sz="1500"/>
          </a:p>
        </p:txBody>
      </p:sp>
      <p:sp>
        <p:nvSpPr>
          <p:cNvPr id="25" name="TextBox 25"/>
          <p:cNvSpPr txBox="1"/>
          <p:nvPr/>
        </p:nvSpPr>
        <p:spPr>
          <a:xfrm>
            <a:off x="8915400" y="1764792"/>
            <a:ext cx="120700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4B5FD"/>
            </a:solidFill>
          </a:ln>
        </p:spPr>
        <p:txBody>
          <a:bodyPr wrap="square" rtlCol="0" anchor="t"/>
          <a:lstStyle/>
          <a:p>
            <a:pPr algn="ctr"/>
            <a:r>
              <a:rPr lang="ko-KR" sz="1160" b="1">
                <a:solidFill>
                  <a:srgbClr val="4C1D95"/>
                </a:solidFill>
              </a:rPr>
              <a:t>DB 좌표</a:t>
            </a:r>
            <a:endParaRPr lang="ko-KR" sz="1160"/>
          </a:p>
          <a:p>
            <a:pPr algn="ctr"/>
            <a:r>
              <a:rPr lang="ko-KR" sz="1160" b="1">
                <a:solidFill>
                  <a:srgbClr val="4C1D95"/>
                </a:solidFill>
              </a:rPr>
              <a:t>BTN_01</a:t>
            </a:r>
            <a:endParaRPr lang="ko-KR" sz="1160"/>
          </a:p>
        </p:txBody>
      </p:sp>
      <p:sp>
        <p:nvSpPr>
          <p:cNvPr id="26" name="TextBox 26"/>
          <p:cNvSpPr txBox="1"/>
          <p:nvPr/>
        </p:nvSpPr>
        <p:spPr>
          <a:xfrm>
            <a:off x="8668512" y="2130552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600" b="1">
                <a:solidFill>
                  <a:srgbClr val="8B5CF6"/>
                </a:solidFill>
              </a:rPr>
              <a:t>↔</a:t>
            </a:r>
            <a:endParaRPr lang="ko-KR" sz="1600"/>
          </a:p>
        </p:txBody>
      </p:sp>
      <p:sp>
        <p:nvSpPr>
          <p:cNvPr id="27" name="TextBox 27"/>
          <p:cNvSpPr txBox="1"/>
          <p:nvPr/>
        </p:nvSpPr>
        <p:spPr>
          <a:xfrm>
            <a:off x="868680" y="3419856"/>
            <a:ext cx="2057400" cy="960120"/>
          </a:xfrm>
          <a:prstGeom prst="roundRect">
            <a:avLst/>
          </a:prstGeom>
          <a:solidFill>
            <a:srgbClr val="ECFEFF"/>
          </a:solidFill>
          <a:ln>
            <a:solidFill>
              <a:srgbClr val="67E8F9"/>
            </a:solidFill>
          </a:ln>
        </p:spPr>
        <p:txBody>
          <a:bodyPr wrap="square" rtlCol="0" anchor="t"/>
          <a:lstStyle/>
          <a:p>
            <a:pPr algn="ctr"/>
            <a:r>
              <a:rPr lang="ko-KR" sz="1210" b="1">
                <a:solidFill>
                  <a:srgbClr val="164E63"/>
                </a:solidFill>
              </a:rPr>
              <a:t>동일 waypoint?</a:t>
            </a:r>
            <a:endParaRPr lang="ko-KR" sz="1210"/>
          </a:p>
          <a:p>
            <a:pPr algn="ctr"/>
            <a:r>
              <a:rPr lang="ko-KR" sz="1210" b="1">
                <a:solidFill>
                  <a:srgbClr val="164E63"/>
                </a:solidFill>
              </a:rPr>
              <a:t>중복 무시</a:t>
            </a:r>
            <a:endParaRPr lang="ko-KR" sz="1210"/>
          </a:p>
        </p:txBody>
      </p:sp>
      <p:sp>
        <p:nvSpPr>
          <p:cNvPr id="28" name="TextBox 28"/>
          <p:cNvSpPr txBox="1"/>
          <p:nvPr/>
        </p:nvSpPr>
        <p:spPr>
          <a:xfrm>
            <a:off x="2944368" y="3730752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750" b="1">
                <a:solidFill>
                  <a:srgbClr val="8B5CF6"/>
                </a:solidFill>
              </a:rPr>
              <a:t>→</a:t>
            </a:r>
            <a:endParaRPr lang="ko-KR" sz="1750"/>
          </a:p>
        </p:txBody>
      </p:sp>
      <p:sp>
        <p:nvSpPr>
          <p:cNvPr id="29" name="TextBox 29"/>
          <p:cNvSpPr txBox="1"/>
          <p:nvPr/>
        </p:nvSpPr>
        <p:spPr>
          <a:xfrm>
            <a:off x="3273552" y="3419856"/>
            <a:ext cx="2057400" cy="960120"/>
          </a:xfrm>
          <a:prstGeom prst="roundRect">
            <a:avLst/>
          </a:prstGeom>
          <a:solidFill>
            <a:srgbClr val="EDE9FE"/>
          </a:solidFill>
          <a:ln>
            <a:solidFill>
              <a:srgbClr val="C4B5FD"/>
            </a:solidFill>
          </a:ln>
        </p:spPr>
        <p:txBody>
          <a:bodyPr wrap="square" rtlCol="0" anchor="t"/>
          <a:lstStyle/>
          <a:p>
            <a:pPr algn="ctr"/>
            <a:r>
              <a:rPr lang="ko-KR" sz="1210" b="1">
                <a:solidFill>
                  <a:srgbClr val="312E81"/>
                </a:solidFill>
              </a:rPr>
              <a:t>Waiting Queue</a:t>
            </a:r>
            <a:endParaRPr lang="ko-KR" sz="1210"/>
          </a:p>
          <a:p>
            <a:pPr algn="ctr"/>
            <a:r>
              <a:rPr lang="ko-KR" sz="1210" b="1">
                <a:solidFill>
                  <a:srgbClr val="312E81"/>
                </a:solidFill>
              </a:rPr>
              <a:t>순서·상태 저장</a:t>
            </a:r>
            <a:endParaRPr lang="ko-KR" sz="1210"/>
          </a:p>
        </p:txBody>
      </p:sp>
      <p:sp>
        <p:nvSpPr>
          <p:cNvPr id="30" name="TextBox 30"/>
          <p:cNvSpPr txBox="1"/>
          <p:nvPr/>
        </p:nvSpPr>
        <p:spPr>
          <a:xfrm>
            <a:off x="5349240" y="3730752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750" b="1">
                <a:solidFill>
                  <a:srgbClr val="8B5CF6"/>
                </a:solidFill>
              </a:rPr>
              <a:t>→</a:t>
            </a:r>
            <a:endParaRPr lang="ko-KR" sz="1750"/>
          </a:p>
        </p:txBody>
      </p:sp>
      <p:sp>
        <p:nvSpPr>
          <p:cNvPr id="31" name="TextBox 31"/>
          <p:cNvSpPr txBox="1"/>
          <p:nvPr/>
        </p:nvSpPr>
        <p:spPr>
          <a:xfrm>
            <a:off x="5678424" y="3419856"/>
            <a:ext cx="2057400" cy="960120"/>
          </a:xfrm>
          <a:prstGeom prst="roundRect">
            <a:avLst/>
          </a:prstGeom>
          <a:solidFill>
            <a:srgbClr val="F0FDF4"/>
          </a:solidFill>
          <a:ln>
            <a:solidFill>
              <a:srgbClr val="86EFAC"/>
            </a:solidFill>
          </a:ln>
        </p:spPr>
        <p:txBody>
          <a:bodyPr wrap="square" rtlCol="0" anchor="t"/>
          <a:lstStyle/>
          <a:p>
            <a:pPr algn="ctr"/>
            <a:r>
              <a:rPr lang="ko-KR" sz="1210" b="1">
                <a:solidFill>
                  <a:srgbClr val="14532D"/>
                </a:solidFill>
              </a:rPr>
              <a:t>Idle이면 시작</a:t>
            </a:r>
            <a:endParaRPr lang="ko-KR" sz="1210"/>
          </a:p>
          <a:p>
            <a:pPr algn="ctr"/>
            <a:r>
              <a:rPr lang="ko-KR" sz="1210" b="1">
                <a:solidFill>
                  <a:srgbClr val="14532D"/>
                </a:solidFill>
              </a:rPr>
              <a:t>Starting</a:t>
            </a:r>
            <a:endParaRPr lang="ko-KR" sz="1210"/>
          </a:p>
        </p:txBody>
      </p:sp>
      <p:sp>
        <p:nvSpPr>
          <p:cNvPr id="32" name="TextBox 32"/>
          <p:cNvSpPr txBox="1"/>
          <p:nvPr/>
        </p:nvSpPr>
        <p:spPr>
          <a:xfrm>
            <a:off x="7754112" y="3730752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750" b="1">
                <a:solidFill>
                  <a:srgbClr val="8B5CF6"/>
                </a:solidFill>
              </a:rPr>
              <a:t>→</a:t>
            </a:r>
            <a:endParaRPr lang="ko-KR" sz="1750"/>
          </a:p>
        </p:txBody>
      </p:sp>
      <p:sp>
        <p:nvSpPr>
          <p:cNvPr id="33" name="TextBox 33"/>
          <p:cNvSpPr txBox="1"/>
          <p:nvPr/>
        </p:nvSpPr>
        <p:spPr>
          <a:xfrm>
            <a:off x="8083296" y="3419856"/>
            <a:ext cx="2039112" cy="96012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210" b="1">
                <a:solidFill>
                  <a:srgbClr val="FFFFFF"/>
                </a:solidFill>
              </a:rPr>
              <a:t>Nav2 Action</a:t>
            </a:r>
            <a:endParaRPr lang="ko-KR" sz="1210"/>
          </a:p>
          <a:p>
            <a:pPr algn="ctr"/>
            <a:r>
              <a:rPr lang="ko-KR" sz="1210" b="1">
                <a:solidFill>
                  <a:srgbClr val="FFFFFF"/>
                </a:solidFill>
              </a:rPr>
              <a:t>Navigating</a:t>
            </a:r>
            <a:endParaRPr lang="ko-KR" sz="1210"/>
          </a:p>
        </p:txBody>
      </p:sp>
      <p:sp>
        <p:nvSpPr>
          <p:cNvPr id="34" name="TextBox 34"/>
          <p:cNvSpPr txBox="1"/>
          <p:nvPr/>
        </p:nvSpPr>
        <p:spPr>
          <a:xfrm>
            <a:off x="868680" y="4828032"/>
            <a:ext cx="9253728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rtlCol="0" anchor="t"/>
          <a:lstStyle/>
          <a:p>
            <a:pPr algn="ctr"/>
            <a:r>
              <a:rPr lang="ko-KR" sz="1170" b="1">
                <a:solidFill>
                  <a:srgbClr val="334155"/>
                </a:solidFill>
              </a:rPr>
              <a:t>상태 분기  |  Completed · Cancelling · Diverting · ReturningHome · Failed  → DB 이력</a:t>
            </a:r>
            <a:endParaRPr lang="ko-KR" sz="117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Band"/>
          <p:cNvSpPr/>
          <p:nvPr/>
        </p:nvSpPr>
        <p:spPr>
          <a:xfrm>
            <a:off x="0" y="0"/>
            <a:ext cx="12192000" cy="237744"/>
          </a:xfrm>
          <a:prstGeom prst="rect">
            <a:avLst/>
          </a:prstGeom>
          <a:solidFill>
            <a:srgbClr val="22C7D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Accent"/>
          <p:cNvSpPr/>
          <p:nvPr/>
        </p:nvSpPr>
        <p:spPr>
          <a:xfrm>
            <a:off x="822960" y="1572768"/>
            <a:ext cx="1965960" cy="73152"/>
          </a:xfrm>
          <a:prstGeom prst="rect">
            <a:avLst/>
          </a:prstGeom>
          <a:solidFill>
            <a:srgbClr val="22C7DF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Footer Line"/>
          <p:cNvSpPr/>
          <p:nvPr/>
        </p:nvSpPr>
        <p:spPr>
          <a:xfrm>
            <a:off x="822960" y="6062472"/>
            <a:ext cx="9326880" cy="22860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oter"/>
          <p:cNvSpPr txBox="1"/>
          <p:nvPr/>
        </p:nvSpPr>
        <p:spPr>
          <a:xfrm>
            <a:off x="841248" y="5843016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980">
                <a:solidFill>
                  <a:srgbClr val="64748B"/>
                </a:solidFill>
              </a:rPr>
              <a:t>APPENDIX · GUI</a:t>
            </a:r>
            <a:endParaRPr lang="ko-KR" sz="980"/>
          </a:p>
        </p:txBody>
      </p:sp>
      <p:sp>
        <p:nvSpPr>
          <p:cNvPr id="7" name="Page"/>
          <p:cNvSpPr txBox="1"/>
          <p:nvPr/>
        </p:nvSpPr>
        <p:spPr>
          <a:xfrm>
            <a:off x="10012680" y="577900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100" b="1">
                <a:solidFill>
                  <a:srgbClr val="94A3B8"/>
                </a:solidFill>
              </a:rPr>
              <a:t>18</a:t>
            </a:r>
            <a:endParaRPr lang="ko-KR" sz="1100"/>
          </a:p>
        </p:txBody>
      </p:sp>
      <p:sp>
        <p:nvSpPr>
          <p:cNvPr id="10" name="Title"/>
          <p:cNvSpPr txBox="1"/>
          <p:nvPr/>
        </p:nvSpPr>
        <p:spPr>
          <a:xfrm>
            <a:off x="822960" y="64008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3000" b="1">
                <a:solidFill>
                  <a:srgbClr val="0F172A"/>
                </a:solidFill>
              </a:rPr>
              <a:t>부록 A4 · GUI 내부 계층 아키텍처</a:t>
            </a:r>
            <a:endParaRPr lang="ko-KR" sz="3000"/>
          </a:p>
        </p:txBody>
      </p:sp>
      <p:sp>
        <p:nvSpPr>
          <p:cNvPr id="11" name="Subtitle"/>
          <p:cNvSpPr txBox="1"/>
          <p:nvPr/>
        </p:nvSpPr>
        <p:spPr>
          <a:xfrm>
            <a:off x="841248" y="132588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450">
                <a:solidFill>
                  <a:srgbClr val="64748B"/>
                </a:solidFill>
              </a:rPr>
              <a:t>화면과 ROS 2·DB를 직접 섞지 않고 Controller와 Service 계층으로 분리합니다</a:t>
            </a:r>
            <a:endParaRPr lang="ko-KR" sz="1450"/>
          </a:p>
        </p:txBody>
      </p:sp>
      <p:sp>
        <p:nvSpPr>
          <p:cNvPr id="20" name="TextBox 20"/>
          <p:cNvSpPr txBox="1"/>
          <p:nvPr/>
        </p:nvSpPr>
        <p:spPr>
          <a:xfrm>
            <a:off x="868680" y="1783080"/>
            <a:ext cx="9253728" cy="329184"/>
          </a:xfrm>
          <a:prstGeom prst="roundRect">
            <a:avLst/>
          </a:prstGeom>
          <a:solidFill>
            <a:srgbClr val="22C7DF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050" b="1">
                <a:solidFill>
                  <a:srgbClr val="071827"/>
                </a:solidFill>
              </a:rPr>
              <a:t>Qt Widgets · 사용자 화면</a:t>
            </a:r>
            <a:endParaRPr lang="ko-KR" sz="1050"/>
          </a:p>
        </p:txBody>
      </p:sp>
      <p:sp>
        <p:nvSpPr>
          <p:cNvPr id="21" name="TextBox 21"/>
          <p:cNvSpPr txBox="1"/>
          <p:nvPr/>
        </p:nvSpPr>
        <p:spPr>
          <a:xfrm>
            <a:off x="868680" y="2212848"/>
            <a:ext cx="9253728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A5F3FC"/>
            </a:solidFill>
          </a:ln>
        </p:spPr>
        <p:txBody>
          <a:bodyPr wrap="square" rtlCol="0" anchor="t"/>
          <a:lstStyle/>
          <a:p>
            <a:pPr algn="ctr"/>
            <a:r>
              <a:rPr lang="ko-KR" sz="1170" b="1">
                <a:solidFill>
                  <a:srgbClr val="0F172A"/>
                </a:solidFill>
              </a:rPr>
              <a:t>로그인  |  운영 현황  |  실시간 관제  |  미션 관제  |  원격 제어  |  SLAM  |  웨이포인트  |  관리</a:t>
            </a:r>
            <a:endParaRPr lang="ko-KR" sz="1170"/>
          </a:p>
        </p:txBody>
      </p:sp>
      <p:sp>
        <p:nvSpPr>
          <p:cNvPr id="22" name="TextBox 22"/>
          <p:cNvSpPr txBox="1"/>
          <p:nvPr/>
        </p:nvSpPr>
        <p:spPr>
          <a:xfrm>
            <a:off x="5166360" y="290779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900" b="1">
                <a:solidFill>
                  <a:srgbClr val="22C7DF"/>
                </a:solidFill>
              </a:rPr>
              <a:t>↓</a:t>
            </a:r>
            <a:endParaRPr lang="ko-KR" sz="1900"/>
          </a:p>
        </p:txBody>
      </p:sp>
      <p:sp>
        <p:nvSpPr>
          <p:cNvPr id="23" name="TextBox 23"/>
          <p:cNvSpPr txBox="1"/>
          <p:nvPr/>
        </p:nvSpPr>
        <p:spPr>
          <a:xfrm>
            <a:off x="868680" y="3200400"/>
            <a:ext cx="9253728" cy="658368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230" b="1">
                <a:solidFill>
                  <a:srgbClr val="FFFFFF"/>
                </a:solidFill>
              </a:rPr>
              <a:t>DashboardCentralWidget · GuiApplicationController · MissionController · TeleopController</a:t>
            </a:r>
            <a:endParaRPr lang="ko-KR" sz="1230"/>
          </a:p>
        </p:txBody>
      </p:sp>
      <p:sp>
        <p:nvSpPr>
          <p:cNvPr id="24" name="TextBox 24"/>
          <p:cNvSpPr txBox="1"/>
          <p:nvPr/>
        </p:nvSpPr>
        <p:spPr>
          <a:xfrm>
            <a:off x="5166360" y="3904487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900" b="1">
                <a:solidFill>
                  <a:srgbClr val="22C7DF"/>
                </a:solidFill>
              </a:rPr>
              <a:t>↓</a:t>
            </a:r>
            <a:endParaRPr lang="ko-KR" sz="1900"/>
          </a:p>
        </p:txBody>
      </p:sp>
      <p:sp>
        <p:nvSpPr>
          <p:cNvPr id="25" name="TextBox 25"/>
          <p:cNvSpPr txBox="1"/>
          <p:nvPr/>
        </p:nvSpPr>
        <p:spPr>
          <a:xfrm>
            <a:off x="868680" y="4187952"/>
            <a:ext cx="448056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7DD3FC"/>
            </a:solidFill>
          </a:ln>
        </p:spPr>
        <p:txBody>
          <a:bodyPr wrap="square" rtlCol="0" anchor="t"/>
          <a:lstStyle/>
          <a:p>
            <a:pPr algn="ctr"/>
            <a:r>
              <a:rPr lang="ko-KR" sz="1190" b="1">
                <a:solidFill>
                  <a:srgbClr val="0C4A6E"/>
                </a:solidFill>
              </a:rPr>
              <a:t>ROS Service 계층</a:t>
            </a:r>
            <a:endParaRPr lang="ko-KR" sz="1190"/>
          </a:p>
          <a:p>
            <a:pPr algn="ctr"/>
            <a:r>
              <a:rPr lang="ko-KR" sz="1190" b="1">
                <a:solidFill>
                  <a:srgbClr val="0C4A6E"/>
                </a:solidFill>
              </a:rPr>
              <a:t>Nav2 · Mission · Camera · Battery · Sensor</a:t>
            </a:r>
            <a:endParaRPr lang="ko-KR" sz="1190"/>
          </a:p>
        </p:txBody>
      </p:sp>
      <p:sp>
        <p:nvSpPr>
          <p:cNvPr id="26" name="TextBox 26"/>
          <p:cNvSpPr txBox="1"/>
          <p:nvPr/>
        </p:nvSpPr>
        <p:spPr>
          <a:xfrm>
            <a:off x="5641848" y="4187952"/>
            <a:ext cx="448056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C4B5FD"/>
            </a:solidFill>
          </a:ln>
        </p:spPr>
        <p:txBody>
          <a:bodyPr wrap="square" rtlCol="0" anchor="t"/>
          <a:lstStyle/>
          <a:p>
            <a:pPr algn="ctr"/>
            <a:r>
              <a:rPr lang="ko-KR" sz="1190" b="1">
                <a:solidFill>
                  <a:srgbClr val="4C1D95"/>
                </a:solidFill>
              </a:rPr>
              <a:t>DB Service 계층</a:t>
            </a:r>
            <a:endParaRPr lang="ko-KR" sz="1190"/>
          </a:p>
          <a:p>
            <a:pPr algn="ctr"/>
            <a:r>
              <a:rPr lang="ko-KR" sz="1190" b="1">
                <a:solidFill>
                  <a:srgbClr val="4C1D95"/>
                </a:solidFill>
              </a:rPr>
              <a:t>Auth · Robot · MissionStorage · Operations · Record</a:t>
            </a:r>
            <a:endParaRPr lang="ko-KR" sz="1190"/>
          </a:p>
        </p:txBody>
      </p:sp>
      <p:sp>
        <p:nvSpPr>
          <p:cNvPr id="27" name="TextBox 27"/>
          <p:cNvSpPr txBox="1"/>
          <p:nvPr/>
        </p:nvSpPr>
        <p:spPr>
          <a:xfrm>
            <a:off x="868680" y="5239512"/>
            <a:ext cx="4480560" cy="4114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070" b="1">
                <a:solidFill>
                  <a:srgbClr val="FFFFFF"/>
                </a:solidFill>
              </a:rPr>
              <a:t>ROS 2 Graph · 별도 executor thread</a:t>
            </a:r>
            <a:endParaRPr lang="ko-KR" sz="1070"/>
          </a:p>
        </p:txBody>
      </p:sp>
      <p:sp>
        <p:nvSpPr>
          <p:cNvPr id="28" name="TextBox 28"/>
          <p:cNvSpPr txBox="1"/>
          <p:nvPr/>
        </p:nvSpPr>
        <p:spPr>
          <a:xfrm>
            <a:off x="5641848" y="5239512"/>
            <a:ext cx="4480560" cy="41148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070" b="1">
                <a:solidFill>
                  <a:srgbClr val="FFFFFF"/>
                </a:solidFill>
              </a:rPr>
              <a:t>PostgreSQL · Qt SQL</a:t>
            </a:r>
            <a:endParaRPr lang="ko-KR" sz="107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9F3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Band"/>
          <p:cNvSpPr/>
          <p:nvPr/>
        </p:nvSpPr>
        <p:spPr>
          <a:xfrm>
            <a:off x="0" y="0"/>
            <a:ext cx="12192000" cy="2377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Accent"/>
          <p:cNvSpPr/>
          <p:nvPr/>
        </p:nvSpPr>
        <p:spPr>
          <a:xfrm>
            <a:off x="822960" y="1572768"/>
            <a:ext cx="196596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Footer Line"/>
          <p:cNvSpPr/>
          <p:nvPr/>
        </p:nvSpPr>
        <p:spPr>
          <a:xfrm>
            <a:off x="822960" y="6062472"/>
            <a:ext cx="9326880" cy="22860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oter"/>
          <p:cNvSpPr txBox="1"/>
          <p:nvPr/>
        </p:nvSpPr>
        <p:spPr>
          <a:xfrm>
            <a:off x="841248" y="5843016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980">
                <a:solidFill>
                  <a:srgbClr val="64748B"/>
                </a:solidFill>
              </a:rPr>
              <a:t>APPENDIX · ARDUINO</a:t>
            </a:r>
            <a:endParaRPr lang="ko-KR" sz="980"/>
          </a:p>
        </p:txBody>
      </p:sp>
      <p:sp>
        <p:nvSpPr>
          <p:cNvPr id="7" name="Page"/>
          <p:cNvSpPr txBox="1"/>
          <p:nvPr/>
        </p:nvSpPr>
        <p:spPr>
          <a:xfrm>
            <a:off x="10012680" y="577900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100" b="1">
                <a:solidFill>
                  <a:srgbClr val="94A3B8"/>
                </a:solidFill>
              </a:rPr>
              <a:t>19</a:t>
            </a:r>
            <a:endParaRPr lang="ko-KR" sz="1100"/>
          </a:p>
        </p:txBody>
      </p:sp>
      <p:sp>
        <p:nvSpPr>
          <p:cNvPr id="10" name="Title"/>
          <p:cNvSpPr txBox="1"/>
          <p:nvPr/>
        </p:nvSpPr>
        <p:spPr>
          <a:xfrm>
            <a:off x="822960" y="64008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3000" b="1">
                <a:solidFill>
                  <a:srgbClr val="0F172A"/>
                </a:solidFill>
              </a:rPr>
              <a:t>부록 A5 · Arduino 센서·출력 아키텍처</a:t>
            </a:r>
            <a:endParaRPr lang="ko-KR" sz="3000"/>
          </a:p>
        </p:txBody>
      </p:sp>
      <p:sp>
        <p:nvSpPr>
          <p:cNvPr id="11" name="Subtitle"/>
          <p:cNvSpPr txBox="1"/>
          <p:nvPr/>
        </p:nvSpPr>
        <p:spPr>
          <a:xfrm>
            <a:off x="841248" y="132588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450">
                <a:solidFill>
                  <a:srgbClr val="64748B"/>
                </a:solidFill>
              </a:rPr>
              <a:t>센서 입력은 펌웨어에서 필터링된 뒤 Pi serial_bridge가 typed topic으로 변환합니다</a:t>
            </a:r>
            <a:endParaRPr lang="ko-KR" sz="1450"/>
          </a:p>
        </p:txBody>
      </p:sp>
      <p:sp>
        <p:nvSpPr>
          <p:cNvPr id="20" name="TextBox 20"/>
          <p:cNvSpPr txBox="1"/>
          <p:nvPr/>
        </p:nvSpPr>
        <p:spPr>
          <a:xfrm>
            <a:off x="685800" y="1828800"/>
            <a:ext cx="1600200" cy="822960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txBody>
          <a:bodyPr wrap="square" rtlCol="0" anchor="t"/>
          <a:lstStyle/>
          <a:p>
            <a:pPr algn="ctr"/>
            <a:r>
              <a:rPr lang="ko-KR" sz="1200" b="1">
                <a:solidFill>
                  <a:srgbClr val="7C2D12"/>
                </a:solidFill>
              </a:rPr>
              <a:t>전·후방</a:t>
            </a:r>
            <a:endParaRPr lang="ko-KR" sz="1200"/>
          </a:p>
          <a:p>
            <a:pPr algn="ctr"/>
            <a:r>
              <a:rPr lang="ko-KR" sz="1200" b="1">
                <a:solidFill>
                  <a:srgbClr val="7C2D12"/>
                </a:solidFill>
              </a:rPr>
              <a:t>초음파</a:t>
            </a:r>
            <a:endParaRPr lang="ko-KR" sz="1200"/>
          </a:p>
        </p:txBody>
      </p:sp>
      <p:sp>
        <p:nvSpPr>
          <p:cNvPr id="21" name="TextBox 21"/>
          <p:cNvSpPr txBox="1"/>
          <p:nvPr/>
        </p:nvSpPr>
        <p:spPr>
          <a:xfrm>
            <a:off x="2441448" y="1828800"/>
            <a:ext cx="1600200" cy="822960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txBody>
          <a:bodyPr wrap="square" rtlCol="0" anchor="t"/>
          <a:lstStyle/>
          <a:p>
            <a:pPr algn="ctr"/>
            <a:r>
              <a:rPr lang="ko-KR" sz="1200" b="1">
                <a:solidFill>
                  <a:srgbClr val="7C2D12"/>
                </a:solidFill>
              </a:rPr>
              <a:t>홀 센서</a:t>
            </a:r>
            <a:endParaRPr lang="ko-KR" sz="1200"/>
          </a:p>
          <a:p>
            <a:pPr algn="ctr"/>
            <a:r>
              <a:rPr lang="ko-KR" sz="1200" b="1">
                <a:solidFill>
                  <a:srgbClr val="7C2D12"/>
                </a:solidFill>
              </a:rPr>
              <a:t>AED 적재</a:t>
            </a:r>
            <a:endParaRPr lang="ko-KR" sz="1200"/>
          </a:p>
        </p:txBody>
      </p:sp>
      <p:sp>
        <p:nvSpPr>
          <p:cNvPr id="22" name="TextBox 22"/>
          <p:cNvSpPr txBox="1"/>
          <p:nvPr/>
        </p:nvSpPr>
        <p:spPr>
          <a:xfrm>
            <a:off x="4197096" y="1828800"/>
            <a:ext cx="1600200" cy="822960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txBody>
          <a:bodyPr wrap="square" rtlCol="0" anchor="t"/>
          <a:lstStyle/>
          <a:p>
            <a:pPr algn="ctr"/>
            <a:r>
              <a:rPr lang="ko-KR" sz="1200" b="1">
                <a:solidFill>
                  <a:srgbClr val="7C2D12"/>
                </a:solidFill>
              </a:rPr>
              <a:t>버튼</a:t>
            </a:r>
            <a:endParaRPr lang="ko-KR" sz="1200"/>
          </a:p>
          <a:p>
            <a:pPr algn="ctr"/>
            <a:r>
              <a:rPr lang="ko-KR" sz="1200" b="1">
                <a:solidFill>
                  <a:srgbClr val="7C2D12"/>
                </a:solidFill>
              </a:rPr>
              <a:t>A1/A2/A3</a:t>
            </a:r>
            <a:endParaRPr lang="ko-KR" sz="1200"/>
          </a:p>
        </p:txBody>
      </p:sp>
      <p:sp>
        <p:nvSpPr>
          <p:cNvPr id="23" name="TextBox 23"/>
          <p:cNvSpPr txBox="1"/>
          <p:nvPr/>
        </p:nvSpPr>
        <p:spPr>
          <a:xfrm>
            <a:off x="5952744" y="1828800"/>
            <a:ext cx="1600200" cy="822960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txBody>
          <a:bodyPr wrap="square" rtlCol="0" anchor="t"/>
          <a:lstStyle/>
          <a:p>
            <a:pPr algn="ctr"/>
            <a:r>
              <a:rPr lang="ko-KR" sz="1200" b="1">
                <a:solidFill>
                  <a:srgbClr val="7C2D12"/>
                </a:solidFill>
              </a:rPr>
              <a:t>RGB LED</a:t>
            </a:r>
            <a:endParaRPr lang="ko-KR" sz="1200"/>
          </a:p>
          <a:p>
            <a:pPr algn="ctr"/>
            <a:r>
              <a:rPr lang="ko-KR" sz="1200" b="1">
                <a:solidFill>
                  <a:srgbClr val="7C2D12"/>
                </a:solidFill>
              </a:rPr>
              <a:t>명령 출력</a:t>
            </a:r>
            <a:endParaRPr lang="ko-KR" sz="1200"/>
          </a:p>
        </p:txBody>
      </p:sp>
      <p:sp>
        <p:nvSpPr>
          <p:cNvPr id="24" name="TextBox 24"/>
          <p:cNvSpPr txBox="1"/>
          <p:nvPr/>
        </p:nvSpPr>
        <p:spPr>
          <a:xfrm>
            <a:off x="7708392" y="1828800"/>
            <a:ext cx="1828800" cy="822960"/>
          </a:xfrm>
          <a:prstGeom prst="roundRect">
            <a:avLst/>
          </a:prstGeom>
          <a:solidFill>
            <a:srgbClr val="FEF3C7"/>
          </a:solidFill>
          <a:ln>
            <a:solidFill>
              <a:srgbClr val="FCD34D"/>
            </a:solidFill>
          </a:ln>
        </p:spPr>
        <p:txBody>
          <a:bodyPr wrap="square" rtlCol="0" anchor="t"/>
          <a:lstStyle/>
          <a:p>
            <a:pPr algn="ctr"/>
            <a:r>
              <a:rPr lang="ko-KR" sz="1120" b="1">
                <a:solidFill>
                  <a:srgbClr val="78350F"/>
                </a:solidFill>
              </a:rPr>
              <a:t>100ms / debounce</a:t>
            </a:r>
            <a:endParaRPr lang="ko-KR" sz="1120"/>
          </a:p>
          <a:p>
            <a:pPr algn="ctr"/>
            <a:r>
              <a:rPr lang="ko-KR" sz="1120" b="1">
                <a:solidFill>
                  <a:srgbClr val="78350F"/>
                </a:solidFill>
              </a:rPr>
              <a:t>중앙값 3개</a:t>
            </a:r>
            <a:endParaRPr lang="ko-KR" sz="1120"/>
          </a:p>
        </p:txBody>
      </p:sp>
      <p:sp>
        <p:nvSpPr>
          <p:cNvPr id="25" name="TextBox 25"/>
          <p:cNvSpPr txBox="1"/>
          <p:nvPr/>
        </p:nvSpPr>
        <p:spPr>
          <a:xfrm>
            <a:off x="4983480" y="2688336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900" b="1">
                <a:solidFill>
                  <a:srgbClr val="F59E0B"/>
                </a:solidFill>
              </a:rPr>
              <a:t>↓</a:t>
            </a:r>
            <a:endParaRPr lang="ko-KR" sz="1900"/>
          </a:p>
        </p:txBody>
      </p:sp>
      <p:sp>
        <p:nvSpPr>
          <p:cNvPr id="26" name="TextBox 26"/>
          <p:cNvSpPr txBox="1"/>
          <p:nvPr/>
        </p:nvSpPr>
        <p:spPr>
          <a:xfrm>
            <a:off x="2971800" y="2999232"/>
            <a:ext cx="4846320" cy="7315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320" b="1">
                <a:solidFill>
                  <a:srgbClr val="FFFFFF"/>
                </a:solidFill>
              </a:rPr>
              <a:t>all_in_one_module.ino  →  USB Serial 9600</a:t>
            </a:r>
            <a:endParaRPr lang="ko-KR" sz="1320"/>
          </a:p>
        </p:txBody>
      </p:sp>
      <p:sp>
        <p:nvSpPr>
          <p:cNvPr id="27" name="TextBox 27"/>
          <p:cNvSpPr txBox="1"/>
          <p:nvPr/>
        </p:nvSpPr>
        <p:spPr>
          <a:xfrm>
            <a:off x="4983480" y="377647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900" b="1">
                <a:solidFill>
                  <a:srgbClr val="F59E0B"/>
                </a:solidFill>
              </a:rPr>
              <a:t>↓</a:t>
            </a:r>
            <a:endParaRPr lang="ko-KR" sz="1900"/>
          </a:p>
        </p:txBody>
      </p:sp>
      <p:sp>
        <p:nvSpPr>
          <p:cNvPr id="28" name="TextBox 28"/>
          <p:cNvSpPr txBox="1"/>
          <p:nvPr/>
        </p:nvSpPr>
        <p:spPr>
          <a:xfrm>
            <a:off x="3822191" y="4096512"/>
            <a:ext cx="3154680" cy="658368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280" b="1">
                <a:solidFill>
                  <a:srgbClr val="FFFFFF"/>
                </a:solidFill>
              </a:rPr>
              <a:t>Raspberry Pi · serial_bridge</a:t>
            </a:r>
            <a:endParaRPr lang="ko-KR" sz="1280"/>
          </a:p>
        </p:txBody>
      </p:sp>
      <p:sp>
        <p:nvSpPr>
          <p:cNvPr id="29" name="TextBox 29"/>
          <p:cNvSpPr txBox="1"/>
          <p:nvPr/>
        </p:nvSpPr>
        <p:spPr>
          <a:xfrm>
            <a:off x="1325880" y="495604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700" b="1">
                <a:solidFill>
                  <a:srgbClr val="14B8A6"/>
                </a:solidFill>
              </a:rPr>
              <a:t>↓</a:t>
            </a:r>
            <a:endParaRPr lang="ko-KR" sz="1700"/>
          </a:p>
        </p:txBody>
      </p:sp>
      <p:sp>
        <p:nvSpPr>
          <p:cNvPr id="30" name="TextBox 30"/>
          <p:cNvSpPr txBox="1"/>
          <p:nvPr/>
        </p:nvSpPr>
        <p:spPr>
          <a:xfrm>
            <a:off x="3703320" y="495604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700" b="1">
                <a:solidFill>
                  <a:srgbClr val="14B8A6"/>
                </a:solidFill>
              </a:rPr>
              <a:t>↓</a:t>
            </a:r>
            <a:endParaRPr lang="ko-KR" sz="1700"/>
          </a:p>
        </p:txBody>
      </p:sp>
      <p:sp>
        <p:nvSpPr>
          <p:cNvPr id="31" name="TextBox 31"/>
          <p:cNvSpPr txBox="1"/>
          <p:nvPr/>
        </p:nvSpPr>
        <p:spPr>
          <a:xfrm>
            <a:off x="6080760" y="495604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700" b="1">
                <a:solidFill>
                  <a:srgbClr val="14B8A6"/>
                </a:solidFill>
              </a:rPr>
              <a:t>↓</a:t>
            </a:r>
            <a:endParaRPr lang="ko-KR" sz="1700"/>
          </a:p>
        </p:txBody>
      </p:sp>
      <p:sp>
        <p:nvSpPr>
          <p:cNvPr id="32" name="TextBox 32"/>
          <p:cNvSpPr txBox="1"/>
          <p:nvPr/>
        </p:nvSpPr>
        <p:spPr>
          <a:xfrm>
            <a:off x="8458200" y="495604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700" b="1">
                <a:solidFill>
                  <a:srgbClr val="14B8A6"/>
                </a:solidFill>
              </a:rPr>
              <a:t>↑</a:t>
            </a:r>
            <a:endParaRPr lang="ko-KR" sz="1700"/>
          </a:p>
        </p:txBody>
      </p:sp>
      <p:sp>
        <p:nvSpPr>
          <p:cNvPr id="33" name="TextBox 33"/>
          <p:cNvSpPr txBox="1"/>
          <p:nvPr/>
        </p:nvSpPr>
        <p:spPr>
          <a:xfrm>
            <a:off x="685800" y="5230368"/>
            <a:ext cx="2057400" cy="429768"/>
          </a:xfrm>
          <a:prstGeom prst="roundRect">
            <a:avLst/>
          </a:prstGeom>
          <a:solidFill>
            <a:srgbClr val="ECFEFF"/>
          </a:solidFill>
          <a:ln>
            <a:solidFill>
              <a:srgbClr val="67E8F9"/>
            </a:solidFill>
          </a:ln>
        </p:spPr>
        <p:txBody>
          <a:bodyPr wrap="square" rtlCol="0" anchor="t"/>
          <a:lstStyle/>
          <a:p>
            <a:pPr algn="ctr"/>
            <a:r>
              <a:rPr lang="ko-KR" sz="1030" b="1">
                <a:solidFill>
                  <a:srgbClr val="0C4A6E"/>
                </a:solidFill>
              </a:rPr>
              <a:t>distance · Int32</a:t>
            </a:r>
            <a:endParaRPr lang="ko-KR" sz="1030"/>
          </a:p>
        </p:txBody>
      </p:sp>
      <p:sp>
        <p:nvSpPr>
          <p:cNvPr id="34" name="TextBox 34"/>
          <p:cNvSpPr txBox="1"/>
          <p:nvPr/>
        </p:nvSpPr>
        <p:spPr>
          <a:xfrm>
            <a:off x="3063240" y="5230368"/>
            <a:ext cx="2057400" cy="429768"/>
          </a:xfrm>
          <a:prstGeom prst="roundRect">
            <a:avLst/>
          </a:prstGeom>
          <a:solidFill>
            <a:srgbClr val="F0FDF4"/>
          </a:solidFill>
          <a:ln>
            <a:solidFill>
              <a:srgbClr val="86EFAC"/>
            </a:solidFill>
          </a:ln>
        </p:spPr>
        <p:txBody>
          <a:bodyPr wrap="square" rtlCol="0" anchor="t"/>
          <a:lstStyle/>
          <a:p>
            <a:pPr algn="ctr"/>
            <a:r>
              <a:rPr lang="ko-KR" sz="1030" b="1">
                <a:solidFill>
                  <a:srgbClr val="14532D"/>
                </a:solidFill>
              </a:rPr>
              <a:t>payload · Bool</a:t>
            </a:r>
            <a:endParaRPr lang="ko-KR" sz="1030"/>
          </a:p>
        </p:txBody>
      </p:sp>
      <p:sp>
        <p:nvSpPr>
          <p:cNvPr id="35" name="TextBox 35"/>
          <p:cNvSpPr txBox="1"/>
          <p:nvPr/>
        </p:nvSpPr>
        <p:spPr>
          <a:xfrm>
            <a:off x="5440680" y="5230368"/>
            <a:ext cx="2057400" cy="429768"/>
          </a:xfrm>
          <a:prstGeom prst="roundRect">
            <a:avLst/>
          </a:prstGeom>
          <a:solidFill>
            <a:srgbClr val="F5F3FF"/>
          </a:solidFill>
          <a:ln>
            <a:solidFill>
              <a:srgbClr val="C4B5FD"/>
            </a:solidFill>
          </a:ln>
        </p:spPr>
        <p:txBody>
          <a:bodyPr wrap="square" rtlCol="0" anchor="t"/>
          <a:lstStyle/>
          <a:p>
            <a:pPr algn="ctr"/>
            <a:r>
              <a:rPr lang="ko-KR" sz="1030" b="1">
                <a:solidFill>
                  <a:srgbClr val="4C1D95"/>
                </a:solidFill>
              </a:rPr>
              <a:t>button · String</a:t>
            </a:r>
            <a:endParaRPr lang="ko-KR" sz="1030"/>
          </a:p>
        </p:txBody>
      </p:sp>
      <p:sp>
        <p:nvSpPr>
          <p:cNvPr id="36" name="TextBox 36"/>
          <p:cNvSpPr txBox="1"/>
          <p:nvPr/>
        </p:nvSpPr>
        <p:spPr>
          <a:xfrm>
            <a:off x="7818120" y="5230368"/>
            <a:ext cx="2057400" cy="429768"/>
          </a:xfrm>
          <a:prstGeom prst="roundRect">
            <a:avLst/>
          </a:prstGeom>
          <a:solidFill>
            <a:srgbClr val="FEF3C7"/>
          </a:solidFill>
          <a:ln>
            <a:solidFill>
              <a:srgbClr val="FCD34D"/>
            </a:solidFill>
          </a:ln>
        </p:spPr>
        <p:txBody>
          <a:bodyPr wrap="square" rtlCol="0" anchor="t"/>
          <a:lstStyle/>
          <a:p>
            <a:pPr algn="ctr"/>
            <a:r>
              <a:rPr lang="ko-KR" sz="1010" b="1">
                <a:solidFill>
                  <a:srgbClr val="78350F"/>
                </a:solidFill>
              </a:rPr>
              <a:t>LED / buzzer command</a:t>
            </a:r>
            <a:endParaRPr lang="ko-KR" sz="101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Band"/>
          <p:cNvSpPr/>
          <p:nvPr/>
        </p:nvSpPr>
        <p:spPr>
          <a:xfrm>
            <a:off x="0" y="0"/>
            <a:ext cx="12192000" cy="23774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Accent"/>
          <p:cNvSpPr/>
          <p:nvPr/>
        </p:nvSpPr>
        <p:spPr>
          <a:xfrm>
            <a:off x="822960" y="1572768"/>
            <a:ext cx="1965960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Footer Line"/>
          <p:cNvSpPr/>
          <p:nvPr/>
        </p:nvSpPr>
        <p:spPr>
          <a:xfrm>
            <a:off x="822960" y="6062472"/>
            <a:ext cx="9326880" cy="22860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oter"/>
          <p:cNvSpPr txBox="1"/>
          <p:nvPr/>
        </p:nvSpPr>
        <p:spPr>
          <a:xfrm>
            <a:off x="841248" y="5843016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980">
                <a:solidFill>
                  <a:srgbClr val="64748B"/>
                </a:solidFill>
              </a:rPr>
              <a:t>APPENDIX · SAFETY</a:t>
            </a:r>
            <a:endParaRPr lang="ko-KR" sz="980"/>
          </a:p>
        </p:txBody>
      </p:sp>
      <p:sp>
        <p:nvSpPr>
          <p:cNvPr id="7" name="Page"/>
          <p:cNvSpPr txBox="1"/>
          <p:nvPr/>
        </p:nvSpPr>
        <p:spPr>
          <a:xfrm>
            <a:off x="10012680" y="577900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100" b="1">
                <a:solidFill>
                  <a:srgbClr val="94A3B8"/>
                </a:solidFill>
              </a:rPr>
              <a:t>20</a:t>
            </a:r>
            <a:endParaRPr lang="ko-KR" sz="1100"/>
          </a:p>
        </p:txBody>
      </p:sp>
      <p:sp>
        <p:nvSpPr>
          <p:cNvPr id="10" name="Title"/>
          <p:cNvSpPr txBox="1"/>
          <p:nvPr/>
        </p:nvSpPr>
        <p:spPr>
          <a:xfrm>
            <a:off x="822960" y="64008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3000" b="1">
                <a:solidFill>
                  <a:srgbClr val="0F172A"/>
                </a:solidFill>
              </a:rPr>
              <a:t>부록 A6 · 자율주행 안전 게이트</a:t>
            </a:r>
            <a:endParaRPr lang="ko-KR" sz="3000"/>
          </a:p>
        </p:txBody>
      </p:sp>
      <p:sp>
        <p:nvSpPr>
          <p:cNvPr id="11" name="Subtitle"/>
          <p:cNvSpPr txBox="1"/>
          <p:nvPr/>
        </p:nvSpPr>
        <p:spPr>
          <a:xfrm>
            <a:off x="841248" y="132588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450">
                <a:solidFill>
                  <a:srgbClr val="64748B"/>
                </a:solidFill>
              </a:rPr>
              <a:t>속도 방향과 전·후방 거리를 함께 보고 정지 또는 통과를 결정합니다</a:t>
            </a:r>
            <a:endParaRPr lang="ko-KR" sz="1450"/>
          </a:p>
        </p:txBody>
      </p:sp>
      <p:sp>
        <p:nvSpPr>
          <p:cNvPr id="20" name="TextBox 20"/>
          <p:cNvSpPr txBox="1"/>
          <p:nvPr/>
        </p:nvSpPr>
        <p:spPr>
          <a:xfrm>
            <a:off x="868680" y="1828800"/>
            <a:ext cx="2103120" cy="9601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130" b="1">
                <a:solidFill>
                  <a:srgbClr val="FFFFFF"/>
                </a:solidFill>
              </a:rPr>
              <a:t>Nav2 smoother +</a:t>
            </a:r>
            <a:endParaRPr lang="ko-KR" sz="1130"/>
          </a:p>
          <a:p>
            <a:pPr algn="ctr"/>
            <a:r>
              <a:rPr lang="ko-KR" sz="1130" b="1">
                <a:solidFill>
                  <a:srgbClr val="FFFFFF"/>
                </a:solidFill>
              </a:rPr>
              <a:t>BackUp / Spin</a:t>
            </a:r>
            <a:endParaRPr lang="ko-KR" sz="1130"/>
          </a:p>
          <a:p>
            <a:pPr algn="ctr"/>
            <a:r>
              <a:rPr lang="ko-KR" sz="1130" b="1">
                <a:solidFill>
                  <a:srgbClr val="FFFFFF"/>
                </a:solidFill>
              </a:rPr>
              <a:t>cmd_vel_raw · Twist</a:t>
            </a:r>
            <a:endParaRPr lang="ko-KR" sz="1130"/>
          </a:p>
        </p:txBody>
      </p:sp>
      <p:sp>
        <p:nvSpPr>
          <p:cNvPr id="21" name="TextBox 21"/>
          <p:cNvSpPr txBox="1"/>
          <p:nvPr/>
        </p:nvSpPr>
        <p:spPr>
          <a:xfrm>
            <a:off x="868680" y="3154680"/>
            <a:ext cx="2103120" cy="749808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txBody>
          <a:bodyPr wrap="square" rtlCol="0" anchor="t"/>
          <a:lstStyle/>
          <a:p>
            <a:pPr algn="ctr"/>
            <a:r>
              <a:rPr lang="ko-KR" sz="1150" b="1">
                <a:solidFill>
                  <a:srgbClr val="7C2D12"/>
                </a:solidFill>
              </a:rPr>
              <a:t>front · Int32</a:t>
            </a:r>
            <a:endParaRPr lang="ko-KR" sz="1150"/>
          </a:p>
        </p:txBody>
      </p:sp>
      <p:sp>
        <p:nvSpPr>
          <p:cNvPr id="22" name="TextBox 22"/>
          <p:cNvSpPr txBox="1"/>
          <p:nvPr/>
        </p:nvSpPr>
        <p:spPr>
          <a:xfrm>
            <a:off x="868680" y="4160520"/>
            <a:ext cx="2103120" cy="749808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txBody>
          <a:bodyPr wrap="square" rtlCol="0" anchor="t"/>
          <a:lstStyle/>
          <a:p>
            <a:pPr algn="ctr"/>
            <a:r>
              <a:rPr lang="ko-KR" sz="1150" b="1">
                <a:solidFill>
                  <a:srgbClr val="7C2D12"/>
                </a:solidFill>
              </a:rPr>
              <a:t>rear · Int32</a:t>
            </a:r>
            <a:endParaRPr lang="ko-KR" sz="1150"/>
          </a:p>
        </p:txBody>
      </p:sp>
      <p:sp>
        <p:nvSpPr>
          <p:cNvPr id="23" name="TextBox 23"/>
          <p:cNvSpPr txBox="1"/>
          <p:nvPr/>
        </p:nvSpPr>
        <p:spPr>
          <a:xfrm>
            <a:off x="2990088" y="3154680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2000" b="1">
                <a:solidFill>
                  <a:srgbClr val="F43F5E"/>
                </a:solidFill>
              </a:rPr>
              <a:t>→</a:t>
            </a:r>
            <a:endParaRPr lang="ko-KR" sz="2000"/>
          </a:p>
        </p:txBody>
      </p:sp>
      <p:sp>
        <p:nvSpPr>
          <p:cNvPr id="24" name="TextBox 24"/>
          <p:cNvSpPr txBox="1"/>
          <p:nvPr/>
        </p:nvSpPr>
        <p:spPr>
          <a:xfrm>
            <a:off x="3511296" y="2331720"/>
            <a:ext cx="2971800" cy="2377440"/>
          </a:xfrm>
          <a:prstGeom prst="roundRect">
            <a:avLst/>
          </a:prstGeom>
          <a:solidFill>
            <a:srgbClr val="FEF2F2"/>
          </a:solidFill>
          <a:ln>
            <a:solidFill>
              <a:srgbClr val="FCA5A5"/>
            </a:solidFill>
          </a:ln>
        </p:spPr>
        <p:txBody>
          <a:bodyPr wrap="square" rtlCol="0" anchor="t"/>
          <a:lstStyle/>
          <a:p>
            <a:pPr algn="ctr"/>
            <a:r>
              <a:rPr lang="ko-KR" sz="1180" b="1">
                <a:solidFill>
                  <a:srgbClr val="7F1D1D"/>
                </a:solidFill>
              </a:rPr>
              <a:t>ultrasonic_safety_stop</a:t>
            </a:r>
            <a:endParaRPr lang="ko-KR" sz="1180"/>
          </a:p>
          <a:p>
            <a:pPr algn="ctr"/>
            <a:r>
              <a:rPr lang="ko-KR" sz="1180" b="1">
                <a:solidFill>
                  <a:srgbClr val="7F1D1D"/>
                </a:solidFill>
              </a:rPr>
              <a:t/>
            </a:r>
            <a:endParaRPr lang="ko-KR" sz="1180"/>
          </a:p>
          <a:p>
            <a:pPr algn="ctr"/>
            <a:r>
              <a:rPr lang="ko-KR" sz="1180" b="1">
                <a:solidFill>
                  <a:srgbClr val="7F1D1D"/>
                </a:solidFill>
              </a:rPr>
              <a:t>전진 + front ≤ 15cm?</a:t>
            </a:r>
            <a:endParaRPr lang="ko-KR" sz="1180"/>
          </a:p>
          <a:p>
            <a:pPr algn="ctr"/>
            <a:r>
              <a:rPr lang="ko-KR" sz="1180" b="1">
                <a:solidFill>
                  <a:srgbClr val="7F1D1D"/>
                </a:solidFill>
              </a:rPr>
              <a:t>후진 + rear ≤ 15cm?</a:t>
            </a:r>
            <a:endParaRPr lang="ko-KR" sz="1180"/>
          </a:p>
          <a:p>
            <a:pPr algn="ctr"/>
            <a:r>
              <a:rPr lang="ko-KR" sz="1180" b="1">
                <a:solidFill>
                  <a:srgbClr val="7F1D1D"/>
                </a:solidFill>
              </a:rPr>
              <a:t>회전 + 둘 중 하나 ≤ 15cm?</a:t>
            </a:r>
            <a:endParaRPr lang="ko-KR" sz="1180"/>
          </a:p>
          <a:p>
            <a:pPr algn="ctr"/>
            <a:r>
              <a:rPr lang="ko-KR" sz="1180" b="1">
                <a:solidFill>
                  <a:srgbClr val="7F1D1D"/>
                </a:solidFill>
              </a:rPr>
              <a:t/>
            </a:r>
            <a:endParaRPr lang="ko-KR" sz="1180"/>
          </a:p>
          <a:p>
            <a:pPr algn="ctr"/>
            <a:r>
              <a:rPr lang="ko-KR" sz="1180" b="1">
                <a:solidFill>
                  <a:srgbClr val="7F1D1D"/>
                </a:solidFill>
              </a:rPr>
              <a:t>위험: linear.x / angular.z = 0</a:t>
            </a:r>
            <a:endParaRPr lang="ko-KR" sz="1180"/>
          </a:p>
        </p:txBody>
      </p:sp>
      <p:sp>
        <p:nvSpPr>
          <p:cNvPr id="25" name="TextBox 25"/>
          <p:cNvSpPr txBox="1"/>
          <p:nvPr/>
        </p:nvSpPr>
        <p:spPr>
          <a:xfrm>
            <a:off x="6501384" y="3154680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2000" b="1">
                <a:solidFill>
                  <a:srgbClr val="F43F5E"/>
                </a:solidFill>
              </a:rPr>
              <a:t>→</a:t>
            </a:r>
            <a:endParaRPr lang="ko-KR" sz="2000"/>
          </a:p>
        </p:txBody>
      </p:sp>
      <p:sp>
        <p:nvSpPr>
          <p:cNvPr id="26" name="TextBox 26"/>
          <p:cNvSpPr txBox="1"/>
          <p:nvPr/>
        </p:nvSpPr>
        <p:spPr>
          <a:xfrm>
            <a:off x="7022592" y="2377440"/>
            <a:ext cx="3099816" cy="1188720"/>
          </a:xfrm>
          <a:prstGeom prst="roundRect">
            <a:avLst/>
          </a:prstGeom>
          <a:solidFill>
            <a:srgbClr val="F0FDF4"/>
          </a:solidFill>
          <a:ln>
            <a:solidFill>
              <a:srgbClr val="86EFAC"/>
            </a:solidFill>
          </a:ln>
        </p:spPr>
        <p:txBody>
          <a:bodyPr wrap="square" rtlCol="0" anchor="t"/>
          <a:lstStyle/>
          <a:p>
            <a:pPr algn="ctr"/>
            <a:r>
              <a:rPr lang="ko-KR" sz="1370" b="1">
                <a:solidFill>
                  <a:srgbClr val="14532D"/>
                </a:solidFill>
              </a:rPr>
              <a:t>안전</a:t>
            </a:r>
            <a:endParaRPr lang="ko-KR" sz="1370"/>
          </a:p>
          <a:p>
            <a:pPr algn="ctr"/>
            <a:r>
              <a:rPr lang="ko-KR" sz="1370" b="1">
                <a:solidFill>
                  <a:srgbClr val="14532D"/>
                </a:solidFill>
              </a:rPr>
              <a:t>원래 Twist 통과</a:t>
            </a:r>
            <a:endParaRPr lang="ko-KR" sz="1370"/>
          </a:p>
        </p:txBody>
      </p:sp>
      <p:sp>
        <p:nvSpPr>
          <p:cNvPr id="27" name="TextBox 27"/>
          <p:cNvSpPr txBox="1"/>
          <p:nvPr/>
        </p:nvSpPr>
        <p:spPr>
          <a:xfrm>
            <a:off x="7022592" y="3822191"/>
            <a:ext cx="3099816" cy="1188720"/>
          </a:xfrm>
          <a:prstGeom prst="roundRect">
            <a:avLst/>
          </a:prstGeom>
          <a:solidFill>
            <a:srgbClr val="FEF2F2"/>
          </a:solidFill>
          <a:ln>
            <a:solidFill>
              <a:srgbClr val="FCA5A5"/>
            </a:solidFill>
          </a:ln>
        </p:spPr>
        <p:txBody>
          <a:bodyPr wrap="square" rtlCol="0" anchor="t"/>
          <a:lstStyle/>
          <a:p>
            <a:pPr algn="ctr"/>
            <a:r>
              <a:rPr lang="ko-KR" sz="1370" b="1">
                <a:solidFill>
                  <a:srgbClr val="7F1D1D"/>
                </a:solidFill>
              </a:rPr>
              <a:t>위험</a:t>
            </a:r>
            <a:endParaRPr lang="ko-KR" sz="1370"/>
          </a:p>
          <a:p>
            <a:pPr algn="ctr"/>
            <a:r>
              <a:rPr lang="ko-KR" sz="1370" b="1">
                <a:solidFill>
                  <a:srgbClr val="7F1D1D"/>
                </a:solidFill>
              </a:rPr>
              <a:t>15cm 초과까지 정지</a:t>
            </a:r>
            <a:endParaRPr lang="ko-KR" sz="1370"/>
          </a:p>
        </p:txBody>
      </p:sp>
      <p:sp>
        <p:nvSpPr>
          <p:cNvPr id="28" name="TextBox 28"/>
          <p:cNvSpPr txBox="1"/>
          <p:nvPr/>
        </p:nvSpPr>
        <p:spPr>
          <a:xfrm>
            <a:off x="3511296" y="5166360"/>
            <a:ext cx="6611112" cy="329184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050" b="1">
                <a:solidFill>
                  <a:srgbClr val="FFFFFF"/>
                </a:solidFill>
              </a:rPr>
              <a:t>최종 /cmd_vel → TurtleBot3 · 현재 GUI/PS4 teleop은 gate 우회</a:t>
            </a:r>
            <a:endParaRPr lang="ko-KR" sz="105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Band"/>
          <p:cNvSpPr/>
          <p:nvPr/>
        </p:nvSpPr>
        <p:spPr>
          <a:xfrm>
            <a:off x="0" y="0"/>
            <a:ext cx="12192000" cy="237744"/>
          </a:xfrm>
          <a:prstGeom prst="rect">
            <a:avLst/>
          </a:prstGeom>
          <a:solidFill>
            <a:srgbClr val="22C7D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Accent"/>
          <p:cNvSpPr/>
          <p:nvPr/>
        </p:nvSpPr>
        <p:spPr>
          <a:xfrm>
            <a:off x="822960" y="1572768"/>
            <a:ext cx="1965960" cy="73152"/>
          </a:xfrm>
          <a:prstGeom prst="rect">
            <a:avLst/>
          </a:prstGeom>
          <a:solidFill>
            <a:srgbClr val="22C7DF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Footer Line"/>
          <p:cNvSpPr/>
          <p:nvPr/>
        </p:nvSpPr>
        <p:spPr>
          <a:xfrm>
            <a:off x="822960" y="6062472"/>
            <a:ext cx="9326880" cy="22860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oter"/>
          <p:cNvSpPr txBox="1"/>
          <p:nvPr/>
        </p:nvSpPr>
        <p:spPr>
          <a:xfrm>
            <a:off x="841248" y="5843016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980">
                <a:solidFill>
                  <a:srgbClr val="64748B"/>
                </a:solidFill>
              </a:rPr>
              <a:t>APPENDIX · SLAM</a:t>
            </a:r>
            <a:endParaRPr lang="ko-KR" sz="980"/>
          </a:p>
        </p:txBody>
      </p:sp>
      <p:sp>
        <p:nvSpPr>
          <p:cNvPr id="7" name="Page"/>
          <p:cNvSpPr txBox="1"/>
          <p:nvPr/>
        </p:nvSpPr>
        <p:spPr>
          <a:xfrm>
            <a:off x="10012680" y="577900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100" b="1">
                <a:solidFill>
                  <a:srgbClr val="94A3B8"/>
                </a:solidFill>
              </a:rPr>
              <a:t>21</a:t>
            </a:r>
            <a:endParaRPr lang="ko-KR" sz="1100"/>
          </a:p>
        </p:txBody>
      </p:sp>
      <p:sp>
        <p:nvSpPr>
          <p:cNvPr id="10" name="Title"/>
          <p:cNvSpPr txBox="1"/>
          <p:nvPr/>
        </p:nvSpPr>
        <p:spPr>
          <a:xfrm>
            <a:off x="822960" y="64008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3000" b="1">
                <a:solidFill>
                  <a:srgbClr val="0F172A"/>
                </a:solidFill>
              </a:rPr>
              <a:t>부록 A7 · SLAM·웨이포인트 아키텍처</a:t>
            </a:r>
            <a:endParaRPr lang="ko-KR" sz="3000"/>
          </a:p>
        </p:txBody>
      </p:sp>
      <p:sp>
        <p:nvSpPr>
          <p:cNvPr id="11" name="Subtitle"/>
          <p:cNvSpPr txBox="1"/>
          <p:nvPr/>
        </p:nvSpPr>
        <p:spPr>
          <a:xfrm>
            <a:off x="841248" y="132588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450">
                <a:solidFill>
                  <a:srgbClr val="64748B"/>
                </a:solidFill>
              </a:rPr>
              <a:t>센서 준비와 TF 충돌을 확인하고 새 지도를 저장한 뒤 목적지 좌표로 사용합니다</a:t>
            </a:r>
            <a:endParaRPr lang="ko-KR" sz="1450"/>
          </a:p>
        </p:txBody>
      </p:sp>
      <p:sp>
        <p:nvSpPr>
          <p:cNvPr id="20" name="TextBox 20"/>
          <p:cNvSpPr txBox="1"/>
          <p:nvPr/>
        </p:nvSpPr>
        <p:spPr>
          <a:xfrm>
            <a:off x="548640" y="1993392"/>
            <a:ext cx="1536192" cy="102412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180" b="1">
                <a:solidFill>
                  <a:srgbClr val="FFFFFF"/>
                </a:solidFill>
              </a:rPr>
              <a:t>/scan</a:t>
            </a:r>
            <a:endParaRPr lang="ko-KR" sz="1180"/>
          </a:p>
          <a:p>
            <a:pPr algn="ctr"/>
            <a:r>
              <a:rPr lang="ko-KR" sz="1180" b="1">
                <a:solidFill>
                  <a:srgbClr val="FFFFFF"/>
                </a:solidFill>
              </a:rPr>
              <a:t>/odom</a:t>
            </a:r>
            <a:endParaRPr lang="ko-KR" sz="1180"/>
          </a:p>
          <a:p>
            <a:pPr algn="ctr"/>
            <a:r>
              <a:rPr lang="ko-KR" sz="1180" b="1">
                <a:solidFill>
                  <a:srgbClr val="FFFFFF"/>
                </a:solidFill>
              </a:rPr>
              <a:t>/tf · tf_static</a:t>
            </a:r>
            <a:endParaRPr lang="ko-KR" sz="1180"/>
          </a:p>
        </p:txBody>
      </p:sp>
      <p:sp>
        <p:nvSpPr>
          <p:cNvPr id="21" name="TextBox 21"/>
          <p:cNvSpPr txBox="1"/>
          <p:nvPr/>
        </p:nvSpPr>
        <p:spPr>
          <a:xfrm>
            <a:off x="2103120" y="235915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800" b="1">
                <a:solidFill>
                  <a:srgbClr val="22C7DF"/>
                </a:solidFill>
              </a:rPr>
              <a:t>→</a:t>
            </a:r>
            <a:endParaRPr lang="ko-KR" sz="1800"/>
          </a:p>
        </p:txBody>
      </p:sp>
      <p:sp>
        <p:nvSpPr>
          <p:cNvPr id="22" name="TextBox 22"/>
          <p:cNvSpPr txBox="1"/>
          <p:nvPr/>
        </p:nvSpPr>
        <p:spPr>
          <a:xfrm>
            <a:off x="2487168" y="1993392"/>
            <a:ext cx="1554480" cy="1024128"/>
          </a:xfrm>
          <a:prstGeom prst="roundRect">
            <a:avLst/>
          </a:prstGeom>
          <a:solidFill>
            <a:srgbClr val="E0F2FE"/>
          </a:solidFill>
          <a:ln>
            <a:solidFill>
              <a:srgbClr val="7DD3FC"/>
            </a:solidFill>
          </a:ln>
        </p:spPr>
        <p:txBody>
          <a:bodyPr wrap="square" rtlCol="0" anchor="t"/>
          <a:lstStyle/>
          <a:p>
            <a:pPr algn="ctr"/>
            <a:r>
              <a:rPr lang="ko-KR" sz="1210" b="1">
                <a:solidFill>
                  <a:srgbClr val="0C4A6E"/>
                </a:solidFill>
              </a:rPr>
              <a:t>센서 health</a:t>
            </a:r>
            <a:endParaRPr lang="ko-KR" sz="1210"/>
          </a:p>
          <a:p>
            <a:pPr algn="ctr"/>
            <a:r>
              <a:rPr lang="ko-KR" sz="1210" b="1">
                <a:solidFill>
                  <a:srgbClr val="0C4A6E"/>
                </a:solidFill>
              </a:rPr>
              <a:t>준비 확인</a:t>
            </a:r>
            <a:endParaRPr lang="ko-KR" sz="1210"/>
          </a:p>
        </p:txBody>
      </p:sp>
      <p:sp>
        <p:nvSpPr>
          <p:cNvPr id="23" name="TextBox 23"/>
          <p:cNvSpPr txBox="1"/>
          <p:nvPr/>
        </p:nvSpPr>
        <p:spPr>
          <a:xfrm>
            <a:off x="4059936" y="235915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800" b="1">
                <a:solidFill>
                  <a:srgbClr val="22C7DF"/>
                </a:solidFill>
              </a:rPr>
              <a:t>→</a:t>
            </a:r>
            <a:endParaRPr lang="ko-KR" sz="1800"/>
          </a:p>
        </p:txBody>
      </p:sp>
      <p:sp>
        <p:nvSpPr>
          <p:cNvPr id="24" name="TextBox 24"/>
          <p:cNvSpPr txBox="1"/>
          <p:nvPr/>
        </p:nvSpPr>
        <p:spPr>
          <a:xfrm>
            <a:off x="4443984" y="1993392"/>
            <a:ext cx="1719072" cy="1024128"/>
          </a:xfrm>
          <a:prstGeom prst="roundRect">
            <a:avLst/>
          </a:prstGeom>
          <a:solidFill>
            <a:srgbClr val="EDE9FE"/>
          </a:solidFill>
          <a:ln>
            <a:solidFill>
              <a:srgbClr val="C4B5FD"/>
            </a:solidFill>
          </a:ln>
        </p:spPr>
        <p:txBody>
          <a:bodyPr wrap="square" rtlCol="0" anchor="t"/>
          <a:lstStyle/>
          <a:p>
            <a:pPr algn="ctr"/>
            <a:r>
              <a:rPr lang="ko-KR" sz="1160" b="1">
                <a:solidFill>
                  <a:srgbClr val="4C1D95"/>
                </a:solidFill>
              </a:rPr>
              <a:t>Nav2/AMCL</a:t>
            </a:r>
            <a:endParaRPr lang="ko-KR" sz="1160"/>
          </a:p>
          <a:p>
            <a:pPr algn="ctr"/>
            <a:r>
              <a:rPr lang="ko-KR" sz="1160" b="1">
                <a:solidFill>
                  <a:srgbClr val="4C1D95"/>
                </a:solidFill>
              </a:rPr>
              <a:t>Lifecycle pause</a:t>
            </a:r>
            <a:endParaRPr lang="ko-KR" sz="1160"/>
          </a:p>
        </p:txBody>
      </p:sp>
      <p:sp>
        <p:nvSpPr>
          <p:cNvPr id="25" name="TextBox 25"/>
          <p:cNvSpPr txBox="1"/>
          <p:nvPr/>
        </p:nvSpPr>
        <p:spPr>
          <a:xfrm>
            <a:off x="6181344" y="235915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800" b="1">
                <a:solidFill>
                  <a:srgbClr val="22C7DF"/>
                </a:solidFill>
              </a:rPr>
              <a:t>→</a:t>
            </a:r>
            <a:endParaRPr lang="ko-KR" sz="1800"/>
          </a:p>
        </p:txBody>
      </p:sp>
      <p:sp>
        <p:nvSpPr>
          <p:cNvPr id="26" name="TextBox 26"/>
          <p:cNvSpPr txBox="1"/>
          <p:nvPr/>
        </p:nvSpPr>
        <p:spPr>
          <a:xfrm>
            <a:off x="6565392" y="1993392"/>
            <a:ext cx="1554480" cy="1024128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210" b="1">
                <a:solidFill>
                  <a:srgbClr val="FFFFFF"/>
                </a:solidFill>
              </a:rPr>
              <a:t>Cartographer</a:t>
            </a:r>
            <a:endParaRPr lang="ko-KR" sz="1210"/>
          </a:p>
          <a:p>
            <a:pPr algn="ctr"/>
            <a:r>
              <a:rPr lang="ko-KR" sz="1210" b="1">
                <a:solidFill>
                  <a:srgbClr val="FFFFFF"/>
                </a:solidFill>
              </a:rPr>
              <a:t>/map</a:t>
            </a:r>
            <a:endParaRPr lang="ko-KR" sz="1210"/>
          </a:p>
        </p:txBody>
      </p:sp>
      <p:sp>
        <p:nvSpPr>
          <p:cNvPr id="27" name="TextBox 27"/>
          <p:cNvSpPr txBox="1"/>
          <p:nvPr/>
        </p:nvSpPr>
        <p:spPr>
          <a:xfrm>
            <a:off x="8138160" y="235915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800" b="1">
                <a:solidFill>
                  <a:srgbClr val="22C7DF"/>
                </a:solidFill>
              </a:rPr>
              <a:t>→</a:t>
            </a:r>
            <a:endParaRPr lang="ko-KR" sz="1800"/>
          </a:p>
        </p:txBody>
      </p:sp>
      <p:sp>
        <p:nvSpPr>
          <p:cNvPr id="28" name="TextBox 28"/>
          <p:cNvSpPr txBox="1"/>
          <p:nvPr/>
        </p:nvSpPr>
        <p:spPr>
          <a:xfrm>
            <a:off x="8522208" y="1993392"/>
            <a:ext cx="1600200" cy="1024128"/>
          </a:xfrm>
          <a:prstGeom prst="roundRect">
            <a:avLst/>
          </a:prstGeom>
          <a:solidFill>
            <a:srgbClr val="F0FDF4"/>
          </a:solidFill>
          <a:ln>
            <a:solidFill>
              <a:srgbClr val="86EFAC"/>
            </a:solidFill>
          </a:ln>
        </p:spPr>
        <p:txBody>
          <a:bodyPr wrap="square" rtlCol="0" anchor="t"/>
          <a:lstStyle/>
          <a:p>
            <a:pPr algn="ctr"/>
            <a:r>
              <a:rPr lang="ko-KR" sz="1160" b="1">
                <a:solidFill>
                  <a:srgbClr val="14532D"/>
                </a:solidFill>
              </a:rPr>
              <a:t>map_saver</a:t>
            </a:r>
            <a:endParaRPr lang="ko-KR" sz="1160"/>
          </a:p>
          <a:p>
            <a:pPr algn="ctr"/>
            <a:r>
              <a:rPr lang="ko-KR" sz="1160" b="1">
                <a:solidFill>
                  <a:srgbClr val="14532D"/>
                </a:solidFill>
              </a:rPr>
              <a:t>PGM + YAML</a:t>
            </a:r>
            <a:endParaRPr lang="ko-KR" sz="1160"/>
          </a:p>
        </p:txBody>
      </p:sp>
      <p:sp>
        <p:nvSpPr>
          <p:cNvPr id="29" name="TextBox 29"/>
          <p:cNvSpPr txBox="1"/>
          <p:nvPr/>
        </p:nvSpPr>
        <p:spPr>
          <a:xfrm>
            <a:off x="5166360" y="320040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900" b="1">
                <a:solidFill>
                  <a:srgbClr val="22C7DF"/>
                </a:solidFill>
              </a:rPr>
              <a:t>↓</a:t>
            </a:r>
            <a:endParaRPr lang="ko-KR" sz="1900"/>
          </a:p>
        </p:txBody>
      </p:sp>
      <p:sp>
        <p:nvSpPr>
          <p:cNvPr id="30" name="TextBox 30"/>
          <p:cNvSpPr txBox="1"/>
          <p:nvPr/>
        </p:nvSpPr>
        <p:spPr>
          <a:xfrm>
            <a:off x="1005840" y="3547872"/>
            <a:ext cx="27432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7DD3FC"/>
            </a:solidFill>
          </a:ln>
        </p:spPr>
        <p:txBody>
          <a:bodyPr wrap="square" rtlCol="0" anchor="t"/>
          <a:lstStyle/>
          <a:p>
            <a:pPr algn="ctr"/>
            <a:r>
              <a:rPr lang="ko-KR" sz="1260" b="1">
                <a:solidFill>
                  <a:srgbClr val="0C4A6E"/>
                </a:solidFill>
              </a:rPr>
              <a:t>Waypoint Management</a:t>
            </a:r>
            <a:endParaRPr lang="ko-KR" sz="1260"/>
          </a:p>
          <a:p>
            <a:pPr algn="ctr"/>
            <a:r>
              <a:rPr lang="ko-KR" sz="1260" b="1">
                <a:solidFill>
                  <a:srgbClr val="0C4A6E"/>
                </a:solidFill>
              </a:rPr>
              <a:t>지도 클릭 · 방향 드래그</a:t>
            </a:r>
            <a:endParaRPr lang="ko-KR" sz="1260"/>
          </a:p>
          <a:p>
            <a:pPr algn="ctr"/>
            <a:r>
              <a:rPr lang="ko-KR" sz="1260" b="1">
                <a:solidFill>
                  <a:srgbClr val="0C4A6E"/>
                </a:solidFill>
              </a:rPr>
              <a:t>좌표 편집</a:t>
            </a:r>
            <a:endParaRPr lang="ko-KR" sz="1260"/>
          </a:p>
        </p:txBody>
      </p:sp>
      <p:sp>
        <p:nvSpPr>
          <p:cNvPr id="31" name="TextBox 31"/>
          <p:cNvSpPr txBox="1"/>
          <p:nvPr/>
        </p:nvSpPr>
        <p:spPr>
          <a:xfrm>
            <a:off x="4187952" y="3547872"/>
            <a:ext cx="27432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C4B5FD"/>
            </a:solidFill>
          </a:ln>
        </p:spPr>
        <p:txBody>
          <a:bodyPr wrap="square" rtlCol="0" anchor="t"/>
          <a:lstStyle/>
          <a:p>
            <a:pPr algn="ctr"/>
            <a:r>
              <a:rPr lang="ko-KR" sz="1260" b="1">
                <a:solidFill>
                  <a:srgbClr val="4C1D95"/>
                </a:solidFill>
              </a:rPr>
              <a:t>호출구역 · 경유점 · HOME</a:t>
            </a:r>
            <a:endParaRPr lang="ko-KR" sz="1260"/>
          </a:p>
          <a:p>
            <a:pPr algn="ctr"/>
            <a:r>
              <a:rPr lang="ko-KR" sz="1260" b="1">
                <a:solidFill>
                  <a:srgbClr val="4C1D95"/>
                </a:solidFill>
              </a:rPr>
              <a:t/>
            </a:r>
            <a:endParaRPr lang="ko-KR" sz="1260"/>
          </a:p>
          <a:p>
            <a:pPr algn="ctr"/>
            <a:r>
              <a:rPr lang="ko-KR" sz="1260" b="1">
                <a:solidFill>
                  <a:srgbClr val="4C1D95"/>
                </a:solidFill>
              </a:rPr>
              <a:t>HOME은 정확히 1개</a:t>
            </a:r>
            <a:endParaRPr lang="ko-KR" sz="1260"/>
          </a:p>
        </p:txBody>
      </p:sp>
      <p:sp>
        <p:nvSpPr>
          <p:cNvPr id="32" name="TextBox 32"/>
          <p:cNvSpPr txBox="1"/>
          <p:nvPr/>
        </p:nvSpPr>
        <p:spPr>
          <a:xfrm>
            <a:off x="7370064" y="3547872"/>
            <a:ext cx="27432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86EFAC"/>
            </a:solidFill>
          </a:ln>
        </p:spPr>
        <p:txBody>
          <a:bodyPr wrap="square" rtlCol="0" anchor="t"/>
          <a:lstStyle/>
          <a:p>
            <a:pPr algn="ctr"/>
            <a:r>
              <a:rPr lang="ko-KR" sz="1260" b="1">
                <a:solidFill>
                  <a:srgbClr val="14532D"/>
                </a:solidFill>
              </a:rPr>
              <a:t>저장·사용</a:t>
            </a:r>
            <a:endParaRPr lang="ko-KR" sz="1260"/>
          </a:p>
          <a:p>
            <a:pPr algn="ctr"/>
            <a:r>
              <a:rPr lang="ko-KR" sz="1260" b="1">
                <a:solidFill>
                  <a:srgbClr val="14532D"/>
                </a:solidFill>
              </a:rPr>
              <a:t>YAML + DB call_button</a:t>
            </a:r>
            <a:endParaRPr lang="ko-KR" sz="1260"/>
          </a:p>
          <a:p>
            <a:pPr algn="ctr"/>
            <a:r>
              <a:rPr lang="ko-KR" sz="1260" b="1">
                <a:solidFill>
                  <a:srgbClr val="14532D"/>
                </a:solidFill>
              </a:rPr>
              <a:t>Nav2 시험 주행</a:t>
            </a:r>
            <a:endParaRPr lang="ko-KR" sz="1260"/>
          </a:p>
        </p:txBody>
      </p:sp>
      <p:sp>
        <p:nvSpPr>
          <p:cNvPr id="33" name="TextBox 33"/>
          <p:cNvSpPr txBox="1"/>
          <p:nvPr/>
        </p:nvSpPr>
        <p:spPr>
          <a:xfrm>
            <a:off x="3767328" y="404164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800" b="1">
                <a:solidFill>
                  <a:srgbClr val="22C7DF"/>
                </a:solidFill>
              </a:rPr>
              <a:t>→</a:t>
            </a:r>
            <a:endParaRPr lang="ko-KR" sz="1800"/>
          </a:p>
        </p:txBody>
      </p:sp>
      <p:sp>
        <p:nvSpPr>
          <p:cNvPr id="34" name="TextBox 34"/>
          <p:cNvSpPr txBox="1"/>
          <p:nvPr/>
        </p:nvSpPr>
        <p:spPr>
          <a:xfrm>
            <a:off x="6949440" y="404164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800" b="1">
                <a:solidFill>
                  <a:srgbClr val="22C7DF"/>
                </a:solidFill>
              </a:rPr>
              <a:t>→</a:t>
            </a:r>
            <a:endParaRPr lang="ko-KR" sz="1800"/>
          </a:p>
        </p:txBody>
      </p:sp>
      <p:sp>
        <p:nvSpPr>
          <p:cNvPr id="35" name="TextBox 35"/>
          <p:cNvSpPr txBox="1"/>
          <p:nvPr/>
        </p:nvSpPr>
        <p:spPr>
          <a:xfrm>
            <a:off x="3566160" y="5212080"/>
            <a:ext cx="4023360" cy="32918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050" b="1">
                <a:solidFill>
                  <a:srgbClr val="FFFFFF"/>
                </a:solidFill>
              </a:rPr>
              <a:t>TF 충돌 방지: localization/navigation pause 후 매핑</a:t>
            </a:r>
            <a:endParaRPr lang="ko-KR" sz="105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Band"/>
          <p:cNvSpPr/>
          <p:nvPr/>
        </p:nvSpPr>
        <p:spPr>
          <a:xfrm>
            <a:off x="0" y="0"/>
            <a:ext cx="12192000" cy="23774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Accent"/>
          <p:cNvSpPr/>
          <p:nvPr/>
        </p:nvSpPr>
        <p:spPr>
          <a:xfrm>
            <a:off x="822960" y="1572768"/>
            <a:ext cx="196596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Footer Line"/>
          <p:cNvSpPr/>
          <p:nvPr/>
        </p:nvSpPr>
        <p:spPr>
          <a:xfrm>
            <a:off x="822960" y="6062472"/>
            <a:ext cx="9326880" cy="22860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oter"/>
          <p:cNvSpPr txBox="1"/>
          <p:nvPr/>
        </p:nvSpPr>
        <p:spPr>
          <a:xfrm>
            <a:off x="841248" y="5843016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980">
                <a:solidFill>
                  <a:srgbClr val="64748B"/>
                </a:solidFill>
              </a:rPr>
              <a:t>APPENDIX · RECORDING</a:t>
            </a:r>
            <a:endParaRPr lang="ko-KR" sz="980"/>
          </a:p>
        </p:txBody>
      </p:sp>
      <p:sp>
        <p:nvSpPr>
          <p:cNvPr id="7" name="Page"/>
          <p:cNvSpPr txBox="1"/>
          <p:nvPr/>
        </p:nvSpPr>
        <p:spPr>
          <a:xfrm>
            <a:off x="10012680" y="577900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100" b="1">
                <a:solidFill>
                  <a:srgbClr val="94A3B8"/>
                </a:solidFill>
              </a:rPr>
              <a:t>22</a:t>
            </a:r>
            <a:endParaRPr lang="ko-KR" sz="1100"/>
          </a:p>
        </p:txBody>
      </p:sp>
      <p:sp>
        <p:nvSpPr>
          <p:cNvPr id="10" name="Title"/>
          <p:cNvSpPr txBox="1"/>
          <p:nvPr/>
        </p:nvSpPr>
        <p:spPr>
          <a:xfrm>
            <a:off x="822960" y="64008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3000" b="1">
                <a:solidFill>
                  <a:srgbClr val="0F172A"/>
                </a:solidFill>
              </a:rPr>
              <a:t>부록 A8 · 주행·영상 기록 아키텍처</a:t>
            </a:r>
            <a:endParaRPr lang="ko-KR" sz="3000"/>
          </a:p>
        </p:txBody>
      </p:sp>
      <p:sp>
        <p:nvSpPr>
          <p:cNvPr id="11" name="Subtitle"/>
          <p:cNvSpPr txBox="1"/>
          <p:nvPr/>
        </p:nvSpPr>
        <p:spPr>
          <a:xfrm>
            <a:off x="841248" y="132588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450">
                <a:solidFill>
                  <a:srgbClr val="64748B"/>
                </a:solidFill>
              </a:rPr>
              <a:t>실시간 데이터와 MP4를 같은 주행 세션에 묶어 장애 분석과 재생에 사용합니다</a:t>
            </a:r>
            <a:endParaRPr lang="ko-KR" sz="1450"/>
          </a:p>
        </p:txBody>
      </p:sp>
      <p:sp>
        <p:nvSpPr>
          <p:cNvPr id="20" name="TextBox 20"/>
          <p:cNvSpPr txBox="1"/>
          <p:nvPr/>
        </p:nvSpPr>
        <p:spPr>
          <a:xfrm>
            <a:off x="685800" y="1828800"/>
            <a:ext cx="1600200" cy="6858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150" b="1">
                <a:solidFill>
                  <a:srgbClr val="FFFFFF"/>
                </a:solidFill>
              </a:rPr>
              <a:t>/amcl_pose</a:t>
            </a:r>
            <a:endParaRPr lang="ko-KR" sz="1150"/>
          </a:p>
        </p:txBody>
      </p:sp>
      <p:sp>
        <p:nvSpPr>
          <p:cNvPr id="21" name="TextBox 21"/>
          <p:cNvSpPr txBox="1"/>
          <p:nvPr/>
        </p:nvSpPr>
        <p:spPr>
          <a:xfrm>
            <a:off x="685800" y="2697480"/>
            <a:ext cx="1600200" cy="6858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150" b="1">
                <a:solidFill>
                  <a:srgbClr val="FFFFFF"/>
                </a:solidFill>
              </a:rPr>
              <a:t>/odom</a:t>
            </a:r>
            <a:endParaRPr lang="ko-KR" sz="1150"/>
          </a:p>
        </p:txBody>
      </p:sp>
      <p:sp>
        <p:nvSpPr>
          <p:cNvPr id="22" name="TextBox 22"/>
          <p:cNvSpPr txBox="1"/>
          <p:nvPr/>
        </p:nvSpPr>
        <p:spPr>
          <a:xfrm>
            <a:off x="685800" y="3566160"/>
            <a:ext cx="1600200" cy="6858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150" b="1">
                <a:solidFill>
                  <a:srgbClr val="FFFFFF"/>
                </a:solidFill>
              </a:rPr>
              <a:t>/battery_state</a:t>
            </a:r>
            <a:endParaRPr lang="ko-KR" sz="1150"/>
          </a:p>
        </p:txBody>
      </p:sp>
      <p:sp>
        <p:nvSpPr>
          <p:cNvPr id="23" name="TextBox 23"/>
          <p:cNvSpPr txBox="1"/>
          <p:nvPr/>
        </p:nvSpPr>
        <p:spPr>
          <a:xfrm>
            <a:off x="685800" y="4434840"/>
            <a:ext cx="1600200" cy="6858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090" b="1">
                <a:solidFill>
                  <a:srgbClr val="FFFFFF"/>
                </a:solidFill>
              </a:rPr>
              <a:t>camera compressed</a:t>
            </a:r>
            <a:endParaRPr lang="ko-KR" sz="1090"/>
          </a:p>
        </p:txBody>
      </p:sp>
      <p:sp>
        <p:nvSpPr>
          <p:cNvPr id="24" name="TextBox 24"/>
          <p:cNvSpPr txBox="1"/>
          <p:nvPr/>
        </p:nvSpPr>
        <p:spPr>
          <a:xfrm>
            <a:off x="2304288" y="333756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900" b="1">
                <a:solidFill>
                  <a:srgbClr val="8B5CF6"/>
                </a:solidFill>
              </a:rPr>
              <a:t>→</a:t>
            </a:r>
            <a:endParaRPr lang="ko-KR" sz="1900"/>
          </a:p>
        </p:txBody>
      </p:sp>
      <p:sp>
        <p:nvSpPr>
          <p:cNvPr id="25" name="TextBox 25"/>
          <p:cNvSpPr txBox="1"/>
          <p:nvPr/>
        </p:nvSpPr>
        <p:spPr>
          <a:xfrm>
            <a:off x="2734056" y="2331720"/>
            <a:ext cx="2423160" cy="2194560"/>
          </a:xfrm>
          <a:prstGeom prst="roundRect">
            <a:avLst/>
          </a:prstGeom>
          <a:solidFill>
            <a:srgbClr val="EDE9FE"/>
          </a:solidFill>
          <a:ln>
            <a:solidFill>
              <a:srgbClr val="C4B5FD"/>
            </a:solidFill>
          </a:ln>
        </p:spPr>
        <p:txBody>
          <a:bodyPr wrap="square" rtlCol="0" anchor="t"/>
          <a:lstStyle/>
          <a:p>
            <a:pPr algn="ctr"/>
            <a:r>
              <a:rPr lang="ko-KR" sz="1220" b="1">
                <a:solidFill>
                  <a:srgbClr val="312E81"/>
                </a:solidFill>
              </a:rPr>
              <a:t>DrivingRecordService</a:t>
            </a:r>
            <a:endParaRPr lang="ko-KR" sz="1220"/>
          </a:p>
          <a:p>
            <a:pPr algn="ctr"/>
            <a:r>
              <a:rPr lang="ko-KR" sz="1220" b="1">
                <a:solidFill>
                  <a:srgbClr val="312E81"/>
                </a:solidFill>
              </a:rPr>
              <a:t/>
            </a:r>
            <a:endParaRPr lang="ko-KR" sz="1220"/>
          </a:p>
          <a:p>
            <a:pPr algn="ctr"/>
            <a:r>
              <a:rPr lang="ko-KR" sz="1220" b="1">
                <a:solidFill>
                  <a:srgbClr val="312E81"/>
                </a:solidFill>
              </a:rPr>
              <a:t>1Hz 위치·속도·배터리</a:t>
            </a:r>
            <a:endParaRPr lang="ko-KR" sz="1220"/>
          </a:p>
          <a:p>
            <a:pPr algn="ctr"/>
            <a:r>
              <a:rPr lang="ko-KR" sz="1220" b="1">
                <a:solidFill>
                  <a:srgbClr val="312E81"/>
                </a:solidFill>
              </a:rPr>
              <a:t>주행 세션 start/finish</a:t>
            </a:r>
            <a:endParaRPr lang="ko-KR" sz="1220"/>
          </a:p>
          <a:p>
            <a:pPr algn="ctr"/>
            <a:r>
              <a:rPr lang="ko-KR" sz="1220" b="1">
                <a:solidFill>
                  <a:srgbClr val="312E81"/>
                </a:solidFill>
              </a:rPr>
              <a:t/>
            </a:r>
            <a:endParaRPr lang="ko-KR" sz="1220"/>
          </a:p>
          <a:p>
            <a:pPr algn="ctr"/>
            <a:r>
              <a:rPr lang="ko-KR" sz="1220" b="1">
                <a:solidFill>
                  <a:srgbClr val="312E81"/>
                </a:solidFill>
              </a:rPr>
              <a:t>VideoRecorder</a:t>
            </a:r>
            <a:endParaRPr lang="ko-KR" sz="1220"/>
          </a:p>
          <a:p>
            <a:pPr algn="ctr"/>
            <a:r>
              <a:rPr lang="ko-KR" sz="1220" b="1">
                <a:solidFill>
                  <a:srgbClr val="312E81"/>
                </a:solidFill>
              </a:rPr>
              <a:t>FPS warm-up → MP4</a:t>
            </a:r>
            <a:endParaRPr lang="ko-KR" sz="1220"/>
          </a:p>
        </p:txBody>
      </p:sp>
      <p:sp>
        <p:nvSpPr>
          <p:cNvPr id="26" name="TextBox 26"/>
          <p:cNvSpPr txBox="1"/>
          <p:nvPr/>
        </p:nvSpPr>
        <p:spPr>
          <a:xfrm>
            <a:off x="5175504" y="333756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900" b="1">
                <a:solidFill>
                  <a:srgbClr val="8B5CF6"/>
                </a:solidFill>
              </a:rPr>
              <a:t>→</a:t>
            </a:r>
            <a:endParaRPr lang="ko-KR" sz="1900"/>
          </a:p>
        </p:txBody>
      </p:sp>
      <p:sp>
        <p:nvSpPr>
          <p:cNvPr id="27" name="TextBox 27"/>
          <p:cNvSpPr txBox="1"/>
          <p:nvPr/>
        </p:nvSpPr>
        <p:spPr>
          <a:xfrm>
            <a:off x="5605272" y="1938528"/>
            <a:ext cx="19659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4B5FD"/>
            </a:solidFill>
          </a:ln>
        </p:spPr>
        <p:txBody>
          <a:bodyPr wrap="square" rtlCol="0" anchor="t"/>
          <a:lstStyle/>
          <a:p>
            <a:pPr algn="ctr"/>
            <a:r>
              <a:rPr lang="ko-KR" sz="1140" b="1">
                <a:solidFill>
                  <a:srgbClr val="4C1D95"/>
                </a:solidFill>
              </a:rPr>
              <a:t>driving_session</a:t>
            </a:r>
            <a:endParaRPr lang="ko-KR" sz="1140"/>
          </a:p>
          <a:p>
            <a:pPr algn="ctr"/>
            <a:r>
              <a:rPr lang="ko-KR" sz="1140" b="1">
                <a:solidFill>
                  <a:srgbClr val="4C1D95"/>
                </a:solidFill>
              </a:rPr>
              <a:t>driving_record</a:t>
            </a:r>
            <a:endParaRPr lang="ko-KR" sz="1140"/>
          </a:p>
        </p:txBody>
      </p:sp>
      <p:sp>
        <p:nvSpPr>
          <p:cNvPr id="28" name="TextBox 28"/>
          <p:cNvSpPr txBox="1"/>
          <p:nvPr/>
        </p:nvSpPr>
        <p:spPr>
          <a:xfrm>
            <a:off x="5605272" y="3154680"/>
            <a:ext cx="19659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4B5FD"/>
            </a:solidFill>
          </a:ln>
        </p:spPr>
        <p:txBody>
          <a:bodyPr wrap="square" rtlCol="0" anchor="t"/>
          <a:lstStyle/>
          <a:p>
            <a:pPr algn="ctr"/>
            <a:r>
              <a:rPr lang="ko-KR" sz="1110" b="1">
                <a:solidFill>
                  <a:srgbClr val="4C1D95"/>
                </a:solidFill>
              </a:rPr>
              <a:t>camera_session</a:t>
            </a:r>
            <a:endParaRPr lang="ko-KR" sz="1110"/>
          </a:p>
          <a:p>
            <a:pPr algn="ctr"/>
            <a:r>
              <a:rPr lang="ko-KR" sz="1110" b="1">
                <a:solidFill>
                  <a:srgbClr val="4C1D95"/>
                </a:solidFill>
              </a:rPr>
              <a:t>camera_recording</a:t>
            </a:r>
            <a:endParaRPr lang="ko-KR" sz="1110"/>
          </a:p>
        </p:txBody>
      </p:sp>
      <p:sp>
        <p:nvSpPr>
          <p:cNvPr id="29" name="TextBox 29"/>
          <p:cNvSpPr txBox="1"/>
          <p:nvPr/>
        </p:nvSpPr>
        <p:spPr>
          <a:xfrm>
            <a:off x="5605272" y="4370832"/>
            <a:ext cx="1965960" cy="749808"/>
          </a:xfrm>
          <a:prstGeom prst="roundRect">
            <a:avLst/>
          </a:prstGeom>
          <a:solidFill>
            <a:srgbClr val="F0FDF4"/>
          </a:solidFill>
          <a:ln>
            <a:solidFill>
              <a:srgbClr val="86EFAC"/>
            </a:solidFill>
          </a:ln>
        </p:spPr>
        <p:txBody>
          <a:bodyPr wrap="square" rtlCol="0" anchor="t"/>
          <a:lstStyle/>
          <a:p>
            <a:pPr algn="ctr"/>
            <a:r>
              <a:rPr lang="ko-KR" sz="1200" b="1">
                <a:solidFill>
                  <a:srgbClr val="14532D"/>
                </a:solidFill>
              </a:rPr>
              <a:t>MP4 file</a:t>
            </a:r>
            <a:endParaRPr lang="ko-KR" sz="1200"/>
          </a:p>
        </p:txBody>
      </p:sp>
      <p:sp>
        <p:nvSpPr>
          <p:cNvPr id="30" name="TextBox 30"/>
          <p:cNvSpPr txBox="1"/>
          <p:nvPr/>
        </p:nvSpPr>
        <p:spPr>
          <a:xfrm>
            <a:off x="7589520" y="333756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900" b="1">
                <a:solidFill>
                  <a:srgbClr val="8B5CF6"/>
                </a:solidFill>
              </a:rPr>
              <a:t>→</a:t>
            </a:r>
            <a:endParaRPr lang="ko-KR" sz="1900"/>
          </a:p>
        </p:txBody>
      </p:sp>
      <p:sp>
        <p:nvSpPr>
          <p:cNvPr id="31" name="TextBox 31"/>
          <p:cNvSpPr txBox="1"/>
          <p:nvPr/>
        </p:nvSpPr>
        <p:spPr>
          <a:xfrm>
            <a:off x="8019288" y="2377440"/>
            <a:ext cx="21031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rtlCol="0" anchor="t"/>
          <a:lstStyle/>
          <a:p>
            <a:pPr algn="ctr"/>
            <a:r>
              <a:rPr lang="ko-KR" sz="1260" b="1">
                <a:solidFill>
                  <a:srgbClr val="334155"/>
                </a:solidFill>
              </a:rPr>
              <a:t>Records Playback</a:t>
            </a:r>
            <a:endParaRPr lang="ko-KR" sz="1260"/>
          </a:p>
          <a:p>
            <a:pPr algn="ctr"/>
            <a:r>
              <a:rPr lang="ko-KR" sz="1260" b="1">
                <a:solidFill>
                  <a:srgbClr val="334155"/>
                </a:solidFill>
              </a:rPr>
              <a:t/>
            </a:r>
            <a:endParaRPr lang="ko-KR" sz="1260"/>
          </a:p>
          <a:p>
            <a:pPr algn="ctr"/>
            <a:r>
              <a:rPr lang="ko-KR" sz="1260" b="1">
                <a:solidFill>
                  <a:srgbClr val="334155"/>
                </a:solidFill>
              </a:rPr>
              <a:t>위치·시간·영상 재생</a:t>
            </a:r>
            <a:endParaRPr lang="ko-KR" sz="1260"/>
          </a:p>
          <a:p>
            <a:pPr algn="ctr"/>
            <a:r>
              <a:rPr lang="ko-KR" sz="1260" b="1">
                <a:solidFill>
                  <a:srgbClr val="334155"/>
                </a:solidFill>
              </a:rPr>
              <a:t/>
            </a:r>
            <a:endParaRPr lang="ko-KR" sz="1260"/>
          </a:p>
          <a:p>
            <a:pPr algn="ctr"/>
            <a:r>
              <a:rPr lang="ko-KR" sz="1260" b="1">
                <a:solidFill>
                  <a:srgbClr val="334155"/>
                </a:solidFill>
              </a:rPr>
              <a:t>현재 사이드바 숨김</a:t>
            </a:r>
            <a:endParaRPr lang="ko-KR" sz="126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Band"/>
          <p:cNvSpPr/>
          <p:nvPr/>
        </p:nvSpPr>
        <p:spPr>
          <a:xfrm>
            <a:off x="0" y="0"/>
            <a:ext cx="12192000" cy="2377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Accent"/>
          <p:cNvSpPr/>
          <p:nvPr/>
        </p:nvSpPr>
        <p:spPr>
          <a:xfrm>
            <a:off x="822960" y="1572768"/>
            <a:ext cx="196596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Footer Line"/>
          <p:cNvSpPr/>
          <p:nvPr/>
        </p:nvSpPr>
        <p:spPr>
          <a:xfrm>
            <a:off x="822960" y="6062472"/>
            <a:ext cx="9326880" cy="22860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oter"/>
          <p:cNvSpPr txBox="1"/>
          <p:nvPr/>
        </p:nvSpPr>
        <p:spPr>
          <a:xfrm>
            <a:off x="841248" y="5843016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980">
                <a:solidFill>
                  <a:srgbClr val="64748B"/>
                </a:solidFill>
              </a:rPr>
              <a:t>APPENDIX · LAUNCH</a:t>
            </a:r>
            <a:endParaRPr lang="ko-KR" sz="980"/>
          </a:p>
        </p:txBody>
      </p:sp>
      <p:sp>
        <p:nvSpPr>
          <p:cNvPr id="7" name="Page"/>
          <p:cNvSpPr txBox="1"/>
          <p:nvPr/>
        </p:nvSpPr>
        <p:spPr>
          <a:xfrm>
            <a:off x="10012680" y="577900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100" b="1">
                <a:solidFill>
                  <a:srgbClr val="94A3B8"/>
                </a:solidFill>
              </a:rPr>
              <a:t>23</a:t>
            </a:r>
            <a:endParaRPr lang="ko-KR" sz="1100"/>
          </a:p>
        </p:txBody>
      </p:sp>
      <p:sp>
        <p:nvSpPr>
          <p:cNvPr id="10" name="Title"/>
          <p:cNvSpPr txBox="1"/>
          <p:nvPr/>
        </p:nvSpPr>
        <p:spPr>
          <a:xfrm>
            <a:off x="822960" y="64008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3000" b="1">
                <a:solidFill>
                  <a:srgbClr val="0F172A"/>
                </a:solidFill>
              </a:rPr>
              <a:t>부록 A9 · 시스템 기동 아키텍처</a:t>
            </a:r>
            <a:endParaRPr lang="ko-KR" sz="3000"/>
          </a:p>
        </p:txBody>
      </p:sp>
      <p:sp>
        <p:nvSpPr>
          <p:cNvPr id="11" name="Subtitle"/>
          <p:cNvSpPr txBox="1"/>
          <p:nvPr/>
        </p:nvSpPr>
        <p:spPr>
          <a:xfrm>
            <a:off x="841248" y="132588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450">
                <a:solidFill>
                  <a:srgbClr val="64748B"/>
                </a:solidFill>
              </a:rPr>
              <a:t>PC/VM과 Raspberry Pi의 launch 책임을 분리하고 같은 CycloneDDS graph에서 연결합니다</a:t>
            </a:r>
            <a:endParaRPr lang="ko-KR" sz="1450"/>
          </a:p>
        </p:txBody>
      </p:sp>
      <p:sp>
        <p:nvSpPr>
          <p:cNvPr id="20" name="TextBox 20"/>
          <p:cNvSpPr txBox="1"/>
          <p:nvPr/>
        </p:nvSpPr>
        <p:spPr>
          <a:xfrm>
            <a:off x="685800" y="1783080"/>
            <a:ext cx="4846320" cy="32918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050" b="1">
                <a:solidFill>
                  <a:srgbClr val="FFFFFF"/>
                </a:solidFill>
              </a:rPr>
              <a:t>PC / VM</a:t>
            </a:r>
            <a:endParaRPr lang="ko-KR" sz="1050"/>
          </a:p>
        </p:txBody>
      </p:sp>
      <p:sp>
        <p:nvSpPr>
          <p:cNvPr id="21" name="TextBox 21"/>
          <p:cNvSpPr txBox="1"/>
          <p:nvPr/>
        </p:nvSpPr>
        <p:spPr>
          <a:xfrm>
            <a:off x="685800" y="2221992"/>
            <a:ext cx="2194560" cy="10972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210" b="1">
                <a:solidFill>
                  <a:srgbClr val="FFFFFF"/>
                </a:solidFill>
              </a:rPr>
              <a:t>scripts/run.sh</a:t>
            </a:r>
            <a:endParaRPr lang="ko-KR" sz="1210"/>
          </a:p>
          <a:p>
            <a:pPr algn="ctr"/>
            <a:r>
              <a:rPr lang="ko-KR" sz="1210" b="1">
                <a:solidFill>
                  <a:srgbClr val="FFFFFF"/>
                </a:solidFill>
              </a:rPr>
              <a:t>↓</a:t>
            </a:r>
            <a:endParaRPr lang="ko-KR" sz="1210"/>
          </a:p>
          <a:p>
            <a:pPr algn="ctr"/>
            <a:r>
              <a:rPr lang="ko-KR" sz="1210" b="1">
                <a:solidFill>
                  <a:srgbClr val="FFFFFF"/>
                </a:solidFill>
              </a:rPr>
              <a:t>bringup.launch.py</a:t>
            </a:r>
            <a:endParaRPr lang="ko-KR" sz="1210"/>
          </a:p>
        </p:txBody>
      </p:sp>
      <p:sp>
        <p:nvSpPr>
          <p:cNvPr id="22" name="TextBox 22"/>
          <p:cNvSpPr txBox="1"/>
          <p:nvPr/>
        </p:nvSpPr>
        <p:spPr>
          <a:xfrm>
            <a:off x="3063240" y="2221992"/>
            <a:ext cx="24688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7DD3FC"/>
            </a:solidFill>
          </a:ln>
        </p:spPr>
        <p:txBody>
          <a:bodyPr wrap="square" rtlCol="0" anchor="t"/>
          <a:lstStyle/>
          <a:p>
            <a:pPr algn="ctr"/>
            <a:r>
              <a:rPr lang="ko-KR" sz="1170" b="1">
                <a:solidFill>
                  <a:srgbClr val="0C4A6E"/>
                </a:solidFill>
              </a:rPr>
              <a:t>Nav2 · safety_stop · GUI</a:t>
            </a:r>
            <a:endParaRPr lang="ko-KR" sz="1170"/>
          </a:p>
          <a:p>
            <a:pPr algn="ctr"/>
            <a:r>
              <a:rPr lang="ko-KR" sz="1170" b="1">
                <a:solidFill>
                  <a:srgbClr val="0C4A6E"/>
                </a:solidFill>
              </a:rPr>
              <a:t>map · use_rviz · use_gui</a:t>
            </a:r>
            <a:endParaRPr lang="ko-KR" sz="1170"/>
          </a:p>
        </p:txBody>
      </p:sp>
      <p:sp>
        <p:nvSpPr>
          <p:cNvPr id="23" name="TextBox 23"/>
          <p:cNvSpPr txBox="1"/>
          <p:nvPr/>
        </p:nvSpPr>
        <p:spPr>
          <a:xfrm>
            <a:off x="685800" y="3730752"/>
            <a:ext cx="2194560" cy="109728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210" b="1">
                <a:solidFill>
                  <a:srgbClr val="FFFFFF"/>
                </a:solidFill>
              </a:rPr>
              <a:t>run_callzone.sh</a:t>
            </a:r>
            <a:endParaRPr lang="ko-KR" sz="1210"/>
          </a:p>
          <a:p>
            <a:pPr algn="ctr"/>
            <a:r>
              <a:rPr lang="ko-KR" sz="1210" b="1">
                <a:solidFill>
                  <a:srgbClr val="FFFFFF"/>
                </a:solidFill>
              </a:rPr>
              <a:t>↓</a:t>
            </a:r>
            <a:endParaRPr lang="ko-KR" sz="1210"/>
          </a:p>
          <a:p>
            <a:pPr algn="ctr"/>
            <a:r>
              <a:rPr lang="ko-KR" sz="1210" b="1">
                <a:solidFill>
                  <a:srgbClr val="FFFFFF"/>
                </a:solidFill>
              </a:rPr>
              <a:t>callzone_bringup</a:t>
            </a:r>
            <a:endParaRPr lang="ko-KR" sz="1210"/>
          </a:p>
        </p:txBody>
      </p:sp>
      <p:sp>
        <p:nvSpPr>
          <p:cNvPr id="24" name="TextBox 24"/>
          <p:cNvSpPr txBox="1"/>
          <p:nvPr/>
        </p:nvSpPr>
        <p:spPr>
          <a:xfrm>
            <a:off x="3063240" y="3730752"/>
            <a:ext cx="24688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67E8F9"/>
            </a:solidFill>
          </a:ln>
        </p:spPr>
        <p:txBody>
          <a:bodyPr wrap="square" rtlCol="0" anchor="t"/>
          <a:lstStyle/>
          <a:p>
            <a:pPr algn="ctr"/>
            <a:r>
              <a:rPr lang="ko-KR" sz="1210" b="1">
                <a:solidFill>
                  <a:srgbClr val="164E63"/>
                </a:solidFill>
              </a:rPr>
              <a:t>mqtt_bridge</a:t>
            </a:r>
            <a:endParaRPr lang="ko-KR" sz="1210"/>
          </a:p>
          <a:p>
            <a:pPr algn="ctr"/>
            <a:r>
              <a:rPr lang="ko-KR" sz="1210" b="1">
                <a:solidFill>
                  <a:srgbClr val="164E63"/>
                </a:solidFill>
              </a:rPr>
              <a:t>emergency_dispatcher</a:t>
            </a:r>
            <a:endParaRPr lang="ko-KR" sz="1210"/>
          </a:p>
        </p:txBody>
      </p:sp>
      <p:sp>
        <p:nvSpPr>
          <p:cNvPr id="25" name="TextBox 25"/>
          <p:cNvSpPr txBox="1"/>
          <p:nvPr/>
        </p:nvSpPr>
        <p:spPr>
          <a:xfrm>
            <a:off x="5806440" y="1783080"/>
            <a:ext cx="4315968" cy="329184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050" b="1">
                <a:solidFill>
                  <a:srgbClr val="FFFFFF"/>
                </a:solidFill>
              </a:rPr>
              <a:t>Raspberry Pi</a:t>
            </a:r>
            <a:endParaRPr lang="ko-KR" sz="1050"/>
          </a:p>
        </p:txBody>
      </p:sp>
      <p:sp>
        <p:nvSpPr>
          <p:cNvPr id="26" name="TextBox 26"/>
          <p:cNvSpPr txBox="1"/>
          <p:nvPr/>
        </p:nvSpPr>
        <p:spPr>
          <a:xfrm>
            <a:off x="5806440" y="2221992"/>
            <a:ext cx="4315968" cy="109728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320" b="1">
                <a:solidFill>
                  <a:srgbClr val="FFFFFF"/>
                </a:solidFill>
              </a:rPr>
              <a:t>robot_with_arduino.launch.py</a:t>
            </a:r>
            <a:endParaRPr lang="ko-KR" sz="1320"/>
          </a:p>
        </p:txBody>
      </p:sp>
      <p:sp>
        <p:nvSpPr>
          <p:cNvPr id="27" name="TextBox 27"/>
          <p:cNvSpPr txBox="1"/>
          <p:nvPr/>
        </p:nvSpPr>
        <p:spPr>
          <a:xfrm>
            <a:off x="5806440" y="3730752"/>
            <a:ext cx="4315968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86EFAC"/>
            </a:solidFill>
          </a:ln>
        </p:spPr>
        <p:txBody>
          <a:bodyPr wrap="square" rtlCol="0" anchor="t"/>
          <a:lstStyle/>
          <a:p>
            <a:pPr algn="ctr"/>
            <a:r>
              <a:rPr lang="ko-KR" sz="1140" b="1">
                <a:solidFill>
                  <a:srgbClr val="14532D"/>
                </a:solidFill>
              </a:rPr>
              <a:t>TurtleBot3 driver · Camera · serial_bridge</a:t>
            </a:r>
            <a:endParaRPr lang="ko-KR" sz="1140"/>
          </a:p>
          <a:p>
            <a:pPr algn="ctr"/>
            <a:r>
              <a:rPr lang="ko-KR" sz="1140" b="1">
                <a:solidFill>
                  <a:srgbClr val="14532D"/>
                </a:solidFill>
              </a:rPr>
              <a:t>LED · E-stop · Audio · optional MQTT bridge</a:t>
            </a:r>
            <a:endParaRPr lang="ko-KR" sz="1140"/>
          </a:p>
        </p:txBody>
      </p:sp>
      <p:sp>
        <p:nvSpPr>
          <p:cNvPr id="28" name="TextBox 28"/>
          <p:cNvSpPr txBox="1"/>
          <p:nvPr/>
        </p:nvSpPr>
        <p:spPr>
          <a:xfrm>
            <a:off x="3227832" y="5212080"/>
            <a:ext cx="5440680" cy="32918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050" b="1">
                <a:solidFill>
                  <a:srgbClr val="FFFFFF"/>
                </a:solidFill>
              </a:rPr>
              <a:t>CycloneDDS UDP · 동일 ROS_DOMAIN · Pi ↔ PC topic/action/service</a:t>
            </a:r>
            <a:endParaRPr lang="ko-KR" sz="105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Band"/>
          <p:cNvSpPr/>
          <p:nvPr/>
        </p:nvSpPr>
        <p:spPr>
          <a:xfrm>
            <a:off x="0" y="0"/>
            <a:ext cx="12192000" cy="2377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Accent"/>
          <p:cNvSpPr/>
          <p:nvPr/>
        </p:nvSpPr>
        <p:spPr>
          <a:xfrm>
            <a:off x="822960" y="1572768"/>
            <a:ext cx="196596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Footer Line"/>
          <p:cNvSpPr/>
          <p:nvPr/>
        </p:nvSpPr>
        <p:spPr>
          <a:xfrm>
            <a:off x="822960" y="6062472"/>
            <a:ext cx="9326880" cy="22860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oter"/>
          <p:cNvSpPr txBox="1"/>
          <p:nvPr/>
        </p:nvSpPr>
        <p:spPr>
          <a:xfrm>
            <a:off x="841248" y="5843016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980">
                <a:solidFill>
                  <a:srgbClr val="64748B"/>
                </a:solidFill>
              </a:rPr>
              <a:t>APPENDIX</a:t>
            </a:r>
            <a:endParaRPr lang="ko-KR" sz="980"/>
          </a:p>
        </p:txBody>
      </p:sp>
      <p:sp>
        <p:nvSpPr>
          <p:cNvPr id="7" name="Page"/>
          <p:cNvSpPr txBox="1"/>
          <p:nvPr/>
        </p:nvSpPr>
        <p:spPr>
          <a:xfrm>
            <a:off x="10012680" y="577900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100" b="1">
                <a:solidFill>
                  <a:srgbClr val="94A3B8"/>
                </a:solidFill>
              </a:rPr>
              <a:t>24</a:t>
            </a:r>
            <a:endParaRPr lang="ko-KR" sz="1100"/>
          </a:p>
        </p:txBody>
      </p:sp>
      <p:sp>
        <p:nvSpPr>
          <p:cNvPr id="10" name="Title"/>
          <p:cNvSpPr txBox="1"/>
          <p:nvPr/>
        </p:nvSpPr>
        <p:spPr>
          <a:xfrm>
            <a:off x="822960" y="64008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3000" b="1">
                <a:solidFill>
                  <a:srgbClr val="0F172A"/>
                </a:solidFill>
              </a:rPr>
              <a:t>부록 A10 · 핵심 Pub / Sub / Type</a:t>
            </a:r>
            <a:endParaRPr lang="ko-KR" sz="3000"/>
          </a:p>
        </p:txBody>
      </p:sp>
      <p:sp>
        <p:nvSpPr>
          <p:cNvPr id="11" name="Subtitle"/>
          <p:cNvSpPr txBox="1"/>
          <p:nvPr/>
        </p:nvSpPr>
        <p:spPr>
          <a:xfrm>
            <a:off x="841248" y="132588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450">
                <a:solidFill>
                  <a:srgbClr val="64748B"/>
                </a:solidFill>
              </a:rPr>
              <a:t>질의응답용 · 현재 실행 경로 중심</a:t>
            </a:r>
            <a:endParaRPr lang="ko-KR" sz="1450"/>
          </a:p>
        </p:txBody>
      </p:sp>
      <p:sp>
        <p:nvSpPr>
          <p:cNvPr id="20" name="TextBox 20"/>
          <p:cNvSpPr txBox="1"/>
          <p:nvPr/>
        </p:nvSpPr>
        <p:spPr>
          <a:xfrm>
            <a:off x="868680" y="1773936"/>
            <a:ext cx="4572000" cy="32918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050" b="1">
                <a:solidFill>
                  <a:srgbClr val="FFFFFF"/>
                </a:solidFill>
              </a:rPr>
              <a:t>호출 · 미션</a:t>
            </a:r>
            <a:endParaRPr lang="ko-KR" sz="1050"/>
          </a:p>
        </p:txBody>
      </p:sp>
      <p:sp>
        <p:nvSpPr>
          <p:cNvPr id="21" name="TextBox 21"/>
          <p:cNvSpPr txBox="1"/>
          <p:nvPr/>
        </p:nvSpPr>
        <p:spPr>
          <a:xfrm>
            <a:off x="868680" y="2212848"/>
            <a:ext cx="4572000" cy="3218688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txBody>
          <a:bodyPr wrap="square" rtlCol="0" anchor="t"/>
          <a:lstStyle/>
          <a:p>
            <a:pPr algn="l"/>
            <a:r>
              <a:rPr lang="ko-KR" sz="1030">
                <a:solidFill>
                  <a:srgbClr val="0F172A"/>
                </a:solidFill>
              </a:rPr>
              <a:t>mqtt_bridge</a:t>
            </a:r>
            <a:endParaRPr lang="ko-KR" sz="1030"/>
          </a:p>
          <a:p>
            <a:pPr algn="l"/>
            <a:r>
              <a:rPr lang="ko-KR" sz="1030">
                <a:solidFill>
                  <a:srgbClr val="0F172A"/>
                </a:solidFill>
              </a:rPr>
              <a:t>PUB  /medirun/sensor/sos_button  String</a:t>
            </a:r>
            <a:endParaRPr lang="ko-KR" sz="1030"/>
          </a:p>
          <a:p>
            <a:pPr algn="l"/>
            <a:r>
              <a:rPr lang="ko-KR" sz="1030">
                <a:solidFill>
                  <a:srgbClr val="0F172A"/>
                </a:solidFill>
              </a:rPr>
              <a:t>PUB  /medirun/sensor/sos_status  String</a:t>
            </a:r>
            <a:endParaRPr lang="ko-KR" sz="1030"/>
          </a:p>
          <a:p>
            <a:pPr algn="l"/>
            <a:r>
              <a:rPr lang="ko-KR" sz="1030">
                <a:solidFill>
                  <a:srgbClr val="0F172A"/>
                </a:solidFill>
              </a:rPr>
              <a:t/>
            </a:r>
            <a:endParaRPr lang="ko-KR" sz="1030"/>
          </a:p>
          <a:p>
            <a:pPr algn="l"/>
            <a:r>
              <a:rPr lang="ko-KR" sz="1030">
                <a:solidFill>
                  <a:srgbClr val="0F172A"/>
                </a:solidFill>
              </a:rPr>
              <a:t>emergency_dispatcher</a:t>
            </a:r>
            <a:endParaRPr lang="ko-KR" sz="1030"/>
          </a:p>
          <a:p>
            <a:pPr algn="l"/>
            <a:r>
              <a:rPr lang="ko-KR" sz="1030">
                <a:solidFill>
                  <a:srgbClr val="0F172A"/>
                </a:solidFill>
              </a:rPr>
              <a:t>SUB  sos_button String</a:t>
            </a:r>
            <a:endParaRPr lang="ko-KR" sz="1030"/>
          </a:p>
          <a:p>
            <a:pPr algn="l"/>
            <a:r>
              <a:rPr lang="ko-KR" sz="1030">
                <a:solidFill>
                  <a:srgbClr val="0F172A"/>
                </a:solidFill>
              </a:rPr>
              <a:t>SUB  payload_loaded Bool</a:t>
            </a:r>
            <a:endParaRPr lang="ko-KR" sz="1030"/>
          </a:p>
          <a:p>
            <a:pPr algn="l"/>
            <a:r>
              <a:rPr lang="ko-KR" sz="1030">
                <a:solidFill>
                  <a:srgbClr val="0F172A"/>
                </a:solidFill>
              </a:rPr>
              <a:t>SUB  readiness String · battery String</a:t>
            </a:r>
            <a:endParaRPr lang="ko-KR" sz="1030"/>
          </a:p>
          <a:p>
            <a:pPr algn="l"/>
            <a:r>
              <a:rPr lang="ko-KR" sz="1030">
                <a:solidFill>
                  <a:srgbClr val="0F172A"/>
                </a:solidFill>
              </a:rPr>
              <a:t>PUB  dispatch_request / rejection String JSON</a:t>
            </a:r>
            <a:endParaRPr lang="ko-KR" sz="1030"/>
          </a:p>
          <a:p>
            <a:pPr algn="l"/>
            <a:r>
              <a:rPr lang="ko-KR" sz="1030">
                <a:solidFill>
                  <a:srgbClr val="0F172A"/>
                </a:solidFill>
              </a:rPr>
              <a:t/>
            </a:r>
            <a:endParaRPr lang="ko-KR" sz="1030"/>
          </a:p>
          <a:p>
            <a:pPr algn="l"/>
            <a:r>
              <a:rPr lang="ko-KR" sz="1030">
                <a:solidFill>
                  <a:srgbClr val="0F172A"/>
                </a:solidFill>
              </a:rPr>
              <a:t>GUI Mission bridge</a:t>
            </a:r>
            <a:endParaRPr lang="ko-KR" sz="1030"/>
          </a:p>
          <a:p>
            <a:pPr algn="l"/>
            <a:r>
              <a:rPr lang="ko-KR" sz="1030">
                <a:solidFill>
                  <a:srgbClr val="0F172A"/>
                </a:solidFill>
              </a:rPr>
              <a:t>SUB  dispatch_request · state · nav/status String</a:t>
            </a:r>
            <a:endParaRPr lang="ko-KR" sz="1030"/>
          </a:p>
          <a:p>
            <a:pPr algn="l"/>
            <a:r>
              <a:rPr lang="ko-KR" sz="1030">
                <a:solidFill>
                  <a:srgbClr val="0F172A"/>
                </a:solidFill>
              </a:rPr>
              <a:t>PUB  ui/mission_command String JSON</a:t>
            </a:r>
            <a:endParaRPr lang="ko-KR" sz="1030"/>
          </a:p>
        </p:txBody>
      </p:sp>
      <p:sp>
        <p:nvSpPr>
          <p:cNvPr id="22" name="TextBox 22"/>
          <p:cNvSpPr txBox="1"/>
          <p:nvPr/>
        </p:nvSpPr>
        <p:spPr>
          <a:xfrm>
            <a:off x="5559552" y="1773936"/>
            <a:ext cx="4562856" cy="329184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050" b="1">
                <a:solidFill>
                  <a:srgbClr val="FFFFFF"/>
                </a:solidFill>
              </a:rPr>
              <a:t>주행 · 센서</a:t>
            </a:r>
            <a:endParaRPr lang="ko-KR" sz="1050"/>
          </a:p>
        </p:txBody>
      </p:sp>
      <p:sp>
        <p:nvSpPr>
          <p:cNvPr id="23" name="TextBox 23"/>
          <p:cNvSpPr txBox="1"/>
          <p:nvPr/>
        </p:nvSpPr>
        <p:spPr>
          <a:xfrm>
            <a:off x="5559552" y="2212848"/>
            <a:ext cx="4562856" cy="3218688"/>
          </a:xfrm>
          <a:prstGeom prst="roundRect">
            <a:avLst/>
          </a:prstGeom>
          <a:solidFill>
            <a:srgbClr val="FFFFFF"/>
          </a:solidFill>
          <a:ln>
            <a:solidFill>
              <a:srgbClr val="99F6E4"/>
            </a:solidFill>
          </a:ln>
        </p:spPr>
        <p:txBody>
          <a:bodyPr wrap="square" rtlCol="0" anchor="t"/>
          <a:lstStyle/>
          <a:p>
            <a:pPr algn="l"/>
            <a:r>
              <a:rPr lang="ko-KR" sz="990">
                <a:solidFill>
                  <a:srgbClr val="0F172A"/>
                </a:solidFill>
              </a:rPr>
              <a:t>GUI / Nav2</a:t>
            </a:r>
            <a:endParaRPr lang="ko-KR" sz="990"/>
          </a:p>
          <a:p>
            <a:pPr algn="l"/>
            <a:r>
              <a:rPr lang="ko-KR" sz="990">
                <a:solidFill>
                  <a:srgbClr val="0F172A"/>
                </a:solidFill>
              </a:rPr>
              <a:t>SUB  amcl_pose PoseWithCovarianceStamped</a:t>
            </a:r>
            <a:endParaRPr lang="ko-KR" sz="990"/>
          </a:p>
          <a:p>
            <a:pPr algn="l"/>
            <a:r>
              <a:rPr lang="ko-KR" sz="990">
                <a:solidFill>
                  <a:srgbClr val="0F172A"/>
                </a:solidFill>
              </a:rPr>
              <a:t>SUB  costmap OccupancyGrid · scan LaserScan</a:t>
            </a:r>
            <a:endParaRPr lang="ko-KR" sz="990"/>
          </a:p>
          <a:p>
            <a:pPr algn="l"/>
            <a:r>
              <a:rPr lang="ko-KR" sz="990">
                <a:solidFill>
                  <a:srgbClr val="0F172A"/>
                </a:solidFill>
              </a:rPr>
              <a:t>SUB  odom Odometry · tf TFMessage</a:t>
            </a:r>
            <a:endParaRPr lang="ko-KR" sz="990"/>
          </a:p>
          <a:p>
            <a:pPr algn="l"/>
            <a:r>
              <a:rPr lang="ko-KR" sz="990">
                <a:solidFill>
                  <a:srgbClr val="0F172A"/>
                </a:solidFill>
              </a:rPr>
              <a:t>PUB  initialpose · speed_limit · cmd_vel</a:t>
            </a:r>
            <a:endParaRPr lang="ko-KR" sz="990"/>
          </a:p>
          <a:p>
            <a:pPr algn="l"/>
            <a:r>
              <a:rPr lang="ko-KR" sz="990">
                <a:solidFill>
                  <a:srgbClr val="0F172A"/>
                </a:solidFill>
              </a:rPr>
              <a:t>ACTION  NavigateToPose · FollowWaypoints</a:t>
            </a:r>
            <a:endParaRPr lang="ko-KR" sz="990"/>
          </a:p>
          <a:p>
            <a:pPr algn="l"/>
            <a:r>
              <a:rPr lang="ko-KR" sz="990">
                <a:solidFill>
                  <a:srgbClr val="0F172A"/>
                </a:solidFill>
              </a:rPr>
              <a:t/>
            </a:r>
            <a:endParaRPr lang="ko-KR" sz="990"/>
          </a:p>
          <a:p>
            <a:pPr algn="l"/>
            <a:r>
              <a:rPr lang="ko-KR" sz="990">
                <a:solidFill>
                  <a:srgbClr val="0F172A"/>
                </a:solidFill>
              </a:rPr>
              <a:t>serial_bridge</a:t>
            </a:r>
            <a:endParaRPr lang="ko-KR" sz="990"/>
          </a:p>
          <a:p>
            <a:pPr algn="l"/>
            <a:r>
              <a:rPr lang="ko-KR" sz="990">
                <a:solidFill>
                  <a:srgbClr val="0F172A"/>
                </a:solidFill>
              </a:rPr>
              <a:t>PUB  front/rear Int32 · payload Bool</a:t>
            </a:r>
            <a:endParaRPr lang="ko-KR" sz="990"/>
          </a:p>
          <a:p>
            <a:pPr algn="l"/>
            <a:r>
              <a:rPr lang="ko-KR" sz="990">
                <a:solidFill>
                  <a:srgbClr val="0F172A"/>
                </a:solidFill>
              </a:rPr>
              <a:t>PUB  button/status String</a:t>
            </a:r>
            <a:endParaRPr lang="ko-KR" sz="990"/>
          </a:p>
          <a:p>
            <a:pPr algn="l"/>
            <a:r>
              <a:rPr lang="ko-KR" sz="990">
                <a:solidFill>
                  <a:srgbClr val="0F172A"/>
                </a:solidFill>
              </a:rPr>
              <a:t>SUB  led String · buzzer Bool</a:t>
            </a:r>
            <a:endParaRPr lang="ko-KR" sz="990"/>
          </a:p>
          <a:p>
            <a:pPr algn="l"/>
            <a:r>
              <a:rPr lang="ko-KR" sz="990">
                <a:solidFill>
                  <a:srgbClr val="0F172A"/>
                </a:solidFill>
              </a:rPr>
              <a:t/>
            </a:r>
            <a:endParaRPr lang="ko-KR" sz="990"/>
          </a:p>
          <a:p>
            <a:pPr algn="l"/>
            <a:r>
              <a:rPr lang="ko-KR" sz="990">
                <a:solidFill>
                  <a:srgbClr val="0F172A"/>
                </a:solidFill>
              </a:rPr>
              <a:t>safety_stop</a:t>
            </a:r>
            <a:endParaRPr lang="ko-KR" sz="990"/>
          </a:p>
          <a:p>
            <a:pPr algn="l"/>
            <a:r>
              <a:rPr lang="ko-KR" sz="990">
                <a:solidFill>
                  <a:srgbClr val="0F172A"/>
                </a:solidFill>
              </a:rPr>
              <a:t>SUB  distance Int32 · cmd_vel_raw Twist</a:t>
            </a:r>
            <a:endParaRPr lang="ko-KR" sz="990"/>
          </a:p>
          <a:p>
            <a:pPr algn="l"/>
            <a:r>
              <a:rPr lang="ko-KR" sz="990">
                <a:solidFill>
                  <a:srgbClr val="0F172A"/>
                </a:solidFill>
              </a:rPr>
              <a:t>PUB  /cmd_vel Twist</a:t>
            </a:r>
            <a:endParaRPr lang="ko-KR" sz="99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Band"/>
          <p:cNvSpPr/>
          <p:nvPr/>
        </p:nvSpPr>
        <p:spPr>
          <a:xfrm>
            <a:off x="0" y="0"/>
            <a:ext cx="12192000" cy="2377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Accent"/>
          <p:cNvSpPr/>
          <p:nvPr/>
        </p:nvSpPr>
        <p:spPr>
          <a:xfrm>
            <a:off x="822960" y="1572768"/>
            <a:ext cx="196596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Footer Line"/>
          <p:cNvSpPr/>
          <p:nvPr/>
        </p:nvSpPr>
        <p:spPr>
          <a:xfrm>
            <a:off x="822960" y="6062472"/>
            <a:ext cx="9326880" cy="22860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oter"/>
          <p:cNvSpPr txBox="1"/>
          <p:nvPr/>
        </p:nvSpPr>
        <p:spPr>
          <a:xfrm>
            <a:off x="841248" y="5843016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980">
                <a:solidFill>
                  <a:srgbClr val="64748B"/>
                </a:solidFill>
              </a:rPr>
              <a:t>APPENDIX</a:t>
            </a:r>
            <a:endParaRPr lang="ko-KR" sz="980"/>
          </a:p>
        </p:txBody>
      </p:sp>
      <p:sp>
        <p:nvSpPr>
          <p:cNvPr id="7" name="Page"/>
          <p:cNvSpPr txBox="1"/>
          <p:nvPr/>
        </p:nvSpPr>
        <p:spPr>
          <a:xfrm>
            <a:off x="10012680" y="577900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100" b="1">
                <a:solidFill>
                  <a:srgbClr val="94A3B8"/>
                </a:solidFill>
              </a:rPr>
              <a:t>25</a:t>
            </a:r>
            <a:endParaRPr lang="ko-KR" sz="1100"/>
          </a:p>
        </p:txBody>
      </p:sp>
      <p:sp>
        <p:nvSpPr>
          <p:cNvPr id="10" name="Title"/>
          <p:cNvSpPr txBox="1"/>
          <p:nvPr/>
        </p:nvSpPr>
        <p:spPr>
          <a:xfrm>
            <a:off x="822960" y="64008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3000" b="1">
                <a:solidFill>
                  <a:srgbClr val="0F172A"/>
                </a:solidFill>
              </a:rPr>
              <a:t>부록 A11 · Parameter 빠른 참조</a:t>
            </a:r>
            <a:endParaRPr lang="ko-KR" sz="3000"/>
          </a:p>
        </p:txBody>
      </p:sp>
      <p:sp>
        <p:nvSpPr>
          <p:cNvPr id="11" name="Subtitle"/>
          <p:cNvSpPr txBox="1"/>
          <p:nvPr/>
        </p:nvSpPr>
        <p:spPr>
          <a:xfrm>
            <a:off x="841248" y="132588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450">
                <a:solidFill>
                  <a:srgbClr val="64748B"/>
                </a:solidFill>
              </a:rPr>
              <a:t>질의응답용 · 실제 current path와 선택형 값을 구분</a:t>
            </a:r>
            <a:endParaRPr lang="ko-KR" sz="1450"/>
          </a:p>
        </p:txBody>
      </p:sp>
      <p:sp>
        <p:nvSpPr>
          <p:cNvPr id="20" name="TextBox 20"/>
          <p:cNvSpPr txBox="1"/>
          <p:nvPr/>
        </p:nvSpPr>
        <p:spPr>
          <a:xfrm>
            <a:off x="868680" y="1773936"/>
            <a:ext cx="4572000" cy="32918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050" b="1">
                <a:solidFill>
                  <a:srgbClr val="451A03"/>
                </a:solidFill>
              </a:rPr>
              <a:t>현재 실행 경로</a:t>
            </a:r>
            <a:endParaRPr lang="ko-KR" sz="1050"/>
          </a:p>
        </p:txBody>
      </p:sp>
      <p:sp>
        <p:nvSpPr>
          <p:cNvPr id="21" name="TextBox 21"/>
          <p:cNvSpPr txBox="1"/>
          <p:nvPr/>
        </p:nvSpPr>
        <p:spPr>
          <a:xfrm>
            <a:off x="868680" y="2212848"/>
            <a:ext cx="4572000" cy="3218688"/>
          </a:xfrm>
          <a:prstGeom prst="roundRect">
            <a:avLst/>
          </a:prstGeom>
          <a:solidFill>
            <a:srgbClr val="FFFFFF"/>
          </a:solidFill>
          <a:ln>
            <a:solidFill>
              <a:srgbClr val="FCD34D"/>
            </a:solidFill>
          </a:ln>
        </p:spPr>
        <p:txBody>
          <a:bodyPr wrap="square" rtlCol="0" anchor="t"/>
          <a:lstStyle/>
          <a:p>
            <a:pPr algn="l"/>
            <a:r>
              <a:rPr lang="ko-KR" sz="1040">
                <a:solidFill>
                  <a:srgbClr val="0F172A"/>
                </a:solidFill>
              </a:rPr>
              <a:t>mqtt_bridge</a:t>
            </a:r>
            <a:endParaRPr lang="ko-KR" sz="1040"/>
          </a:p>
          <a:p>
            <a:pPr algn="l"/>
            <a:r>
              <a:rPr lang="ko-KR" sz="1040">
                <a:solidFill>
                  <a:srgbClr val="0F172A"/>
                </a:solidFill>
              </a:rPr>
              <a:t> broker_host: 192.168.230.9</a:t>
            </a:r>
            <a:endParaRPr lang="ko-KR" sz="1040"/>
          </a:p>
          <a:p>
            <a:pPr algn="l"/>
            <a:r>
              <a:rPr lang="ko-KR" sz="1040">
                <a:solidFill>
                  <a:srgbClr val="0F172A"/>
                </a:solidFill>
              </a:rPr>
              <a:t> broker_port: 1883</a:t>
            </a:r>
            <a:endParaRPr lang="ko-KR" sz="1040"/>
          </a:p>
          <a:p>
            <a:pPr algn="l"/>
            <a:r>
              <a:rPr lang="ko-KR" sz="1040">
                <a:solidFill>
                  <a:srgbClr val="0F172A"/>
                </a:solidFill>
              </a:rPr>
              <a:t> mqtt_topic: medirun/button</a:t>
            </a:r>
            <a:endParaRPr lang="ko-KR" sz="1040"/>
          </a:p>
          <a:p>
            <a:pPr algn="l"/>
            <a:r>
              <a:rPr lang="ko-KR" sz="1040">
                <a:solidFill>
                  <a:srgbClr val="0F172A"/>
                </a:solidFill>
              </a:rPr>
              <a:t/>
            </a:r>
            <a:endParaRPr lang="ko-KR" sz="1040"/>
          </a:p>
          <a:p>
            <a:pPr algn="l"/>
            <a:r>
              <a:rPr lang="ko-KR" sz="1040">
                <a:solidFill>
                  <a:srgbClr val="0F172A"/>
                </a:solidFill>
              </a:rPr>
              <a:t>emergency_dispatcher</a:t>
            </a:r>
            <a:endParaRPr lang="ko-KR" sz="1040"/>
          </a:p>
          <a:p>
            <a:pPr algn="l"/>
            <a:r>
              <a:rPr lang="ko-KR" sz="1040">
                <a:solidFill>
                  <a:srgbClr val="0F172A"/>
                </a:solidFill>
              </a:rPr>
              <a:t> battery_reject_percent: 30.0</a:t>
            </a:r>
            <a:endParaRPr lang="ko-KR" sz="1040"/>
          </a:p>
          <a:p>
            <a:pPr algn="l"/>
            <a:r>
              <a:rPr lang="ko-KR" sz="1040">
                <a:solidFill>
                  <a:srgbClr val="0F172A"/>
                </a:solidFill>
              </a:rPr>
              <a:t> call_cooldown_sec: 2.0</a:t>
            </a:r>
            <a:endParaRPr lang="ko-KR" sz="1040"/>
          </a:p>
          <a:p>
            <a:pPr algn="l"/>
            <a:r>
              <a:rPr lang="ko-KR" sz="1040">
                <a:solidFill>
                  <a:srgbClr val="0F172A"/>
                </a:solidFill>
              </a:rPr>
              <a:t/>
            </a:r>
            <a:endParaRPr lang="ko-KR" sz="1040"/>
          </a:p>
          <a:p>
            <a:pPr algn="l"/>
            <a:r>
              <a:rPr lang="ko-KR" sz="1040">
                <a:solidFill>
                  <a:srgbClr val="0F172A"/>
                </a:solidFill>
              </a:rPr>
              <a:t>ultrasonic_safety_stop</a:t>
            </a:r>
            <a:endParaRPr lang="ko-KR" sz="1040"/>
          </a:p>
          <a:p>
            <a:pPr algn="l"/>
            <a:r>
              <a:rPr lang="ko-KR" sz="1040">
                <a:solidFill>
                  <a:srgbClr val="0F172A"/>
                </a:solidFill>
              </a:rPr>
              <a:t> front_stop_distance_cm: 15</a:t>
            </a:r>
            <a:endParaRPr lang="ko-KR" sz="1040"/>
          </a:p>
          <a:p>
            <a:pPr algn="l"/>
            <a:r>
              <a:rPr lang="ko-KR" sz="1040">
                <a:solidFill>
                  <a:srgbClr val="0F172A"/>
                </a:solidFill>
              </a:rPr>
              <a:t> rear_stop_distance_cm: 15</a:t>
            </a:r>
            <a:endParaRPr lang="ko-KR" sz="1040"/>
          </a:p>
          <a:p>
            <a:pPr algn="l"/>
            <a:r>
              <a:rPr lang="ko-KR" sz="1040">
                <a:solidFill>
                  <a:srgbClr val="0F172A"/>
                </a:solidFill>
              </a:rPr>
              <a:t> hold_duration_sec: 0.0</a:t>
            </a:r>
            <a:endParaRPr lang="ko-KR" sz="1040"/>
          </a:p>
          <a:p>
            <a:pPr algn="l"/>
            <a:r>
              <a:rPr lang="ko-KR" sz="1040">
                <a:solidFill>
                  <a:srgbClr val="0F172A"/>
                </a:solidFill>
              </a:rPr>
              <a:t/>
            </a:r>
            <a:endParaRPr lang="ko-KR" sz="1040"/>
          </a:p>
          <a:p>
            <a:pPr algn="l"/>
            <a:r>
              <a:rPr lang="ko-KR" sz="1040">
                <a:solidFill>
                  <a:srgbClr val="0F172A"/>
                </a:solidFill>
              </a:rPr>
              <a:t>serial_bridge</a:t>
            </a:r>
            <a:endParaRPr lang="ko-KR" sz="1040"/>
          </a:p>
          <a:p>
            <a:pPr algn="l"/>
            <a:r>
              <a:rPr lang="ko-KR" sz="1040">
                <a:solidFill>
                  <a:srgbClr val="0F172A"/>
                </a:solidFill>
              </a:rPr>
              <a:t> port: /dev/ttyACM0 또는 by-id</a:t>
            </a:r>
            <a:endParaRPr lang="ko-KR" sz="1040"/>
          </a:p>
          <a:p>
            <a:pPr algn="l"/>
            <a:r>
              <a:rPr lang="ko-KR" sz="1040">
                <a:solidFill>
                  <a:srgbClr val="0F172A"/>
                </a:solidFill>
              </a:rPr>
              <a:t> baud: 9600</a:t>
            </a:r>
            <a:endParaRPr lang="ko-KR" sz="1040"/>
          </a:p>
        </p:txBody>
      </p:sp>
      <p:sp>
        <p:nvSpPr>
          <p:cNvPr id="22" name="TextBox 22"/>
          <p:cNvSpPr txBox="1"/>
          <p:nvPr/>
        </p:nvSpPr>
        <p:spPr>
          <a:xfrm>
            <a:off x="5559552" y="1773936"/>
            <a:ext cx="4562856" cy="32918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050" b="1">
                <a:solidFill>
                  <a:srgbClr val="FFFFFF"/>
                </a:solidFill>
              </a:rPr>
              <a:t>선택형 · 시험</a:t>
            </a:r>
            <a:endParaRPr lang="ko-KR" sz="1050"/>
          </a:p>
        </p:txBody>
      </p:sp>
      <p:sp>
        <p:nvSpPr>
          <p:cNvPr id="23" name="TextBox 23"/>
          <p:cNvSpPr txBox="1"/>
          <p:nvPr/>
        </p:nvSpPr>
        <p:spPr>
          <a:xfrm>
            <a:off x="5559552" y="2212848"/>
            <a:ext cx="4562856" cy="3218688"/>
          </a:xfrm>
          <a:prstGeom prst="roundRect">
            <a:avLst/>
          </a:prstGeom>
          <a:solidFill>
            <a:srgbClr val="FFFFFF"/>
          </a:solidFill>
          <a:ln>
            <a:solidFill>
              <a:srgbClr val="C4B5FD"/>
            </a:solidFill>
          </a:ln>
        </p:spPr>
        <p:txBody>
          <a:bodyPr wrap="square" rtlCol="0" anchor="t"/>
          <a:lstStyle/>
          <a:p>
            <a:pPr algn="l"/>
            <a:r>
              <a:rPr lang="ko-KR" sz="1020">
                <a:solidFill>
                  <a:srgbClr val="0F172A"/>
                </a:solidFill>
              </a:rPr>
              <a:t>mission_manager</a:t>
            </a:r>
            <a:endParaRPr lang="ko-KR" sz="1020"/>
          </a:p>
          <a:p>
            <a:pPr algn="l"/>
            <a:r>
              <a:rPr lang="ko-KR" sz="1020">
                <a:solidFill>
                  <a:srgbClr val="0F172A"/>
                </a:solidFill>
              </a:rPr>
              <a:t> arrival_timeout_sec: 180.0</a:t>
            </a:r>
            <a:endParaRPr lang="ko-KR" sz="1020"/>
          </a:p>
          <a:p>
            <a:pPr algn="l"/>
            <a:r>
              <a:rPr lang="ko-KR" sz="1020">
                <a:solidFill>
                  <a:srgbClr val="0F172A"/>
                </a:solidFill>
              </a:rPr>
              <a:t> return_delay: 15.0</a:t>
            </a:r>
            <a:endParaRPr lang="ko-KR" sz="1020"/>
          </a:p>
          <a:p>
            <a:pPr algn="l"/>
            <a:r>
              <a:rPr lang="ko-KR" sz="1020">
                <a:solidFill>
                  <a:srgbClr val="0F172A"/>
                </a:solidFill>
              </a:rPr>
              <a:t> home: HOME · docking: DOCK</a:t>
            </a:r>
            <a:endParaRPr lang="ko-KR" sz="1020"/>
          </a:p>
          <a:p>
            <a:pPr algn="l"/>
            <a:r>
              <a:rPr lang="ko-KR" sz="1020">
                <a:solidFill>
                  <a:srgbClr val="0F172A"/>
                </a:solidFill>
              </a:rPr>
              <a:t> simulate_navigation: true</a:t>
            </a:r>
            <a:endParaRPr lang="ko-KR" sz="1020"/>
          </a:p>
          <a:p>
            <a:pPr algn="l"/>
            <a:r>
              <a:rPr lang="ko-KR" sz="1020">
                <a:solidFill>
                  <a:srgbClr val="0F172A"/>
                </a:solidFill>
              </a:rPr>
              <a:t/>
            </a:r>
            <a:endParaRPr lang="ko-KR" sz="1020"/>
          </a:p>
          <a:p>
            <a:pPr algn="l"/>
            <a:r>
              <a:rPr lang="ko-KR" sz="1020">
                <a:solidFill>
                  <a:srgbClr val="0F172A"/>
                </a:solidFill>
              </a:rPr>
              <a:t>PS4 teleop</a:t>
            </a:r>
            <a:endParaRPr lang="ko-KR" sz="1020"/>
          </a:p>
          <a:p>
            <a:pPr algn="l"/>
            <a:r>
              <a:rPr lang="ko-KR" sz="1020">
                <a:solidFill>
                  <a:srgbClr val="0F172A"/>
                </a:solidFill>
              </a:rPr>
              <a:t> linear/angular: 0.22 / 2.84</a:t>
            </a:r>
            <a:endParaRPr lang="ko-KR" sz="1020"/>
          </a:p>
          <a:p>
            <a:pPr algn="l"/>
            <a:r>
              <a:rPr lang="ko-KR" sz="1020">
                <a:solidFill>
                  <a:srgbClr val="0F172A"/>
                </a:solidFill>
              </a:rPr>
              <a:t> turbo: 0.26 / 3.2</a:t>
            </a:r>
            <a:endParaRPr lang="ko-KR" sz="1020"/>
          </a:p>
          <a:p>
            <a:pPr algn="l"/>
            <a:r>
              <a:rPr lang="ko-KR" sz="1020">
                <a:solidFill>
                  <a:srgbClr val="0F172A"/>
                </a:solidFill>
              </a:rPr>
              <a:t/>
            </a:r>
            <a:endParaRPr lang="ko-KR" sz="1020"/>
          </a:p>
          <a:p>
            <a:pPr algn="l"/>
            <a:r>
              <a:rPr lang="ko-KR" sz="1020">
                <a:solidFill>
                  <a:srgbClr val="0F172A"/>
                </a:solidFill>
              </a:rPr>
              <a:t>T-00 rotation</a:t>
            </a:r>
            <a:endParaRPr lang="ko-KR" sz="1020"/>
          </a:p>
          <a:p>
            <a:pPr algn="l"/>
            <a:r>
              <a:rPr lang="ko-KR" sz="1020">
                <a:solidFill>
                  <a:srgbClr val="0F172A"/>
                </a:solidFill>
              </a:rPr>
              <a:t> angle: 90° · speed: 0.35</a:t>
            </a:r>
            <a:endParaRPr lang="ko-KR" sz="1020"/>
          </a:p>
          <a:p>
            <a:pPr algn="l"/>
            <a:r>
              <a:rPr lang="ko-KR" sz="1020">
                <a:solidFill>
                  <a:srgbClr val="0F172A"/>
                </a:solidFill>
              </a:rPr>
              <a:t> tolerance: 3° · loop: 20Hz</a:t>
            </a:r>
            <a:endParaRPr lang="ko-KR" sz="1020"/>
          </a:p>
          <a:p>
            <a:pPr algn="l"/>
            <a:r>
              <a:rPr lang="ko-KR" sz="1020">
                <a:solidFill>
                  <a:srgbClr val="0F172A"/>
                </a:solidFill>
              </a:rPr>
              <a:t/>
            </a:r>
            <a:endParaRPr lang="ko-KR" sz="1020"/>
          </a:p>
          <a:p>
            <a:pPr algn="l"/>
            <a:r>
              <a:rPr lang="ko-KR" sz="1020">
                <a:solidFill>
                  <a:srgbClr val="0F172A"/>
                </a:solidFill>
              </a:rPr>
              <a:t>T-01 straight</a:t>
            </a:r>
            <a:endParaRPr lang="ko-KR" sz="1020"/>
          </a:p>
          <a:p>
            <a:pPr algn="l"/>
            <a:r>
              <a:rPr lang="ko-KR" sz="1020">
                <a:solidFill>
                  <a:srgbClr val="0F172A"/>
                </a:solidFill>
              </a:rPr>
              <a:t> distance: 0.45m · speed: 0.10</a:t>
            </a:r>
            <a:endParaRPr lang="ko-KR" sz="1020"/>
          </a:p>
          <a:p>
            <a:pPr algn="l"/>
            <a:r>
              <a:rPr lang="ko-KR" sz="1020">
                <a:solidFill>
                  <a:srgbClr val="0F172A"/>
                </a:solidFill>
              </a:rPr>
              <a:t> tolerance: 0.01m · heading_kp: 1.5</a:t>
            </a:r>
            <a:endParaRPr lang="ko-KR" sz="102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rixTheme">
  <a:themeElements>
    <a:clrScheme name="AurixColors">
      <a:dk1>
        <a:srgbClr val="0B1320"/>
      </a:dk1>
      <a:lt1>
        <a:srgbClr val="FFFFFF"/>
      </a:lt1>
      <a:dk2>
        <a:srgbClr val="1E293B"/>
      </a:dk2>
      <a:lt2>
        <a:srgbClr val="F8FAFC"/>
      </a:lt2>
      <a:accent1>
        <a:srgbClr val="14B8A6"/>
      </a:accent1>
      <a:accent2>
        <a:srgbClr val="2563EB"/>
      </a:accent2>
      <a:accent3>
        <a:srgbClr val="F97316"/>
      </a:accent3>
      <a:accent4>
        <a:srgbClr val="EC4899"/>
      </a:accent4>
      <a:accent5>
        <a:srgbClr val="8B5CF6"/>
      </a:accent5>
      <a:accent6>
        <a:srgbClr val="F43F5E"/>
      </a:accent6>
      <a:hlink>
        <a:srgbClr val="2563EB"/>
      </a:hlink>
      <a:folHlink>
        <a:srgbClr val="7C3AED"/>
      </a:folHlink>
    </a:clrScheme>
    <a:fontScheme name="AurixFonts">
      <a:majorFont>
        <a:latin typeface="Aptos Display"/>
        <a:ea typeface="Malgun Gothic"/>
        <a:cs typeface="Arial"/>
      </a:majorFont>
      <a:minorFont>
        <a:latin typeface="Aptos"/>
        <a:ea typeface="Malgun Gothic"/>
        <a:cs typeface="Arial"/>
      </a:minorFont>
    </a:fontScheme>
    <a:fmtScheme name="AurixFmt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lt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25</Slides>
  <PresentationFormat>On-screen Show (16:9)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AURIX MediRun 발표자료</dc:title>
  <dc:creator>Codex</dc:creator>
  <cp:lastModifiedBy>Codex</cp:lastModifiedBy>
  <dcterms:created xsi:type="dcterms:W3CDTF">2026-08-18T13:41:50</dcterms:created>
  <dcterms:modified xsi:type="dcterms:W3CDTF">2026-08-18T13:41:50</dcterms:modified>
</cp:coreProperties>
</file>